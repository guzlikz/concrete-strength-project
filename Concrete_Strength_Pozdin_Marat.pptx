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5d51d9b23994a5d" /><Relationship Type="http://schemas.openxmlformats.org/officeDocument/2006/relationships/extended-properties" Target="/docProps/app.xml" Id="Rb176e91523b145a0" /><Relationship Type="http://schemas.openxmlformats.org/officeDocument/2006/relationships/officeDocument" Target="/ppt/presentation.xml" Id="Raa8b449a77d545bf" /></Relationships>
</file>

<file path=ppt/presentation.xml><?xml version="1.0" encoding="utf-8"?>
<p:presentation xmlns:p="http://schemas.openxmlformats.org/presentationml/2006/main">
  <p:sldMasterIdLst>
    <p:sldMasterId xmlns:r="http://schemas.openxmlformats.org/officeDocument/2006/relationships" id="2147483648" r:id="R8b19db510d9643bf"/>
  </p:sldMasterIdLst>
  <p:notesMasterIdLst>
    <p:notesMasterId xmlns:r="http://schemas.openxmlformats.org/officeDocument/2006/relationships" r:id="R8a9902b379514e0f"/>
  </p:notesMasterIdLst>
  <p:sldIdLst>
    <p:sldId xmlns:r="http://schemas.openxmlformats.org/officeDocument/2006/relationships" id="256" r:id="R80ed7c1c21034e75"/>
    <p:sldId xmlns:r="http://schemas.openxmlformats.org/officeDocument/2006/relationships" id="257" r:id="Reba6ec16b44a4a7d"/>
    <p:sldId xmlns:r="http://schemas.openxmlformats.org/officeDocument/2006/relationships" id="258" r:id="R6b7b08eb4998464b"/>
    <p:sldId xmlns:r="http://schemas.openxmlformats.org/officeDocument/2006/relationships" id="259" r:id="R2e85c025fbd04afc"/>
    <p:sldId xmlns:r="http://schemas.openxmlformats.org/officeDocument/2006/relationships" id="260" r:id="R3ba62c09e0b64d05"/>
    <p:sldId xmlns:r="http://schemas.openxmlformats.org/officeDocument/2006/relationships" id="261" r:id="R4ffd776c1e2248de"/>
    <p:sldId xmlns:r="http://schemas.openxmlformats.org/officeDocument/2006/relationships" id="262" r:id="R6613fd4d47e840e9"/>
    <p:sldId xmlns:r="http://schemas.openxmlformats.org/officeDocument/2006/relationships" id="263" r:id="R2b9677c72b484c4f"/>
    <p:sldId xmlns:r="http://schemas.openxmlformats.org/officeDocument/2006/relationships" id="264" r:id="Rb1588d7fade64a89"/>
    <p:sldId xmlns:r="http://schemas.openxmlformats.org/officeDocument/2006/relationships" id="265" r:id="Rafc17b88677749f6"/>
    <p:sldId xmlns:r="http://schemas.openxmlformats.org/officeDocument/2006/relationships" id="266" r:id="R5f1430738d8e45b6"/>
    <p:sldId xmlns:r="http://schemas.openxmlformats.org/officeDocument/2006/relationships" id="267" r:id="R993be2ec44e54bda"/>
    <p:sldId xmlns:r="http://schemas.openxmlformats.org/officeDocument/2006/relationships" id="268" r:id="R4e895ae5e4c34380"/>
    <p:sldId xmlns:r="http://schemas.openxmlformats.org/officeDocument/2006/relationships" id="269" r:id="Ra8f344de4f0641bd"/>
    <p:sldId xmlns:r="http://schemas.openxmlformats.org/officeDocument/2006/relationships" id="270" r:id="Rb802c8c8d23846b8"/>
    <p:sldId xmlns:r="http://schemas.openxmlformats.org/officeDocument/2006/relationships" id="271" r:id="R1f2c5d713be14274"/>
    <p:sldId xmlns:r="http://schemas.openxmlformats.org/officeDocument/2006/relationships" id="272" r:id="Ra9d294d23c54401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3ae118f23a345c0" /><Relationship Type="http://schemas.openxmlformats.org/officeDocument/2006/relationships/slideMaster" Target="/ppt/slideMasters/slideMaster1.xml" Id="R8b19db510d9643bf" /><Relationship Type="http://schemas.openxmlformats.org/officeDocument/2006/relationships/notesMaster" Target="/ppt/notesMasters/notesMaster1.xml" Id="R8a9902b379514e0f" /><Relationship Type="http://schemas.openxmlformats.org/officeDocument/2006/relationships/presProps" Target="/ppt/presProps.xml" Id="Rd5aab17b1fe64464" /><Relationship Type="http://schemas.openxmlformats.org/officeDocument/2006/relationships/tableStyles" Target="/ppt/tableStyles.xml" Id="R0905eea32706478b" /><Relationship Type="http://schemas.openxmlformats.org/officeDocument/2006/relationships/slide" Target="/ppt/slides/slide1.xml" Id="R80ed7c1c21034e75" /><Relationship Type="http://schemas.openxmlformats.org/officeDocument/2006/relationships/slide" Target="/ppt/slides/slide2.xml" Id="Reba6ec16b44a4a7d" /><Relationship Type="http://schemas.openxmlformats.org/officeDocument/2006/relationships/slide" Target="/ppt/slides/slide3.xml" Id="R6b7b08eb4998464b" /><Relationship Type="http://schemas.openxmlformats.org/officeDocument/2006/relationships/slide" Target="/ppt/slides/slide4.xml" Id="R2e85c025fbd04afc" /><Relationship Type="http://schemas.openxmlformats.org/officeDocument/2006/relationships/slide" Target="/ppt/slides/slide5.xml" Id="R3ba62c09e0b64d05" /><Relationship Type="http://schemas.openxmlformats.org/officeDocument/2006/relationships/slide" Target="/ppt/slides/slide6.xml" Id="R4ffd776c1e2248de" /><Relationship Type="http://schemas.openxmlformats.org/officeDocument/2006/relationships/slide" Target="/ppt/slides/slide7.xml" Id="R6613fd4d47e840e9" /><Relationship Type="http://schemas.openxmlformats.org/officeDocument/2006/relationships/slide" Target="/ppt/slides/slide8.xml" Id="R2b9677c72b484c4f" /><Relationship Type="http://schemas.openxmlformats.org/officeDocument/2006/relationships/slide" Target="/ppt/slides/slide9.xml" Id="Rb1588d7fade64a89" /><Relationship Type="http://schemas.openxmlformats.org/officeDocument/2006/relationships/slide" Target="/ppt/slides/slide10.xml" Id="Rafc17b88677749f6" /><Relationship Type="http://schemas.openxmlformats.org/officeDocument/2006/relationships/slide" Target="/ppt/slides/slide11.xml" Id="R5f1430738d8e45b6" /><Relationship Type="http://schemas.openxmlformats.org/officeDocument/2006/relationships/slide" Target="/ppt/slides/slide12.xml" Id="R993be2ec44e54bda" /><Relationship Type="http://schemas.openxmlformats.org/officeDocument/2006/relationships/slide" Target="/ppt/slides/slide13.xml" Id="R4e895ae5e4c34380" /><Relationship Type="http://schemas.openxmlformats.org/officeDocument/2006/relationships/slide" Target="/ppt/slides/slide14.xml" Id="Ra8f344de4f0641bd" /><Relationship Type="http://schemas.openxmlformats.org/officeDocument/2006/relationships/slide" Target="/ppt/slides/slide15.xml" Id="Rb802c8c8d23846b8" /><Relationship Type="http://schemas.openxmlformats.org/officeDocument/2006/relationships/slide" Target="/ppt/slides/slide16.xml" Id="R1f2c5d713be14274" /><Relationship Type="http://schemas.openxmlformats.org/officeDocument/2006/relationships/slide" Target="/ppt/slides/slide17.xml" Id="Ra9d294d23c54401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8945b1fb0c74d7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ffbd2eaf9eb4359" /><Relationship Type="http://schemas.openxmlformats.org/officeDocument/2006/relationships/notesMaster" Target="/ppt/notesMasters/notesMaster1.xml" Id="Rf884fd17ee2942d9" /></Relationships>
</file>

<file path=ppt/notesSlides/_rels/notesSlide2.xml.rels>&#65279;<?xml version="1.0" encoding="utf-8"?><Relationships xmlns="http://schemas.openxmlformats.org/package/2006/relationships"><Relationship Type="http://schemas.openxmlformats.org/officeDocument/2006/relationships/slide" Target="/ppt/slides/slide2.xml" Id="Rb51d5817ff91487a" /><Relationship Type="http://schemas.openxmlformats.org/officeDocument/2006/relationships/notesMaster" Target="/ppt/notesMasters/notesMaster1.xml" Id="Ra9ad0e548b3f468b" /></Relationships>
</file>

<file path=ppt/notesSlides/_rels/notesSlide3.xml.rels>&#65279;<?xml version="1.0" encoding="utf-8"?><Relationships xmlns="http://schemas.openxmlformats.org/package/2006/relationships"><Relationship Type="http://schemas.openxmlformats.org/officeDocument/2006/relationships/slide" Target="/ppt/slides/slide3.xml" Id="R788bbe10fe664b29" /><Relationship Type="http://schemas.openxmlformats.org/officeDocument/2006/relationships/notesMaster" Target="/ppt/notesMasters/notesMaster1.xml" Id="R2cd65511155540e3" /></Relationships>
</file>

<file path=ppt/notesSlides/_rels/notesSlide4.xml.rels>&#65279;<?xml version="1.0" encoding="utf-8"?><Relationships xmlns="http://schemas.openxmlformats.org/package/2006/relationships"><Relationship Type="http://schemas.openxmlformats.org/officeDocument/2006/relationships/slide" Target="/ppt/slides/slide4.xml" Id="R4c71eaa613f3473e" /><Relationship Type="http://schemas.openxmlformats.org/officeDocument/2006/relationships/notesMaster" Target="/ppt/notesMasters/notesMaster1.xml" Id="R3a637866ac2941eb" /></Relationships>
</file>

<file path=ppt/notesSlides/_rels/notesSlide5.xml.rels>&#65279;<?xml version="1.0" encoding="utf-8"?><Relationships xmlns="http://schemas.openxmlformats.org/package/2006/relationships"><Relationship Type="http://schemas.openxmlformats.org/officeDocument/2006/relationships/slide" Target="/ppt/slides/slide5.xml" Id="R5f83bdd8c8b14a39" /><Relationship Type="http://schemas.openxmlformats.org/officeDocument/2006/relationships/notesMaster" Target="/ppt/notesMasters/notesMaster1.xml" Id="Rb74b0b1399394fba" /></Relationships>
</file>

<file path=ppt/notesSlides/_rels/notesSlide6.xml.rels>&#65279;<?xml version="1.0" encoding="utf-8"?><Relationships xmlns="http://schemas.openxmlformats.org/package/2006/relationships"><Relationship Type="http://schemas.openxmlformats.org/officeDocument/2006/relationships/slide" Target="/ppt/slides/slide6.xml" Id="R4aab178970a642d8" /><Relationship Type="http://schemas.openxmlformats.org/officeDocument/2006/relationships/notesMaster" Target="/ppt/notesMasters/notesMaster1.xml" Id="Rf9b5a54b0dd0466d" /></Relationships>
</file>

<file path=ppt/notesSlides/_rels/notesSlide7.xml.rels>&#65279;<?xml version="1.0" encoding="utf-8"?><Relationships xmlns="http://schemas.openxmlformats.org/package/2006/relationships"><Relationship Type="http://schemas.openxmlformats.org/officeDocument/2006/relationships/slide" Target="/ppt/slides/slide7.xml" Id="R47990fc936774a9c" /><Relationship Type="http://schemas.openxmlformats.org/officeDocument/2006/relationships/notesMaster" Target="/ppt/notesMasters/notesMaster1.xml" Id="R46d327e019104cbd" /></Relationships>
</file>

<file path=ppt/notesSlides/_rels/notesSlide8.xml.rels>&#65279;<?xml version="1.0" encoding="utf-8"?><Relationships xmlns="http://schemas.openxmlformats.org/package/2006/relationships"><Relationship Type="http://schemas.openxmlformats.org/officeDocument/2006/relationships/slide" Target="/ppt/slides/slide8.xml" Id="R5be0b8c2b25c463a" /><Relationship Type="http://schemas.openxmlformats.org/officeDocument/2006/relationships/notesMaster" Target="/ppt/notesMasters/notesMaster1.xml" Id="Rff275e2842994b1d" /></Relationships>
</file>

<file path=ppt/notesSlides/_rels/notesSlide9.xml.rels>&#65279;<?xml version="1.0" encoding="utf-8"?><Relationships xmlns="http://schemas.openxmlformats.org/package/2006/relationships"><Relationship Type="http://schemas.openxmlformats.org/officeDocument/2006/relationships/slide" Target="/ppt/slides/slide9.xml" Id="R6dbe90e1515649c7" /><Relationship Type="http://schemas.openxmlformats.org/officeDocument/2006/relationships/notesMaster" Target="/ppt/notesMasters/notesMaster1.xml" Id="R0221fedf63fe42a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081c7755f2349b3" /><Relationship Type="http://schemas.openxmlformats.org/officeDocument/2006/relationships/notesMaster" Target="/ppt/notesMasters/notesMaster1.xml" Id="R7db036ff34344e3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7a6564817eb4bd3" /><Relationship Type="http://schemas.openxmlformats.org/officeDocument/2006/relationships/notesMaster" Target="/ppt/notesMasters/notesMaster1.xml" Id="R06bacd2d7e334bb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d3110769ca0443e" /><Relationship Type="http://schemas.openxmlformats.org/officeDocument/2006/relationships/notesMaster" Target="/ppt/notesMasters/notesMaster1.xml" Id="Rc25e6e59618e4a8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7df3daf261b467d" /><Relationship Type="http://schemas.openxmlformats.org/officeDocument/2006/relationships/notesMaster" Target="/ppt/notesMasters/notesMaster1.xml" Id="R3f5a06d54df2460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79c18606240445f" /><Relationship Type="http://schemas.openxmlformats.org/officeDocument/2006/relationships/notesMaster" Target="/ppt/notesMasters/notesMaster1.xml" Id="Rd45caa540578497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601c8851c9a4a56" /><Relationship Type="http://schemas.openxmlformats.org/officeDocument/2006/relationships/notesMaster" Target="/ppt/notesMasters/notesMaster1.xml" Id="R86049b947d7e475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742440b210d4b38" /><Relationship Type="http://schemas.openxmlformats.org/officeDocument/2006/relationships/notesMaster" Target="/ppt/notesMasters/notesMaster1.xml" Id="Rda9d86029bf5476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c1219b7b2fe4a6c" /><Relationship Type="http://schemas.openxmlformats.org/officeDocument/2006/relationships/notesMaster" Target="/ppt/notesMasters/notesMaster1.xml" Id="R5b1000f9119b48c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Здравствуйте! Я сравнил два способа прогнозировать прочность бетона по составу смеси и возрасту. Цель проекта — проверить, насколько случайный лес улучшает прогноз по сравнению с линейной регрессией, и понять, где ошибается даже лучшая модель.</a:t>
            </a:r>
          </a:p>
          <a:p xmlns:a="http://schemas.openxmlformats.org/drawingml/2006/main">
            <a:r>
              <a:t/>
            </a:r>
          </a:p>
          <a:p xmlns:a="http://schemas.openxmlformats.org/drawingml/2006/main">
            <a:r>
              <a:t>Источник данных: Yeh, I. (1998). Concrete Compressive Strength. UCI Machine Learning Repository. DOI: https://doi.org/10.24432/C5PK67. CC BY 4.0. https://archive.ics.uci.edu/dataset/165/concrete+compressive+strength</a:t>
            </a:r>
          </a:p>
          <a:p xmlns:a="http://schemas.openxmlformats.org/drawingml/2006/main">
            <a:r>
              <a:t>Расчёты: analysis.py, results/*.csv. Seed=42. Все графики рассчитаны на фактических данных.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Вход модели — семь количеств компонентов и возраст образца. Выход — прочность на сжатие в мегапаскалях. Сравниваю прозрачную линейную модель с более гибким случайным лесом. Критерий успеха — меньшая ошибка на рецептурах, которых не было в обучении. Модель не заменяет испытание образца.</a:t>
            </a:r>
          </a:p>
          <a:p xmlns:a="http://schemas.openxmlformats.org/drawingml/2006/main">
            <a:r>
              <a:t/>
            </a:r>
          </a:p>
          <a:p xmlns:a="http://schemas.openxmlformats.org/drawingml/2006/main">
            <a:r>
              <a:t>Источник данных: Yeh, I. (1998). Concrete Compressive Strength. UCI Machine Learning Repository. DOI: https://doi.org/10.24432/C5PK67. CC BY 4.0. https://archive.ics.uci.edu/dataset/165/concrete+compressive+strength</a:t>
            </a:r>
          </a:p>
          <a:p xmlns:a="http://schemas.openxmlformats.org/drawingml/2006/main">
            <a:r>
              <a:t>Расчёты: analysis.py, results/*.csv. Seed=42. Все графики рассчитаны на фактических данных.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Источник — открытый датасет UCI, автор I-Cheng Yeh. В нём 1030 строк и 8 входных признаков, пропусков нет. После удаления 25 полных повторов осталось 1005 строк. Разные измерения одного состава я сохраняю. Диапазоны на этом слайде описывают весь очищенный датасет и служат паспортом данных.</a:t>
            </a:r>
          </a:p>
          <a:p xmlns:a="http://schemas.openxmlformats.org/drawingml/2006/main">
            <a:r>
              <a:t/>
            </a:r>
          </a:p>
          <a:p xmlns:a="http://schemas.openxmlformats.org/drawingml/2006/main">
            <a:r>
              <a:t>Источник данных: Yeh, I. (1998). Concrete Compressive Strength. UCI Machine Learning Repository. DOI: https://doi.org/10.24432/C5PK67. CC BY 4.0. https://archive.ics.uci.edu/dataset/165/concrete+compressive+strength</a:t>
            </a:r>
          </a:p>
          <a:p xmlns:a="http://schemas.openxmlformats.org/drawingml/2006/main">
            <a:r>
              <a:t>Расчёты: analysis.py, results/*.csv. Seed=42. Все графики рассчитаны на фактических данных.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Гистограмма построена только по обучающей выборке. Большинство измерений относится к средней части диапазона. Высокопрочных образцов меньше: в обучении 56 строк с прочностью от 60 МПа из 799. Это одна из причин внимательно посмотреть на ошибки в верхней части диапазона.</a:t>
            </a:r>
          </a:p>
          <a:p xmlns:a="http://schemas.openxmlformats.org/drawingml/2006/main">
            <a:r>
              <a:t/>
            </a:r>
          </a:p>
          <a:p xmlns:a="http://schemas.openxmlformats.org/drawingml/2006/main">
            <a:r>
              <a:t>Источник данных: Yeh, I. (1998). Concrete Compressive Strength. UCI Machine Learning Repository. DOI: https://doi.org/10.24432/C5PK67. CC BY 4.0. https://archive.ics.uci.edu/dataset/165/concrete+compressive+strength</a:t>
            </a:r>
          </a:p>
          <a:p xmlns:a="http://schemas.openxmlformats.org/drawingml/2006/main">
            <a:r>
              <a:t>Расчёты: analysis.py, results/*.csv. Seed=42. Все графики рассчитаны на фактических данных.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Здесь каждый маркер — наблюдение train. По горизонтали слева возраст в логарифмической шкале, справа количество цемента. Возраст и состав связаны с прочностью, но один фактор не объясняет весь разброс. На обеих диаграммах виден большой разброс при похожих значениях одного признака. Эти графики не доказывают причинность.</a:t>
            </a:r>
          </a:p>
          <a:p xmlns:a="http://schemas.openxmlformats.org/drawingml/2006/main">
            <a:r>
              <a:t/>
            </a:r>
          </a:p>
          <a:p xmlns:a="http://schemas.openxmlformats.org/drawingml/2006/main">
            <a:r>
              <a:t>Источник данных: Yeh, I. (1998). Concrete Compressive Strength. UCI Machine Learning Repository. DOI: https://doi.org/10.24432/C5PK67. CC BY 4.0. https://archive.ics.uci.edu/dataset/165/concrete+compressive+strength</a:t>
            </a:r>
          </a:p>
          <a:p xmlns:a="http://schemas.openxmlformats.org/drawingml/2006/main">
            <a:r>
              <a:t>Расчёты: analysis.py, results/*.csv. Seed=42. Все графики рассчитаны на фактических данных.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Рецептуру определяю семью дозировками без возраста. Если один состав испытали через 7 и 28 дней, обе строки остаются в одной части. Иначе тест частично проверял бы уже знакомые составы. Всего 428 точных рецептур. GroupShuffleSplit отложил 20 процентов групп: 86 рецептур и 206 строк. Оставшиеся 342 рецептуры и 799 строк образуют train. Внутри train применяю GroupKFold на пяти фолдах. Близкие, но не идентичные рецептуры могут оказаться по разные стороны.</a:t>
            </a:r>
          </a:p>
          <a:p xmlns:a="http://schemas.openxmlformats.org/drawingml/2006/main">
            <a:r>
              <a:t/>
            </a:r>
          </a:p>
          <a:p xmlns:a="http://schemas.openxmlformats.org/drawingml/2006/main">
            <a:r>
              <a:t>Источник данных: Yeh, I. (1998). Concrete Compressive Strength. UCI Machine Learning Repository. DOI: https://doi.org/10.24432/C5PK67. CC BY 4.0. https://archive.ics.uci.edu/dataset/165/concrete+compressive+strength</a:t>
            </a:r>
          </a:p>
          <a:p xmlns:a="http://schemas.openxmlformats.org/drawingml/2006/main">
            <a:r>
              <a:t>Расчёты: analysis.py, results/*.csv. Seed=42. Все графики рассчитаны на фактических данных.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Базовая модель предсказывает среднюю прочность train. Линейная регрессия вычисляет взвешенную сумму признаков. Масштабирование выполняет StandardScaler внутри Pipeline, поэтому он не видит проверочный фолд. Лес усредняет 300 деревьев и может описывать нелинейности и взаимодействия признаков. Восемь вариантов параметров сравниваются по RMSE в пяти групповых фолдах train. Выбраны глубина 15, минимальный размер листа 1 и доля признаков 0,8.</a:t>
            </a:r>
          </a:p>
          <a:p xmlns:a="http://schemas.openxmlformats.org/drawingml/2006/main">
            <a:r>
              <a:t/>
            </a:r>
          </a:p>
          <a:p xmlns:a="http://schemas.openxmlformats.org/drawingml/2006/main">
            <a:r>
              <a:t>Источник данных: Yeh, I. (1998). Concrete Compressive Strength. UCI Machine Learning Repository. DOI: https://doi.org/10.24432/C5PK67. CC BY 4.0. https://archive.ics.uci.edu/dataset/165/concrete+compressive+strength</a:t>
            </a:r>
          </a:p>
          <a:p xmlns:a="http://schemas.openxmlformats.org/drawingml/2006/main">
            <a:r>
              <a:t>Расчёты: analysis.py, results/*.csv. Seed=42. Все графики рассчитаны на фактических данных.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RMSE линейной регрессии на тесте равен 10,79 МПа, у леса 6,60 МПа. Снижение составляет 38,8 процента. MAE леса 4,62 МПа против 8,68 у регрессии. R² леса 0,865 — это мера объяснённой вариации, а не 86,5 процента точности. CV в таблице — среднее RMSE на фолдах train и стандартное отклонение. Лес уже выбирался по CV, поэтому его CV может быть оптимистичной. Независимая проверка — test.</a:t>
            </a:r>
          </a:p>
          <a:p xmlns:a="http://schemas.openxmlformats.org/drawingml/2006/main">
            <a:r>
              <a:t/>
            </a:r>
          </a:p>
          <a:p xmlns:a="http://schemas.openxmlformats.org/drawingml/2006/main">
            <a:r>
              <a:t>Источник данных: Yeh, I. (1998). Concrete Compressive Strength. UCI Machine Learning Repository. DOI: https://doi.org/10.24432/C5PK67. CC BY 4.0. https://archive.ics.uci.edu/dataset/165/concrete+compressive+strength</a:t>
            </a:r>
          </a:p>
          <a:p xmlns:a="http://schemas.openxmlformats.org/drawingml/2006/main">
            <a:r>
              <a:t>Расчёты: analysis.py, results/*.csv. Seed=42. Все графики рассчитаны на фактических данных.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Пунктирная диагональ означает идеальный прогноз. Чем ближе к ней маркер, тем меньше ошибка. На левом графике линейная регрессия чаще не попадает в крайние значения. У леса облако уже, но в зоне высокой прочности остаются занижения. Оси одинаковы, поэтому модели удобно сравнивать.</a:t>
            </a:r>
          </a:p>
          <a:p xmlns:a="http://schemas.openxmlformats.org/drawingml/2006/main">
            <a:r>
              <a:t/>
            </a:r>
          </a:p>
          <a:p xmlns:a="http://schemas.openxmlformats.org/drawingml/2006/main">
            <a:r>
              <a:t>Источник данных: Yeh, I. (1998). Concrete Compressive Strength. UCI Machine Learning Repository. DOI: https://doi.org/10.24432/C5PK67. CC BY 4.0. https://archive.ics.uci.edu/dataset/165/concrete+compressive+strength</a:t>
            </a:r>
          </a:p>
          <a:p xmlns:a="http://schemas.openxmlformats.org/drawingml/2006/main">
            <a:r>
              <a:t>Расчёты: analysis.py, results/*.csv. Seed=42. Все графики рассчитаны на фактических данных.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Ошибка равна прогнозу минус фактической прочности. Отрицательные значения означают занижение. Среди 23 тестовых образцов от 60 МПа средняя ошибка леса равна минус 9,76 МПа. Это диагностический результат для небольшой группы, выбранной после оценки. Он не доказывает единую причину ошибок. Лес усредняет значения обучающих примеров в листьях и может сглаживать высокие значения.</a:t>
            </a:r>
          </a:p>
          <a:p xmlns:a="http://schemas.openxmlformats.org/drawingml/2006/main">
            <a:r>
              <a:t/>
            </a:r>
          </a:p>
          <a:p xmlns:a="http://schemas.openxmlformats.org/drawingml/2006/main">
            <a:r>
              <a:t>Источник данных: Yeh, I. (1998). Concrete Compressive Strength. UCI Machine Learning Repository. DOI: https://doi.org/10.24432/C5PK67. CC BY 4.0. https://archive.ics.uci.edu/dataset/165/concrete+compressive+strength</a:t>
            </a:r>
          </a:p>
          <a:p xmlns:a="http://schemas.openxmlformats.org/drawingml/2006/main">
            <a:r>
              <a:t>Расчёты: analysis.py, results/*.csv. Seed=42. Все графики рассчитаны на фактических данных.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Сравниваю MAE по четырём группам возраста на test. Наибольшая MAE леса — 6,07 МПа в возрасте от 29 до 90 суток. В этой группе всего 31 строка. В каждой из четырёх групп лес лучше регрессии на данном тесте. Число наблюдений различается, поэтому различия между группами нужно трактовать осторожно.</a:t>
            </a:r>
          </a:p>
          <a:p xmlns:a="http://schemas.openxmlformats.org/drawingml/2006/main">
            <a:r>
              <a:t/>
            </a:r>
          </a:p>
          <a:p xmlns:a="http://schemas.openxmlformats.org/drawingml/2006/main">
            <a:r>
              <a:t>Источник данных: Yeh, I. (1998). Concrete Compressive Strength. UCI Machine Learning Repository. DOI: https://doi.org/10.24432/C5PK67. CC BY 4.0. https://archive.ics.uci.edu/dataset/165/concrete+compressive+strength</a:t>
            </a:r>
          </a:p>
          <a:p xmlns:a="http://schemas.openxmlformats.org/drawingml/2006/main">
            <a:r>
              <a:t>Расчёты: analysis.py, results/*.csv. Seed=42. Все графики рассчитаны на фактических данных.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Выбраны пять строк с наибольшей абсолютной ошибкой леса. Для каждой показаны факт и оба прогноза. Все пять промахов — занижения. Особенно выделяется строка 382: факт 81,75, лес 54,53, регрессия 47,00 МПа. Номер строки относится к оригинальному файлу без заголовка, начиная с единицы.</a:t>
            </a:r>
          </a:p>
          <a:p xmlns:a="http://schemas.openxmlformats.org/drawingml/2006/main">
            <a:r>
              <a:t/>
            </a:r>
          </a:p>
          <a:p xmlns:a="http://schemas.openxmlformats.org/drawingml/2006/main">
            <a:r>
              <a:t>Источник данных: Yeh, I. (1998). Concrete Compressive Strength. UCI Machine Learning Repository. DOI: https://doi.org/10.24432/C5PK67. CC BY 4.0. https://archive.ics.uci.edu/dataset/165/concrete+compressive+strength</a:t>
            </a:r>
          </a:p>
          <a:p xmlns:a="http://schemas.openxmlformats.org/drawingml/2006/main">
            <a:r>
              <a:t>Расчёты: analysis.py, results/*.csv. Seed=42. Все графики рассчитаны на фактических данных.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Разбор не ограничивается ранжированием. У строки 382 высокое фактическое значение 81,75 МПа, а ближайший по стандартизованным признакам обучающий пример даёт 63,14 МПа. У строки 510 ближайший пример имеет возраст 3 дня против 28 у тестового образца и отличается водой и заполнителем. У строки 383 линейная регрессия даже лучше леса: абсолютная ошибка 17,54 против 19,09 МПа. Похожий обучающий образец 751 не содержит золы-уноса, тогда как у строки 383 её 60 кг на кубометр. Это проверяемые различия, но точную причину промахов эти данные не устанавливают.</a:t>
            </a:r>
          </a:p>
          <a:p xmlns:a="http://schemas.openxmlformats.org/drawingml/2006/main">
            <a:r>
              <a:t/>
            </a:r>
          </a:p>
          <a:p xmlns:a="http://schemas.openxmlformats.org/drawingml/2006/main">
            <a:r>
              <a:t>Источник данных: Yeh, I. (1998). Concrete Compressive Strength. UCI Machine Learning Repository. DOI: https://doi.org/10.24432/C5PK67. CC BY 4.0. https://archive.ics.uci.edu/dataset/165/concrete+compressive+strength</a:t>
            </a:r>
          </a:p>
          <a:p xmlns:a="http://schemas.openxmlformats.org/drawingml/2006/main">
            <a:r>
              <a:t>Расчёты: analysis.py, results/*.csv. Seed=42. Все графики рассчитаны на фактических данных.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Для важности я перемешиваю значения одного столбца test и измеряю рост RMSE. Перестановка возраста ухудшает RMSE примерно на 9,40 МПа, цемента на 7,20. Полоски показывают стандартное отклонение по 20 перестановкам, не доверительные интервалы. Важность описывает поведение обученной модели. Она не доказывает, что изменение одного компонента в реальной смеси вызовет такой же эффект. Коррелирующие компоненты могут делить важность.</a:t>
            </a:r>
          </a:p>
          <a:p xmlns:a="http://schemas.openxmlformats.org/drawingml/2006/main">
            <a:r>
              <a:t/>
            </a:r>
          </a:p>
          <a:p xmlns:a="http://schemas.openxmlformats.org/drawingml/2006/main">
            <a:r>
              <a:t>Источник данных: Yeh, I. (1998). Concrete Compressive Strength. UCI Machine Learning Repository. DOI: https://doi.org/10.24432/C5PK67. CC BY 4.0. https://archive.ics.uci.edu/dataset/165/concrete+compressive+strength</a:t>
            </a:r>
          </a:p>
          <a:p xmlns:a="http://schemas.openxmlformats.org/drawingml/2006/main">
            <a:r>
              <a:t>Расчёты: analysis.py, results/*.csv. Seed=42. Все графики рассчитаны на фактических данных.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RMSE леса на обучении составляет 1,82 МПа, на тесте 6,60. У регрессии значения 10,13 и 10,79. Гибкий лес лучше подгоняет обучение, и часть качества теряется на новых рецептурах. Этот разрыв совместим с переобучением и изменением состава выборки, но сам по себе не позволяет строго разделить причины. Групповая проверка помогает не оценивать качество только по обучающим данным.</a:t>
            </a:r>
          </a:p>
          <a:p xmlns:a="http://schemas.openxmlformats.org/drawingml/2006/main">
            <a:r>
              <a:t/>
            </a:r>
          </a:p>
          <a:p xmlns:a="http://schemas.openxmlformats.org/drawingml/2006/main">
            <a:r>
              <a:t>Источник данных: Yeh, I. (1998). Concrete Compressive Strength. UCI Machine Learning Repository. DOI: https://doi.org/10.24432/C5PK67. CC BY 4.0. https://archive.ics.uci.edu/dataset/165/concrete+compressive+strength</a:t>
            </a:r>
          </a:p>
          <a:p xmlns:a="http://schemas.openxmlformats.org/drawingml/2006/main">
            <a:r>
              <a:t>Расчёты: analysis.py, results/*.csv. Seed=42. Все графики рассчитаны на фактических данных.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Главный результат: случайный лес лучше линейной регрессии на новом составе в этом тесте. Средняя абсолютная ошибка 4,62 МПа, RMSE 6,60 МПа. Но ошибка отдельного образца может достигать 27,22 МПа. В датасете нет температуры и условий твердения, поэтому нельзя объяснить все промахи. Разумное продолжение — изучить дополнительные условия и новые признаки, например отношение воды к вяжущему и логарифм возраста. Это идеи следующего эксперимента, они в текущие модели не добавлялись. После просмотра test потребуется новая независимая проверка.</a:t>
            </a:r>
          </a:p>
          <a:p xmlns:a="http://schemas.openxmlformats.org/drawingml/2006/main">
            <a:r>
              <a:t/>
            </a:r>
          </a:p>
          <a:p xmlns:a="http://schemas.openxmlformats.org/drawingml/2006/main">
            <a:r>
              <a:t>Источник данных: Yeh, I. (1998). Concrete Compressive Strength. UCI Machine Learning Repository. DOI: https://doi.org/10.24432/C5PK67. CC BY 4.0. https://archive.ics.uci.edu/dataset/165/concrete+compressive+strength</a:t>
            </a:r>
          </a:p>
          <a:p xmlns:a="http://schemas.openxmlformats.org/drawingml/2006/main">
            <a:r>
              <a:t>Расчёты: analysis.py, results/*.csv. Seed=42. Все графики рассчитаны на фактических данных.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 ноутбуке есть весь код, выполненные ячейки, графики и пояснения. analysis.py повторяет анализ как обычный скрипт. В results сохранены метрики, настройки и прогноз для каждой строки test. Запуск воспроизводится с seed 42 и версиями из requirements.txt. Источник данных — UCI, DOI 10.24432/C5PK67, лицензия CC BY 4.0.</a:t>
            </a:r>
          </a:p>
          <a:p xmlns:a="http://schemas.openxmlformats.org/drawingml/2006/main">
            <a:r>
              <a:t/>
            </a:r>
          </a:p>
          <a:p xmlns:a="http://schemas.openxmlformats.org/drawingml/2006/main">
            <a:r>
              <a:t>Источник данных: Yeh, I. (1998). Concrete Compressive Strength. UCI Machine Learning Repository. DOI: https://doi.org/10.24432/C5PK67. CC BY 4.0. https://archive.ics.uci.edu/dataset/165/concrete+compressive+strength</a:t>
            </a:r>
          </a:p>
          <a:p xmlns:a="http://schemas.openxmlformats.org/drawingml/2006/main">
            <a:r>
              <a:t>Расчёты: analysis.py, results/*.csv. Seed=42. Все графики рассчитаны на фактических данных.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8efd6fd986f4ab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f065c874ba8408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e04a5ecc514461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5ca07a62b15461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e715ad7f774412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020eacc2f30441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BF04172-885E-4D3E-A0EF-DA70CE59397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401D917-F50F-4097-9948-47EDDD52F23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7F8A864-C165-48CC-9B42-954570E92B7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5EA21F-5EEF-4C25-89C0-8878435098E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CBF2148-9A68-4F2D-8D78-89D6F6193E1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2F240E5-B5A8-4BF6-AECD-51098BA2477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FA00B89-7C85-4B79-9C76-9D3CFAB8841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56B7310-4C75-4220-BC32-58FAC9F8627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67AF345-F860-49CB-86DA-D8E3DDAE80B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A3CA7FD-11B5-4BCF-86CB-F8DD3A97835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3e4159589c44017" /><Relationship Type="http://schemas.openxmlformats.org/officeDocument/2006/relationships/slideLayout" Target="/ppt/slideLayouts/slideLayout1.xml" Id="Rbb45b197b2954f24" /><Relationship Type="http://schemas.openxmlformats.org/officeDocument/2006/relationships/slideLayout" Target="/ppt/slideLayouts/slideLayout2.xml" Id="Ra8375026861849ba" /><Relationship Type="http://schemas.openxmlformats.org/officeDocument/2006/relationships/slideLayout" Target="/ppt/slideLayouts/slideLayout3.xml" Id="R01426cfa7158476f" /><Relationship Type="http://schemas.openxmlformats.org/officeDocument/2006/relationships/slideLayout" Target="/ppt/slideLayouts/slideLayout4.xml" Id="Rade6346bde754aa0" /><Relationship Type="http://schemas.openxmlformats.org/officeDocument/2006/relationships/slideLayout" Target="/ppt/slideLayouts/slideLayout5.xml" Id="Rb8664803df8f4a46" /><Relationship Type="http://schemas.openxmlformats.org/officeDocument/2006/relationships/slideLayout" Target="/ppt/slideLayouts/slideLayout6.xml" Id="R3fb8a9f702c54bb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b45b197b2954f24"/>
    <p:sldLayoutId xmlns:r="http://schemas.openxmlformats.org/officeDocument/2006/relationships" id="2147483650" r:id="Ra8375026861849ba"/>
    <p:sldLayoutId xmlns:r="http://schemas.openxmlformats.org/officeDocument/2006/relationships" id="2147483651" r:id="R01426cfa7158476f"/>
    <p:sldLayoutId xmlns:r="http://schemas.openxmlformats.org/officeDocument/2006/relationships" id="2147483652" r:id="Rade6346bde754aa0"/>
    <p:sldLayoutId xmlns:r="http://schemas.openxmlformats.org/officeDocument/2006/relationships" id="2147483653" r:id="Rb8664803df8f4a46"/>
    <p:sldLayoutId xmlns:r="http://schemas.openxmlformats.org/officeDocument/2006/relationships" id="2147483654" r:id="R3fb8a9f702c54bb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09a9fc8d4074622" /><Relationship Type="http://schemas.openxmlformats.org/officeDocument/2006/relationships/notesSlide" Target="/ppt/notesSlides/notesSlide1.xml" Id="Rcffb107f17bf4ba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b0a363e8d7b4832" /><Relationship Type="http://schemas.openxmlformats.org/officeDocument/2006/relationships/notesSlide" Target="/ppt/notesSlides/notesSlide2.xml" Id="R213c3aafade1471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3ac41940993456a" /><Relationship Type="http://schemas.openxmlformats.org/officeDocument/2006/relationships/notesSlide" Target="/ppt/notesSlides/notesSlide3.xml" Id="R5f48e08a193344f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28b60630efb4fcd" /><Relationship Type="http://schemas.openxmlformats.org/officeDocument/2006/relationships/image" Target="/ppt/media/image.png" Id="R57bc3088fda447a3" /><Relationship Type="http://schemas.openxmlformats.org/officeDocument/2006/relationships/notesSlide" Target="/ppt/notesSlides/notesSlide4.xml" Id="R2de6bd12ee4d443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7ea07ffa3694dcf" /><Relationship Type="http://schemas.openxmlformats.org/officeDocument/2006/relationships/image" Target="/ppt/media/image2.png" Id="R6153d404e71840c8" /><Relationship Type="http://schemas.openxmlformats.org/officeDocument/2006/relationships/notesSlide" Target="/ppt/notesSlides/notesSlide5.xml" Id="R4cc7c098deda434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d981e25d79743c6" /><Relationship Type="http://schemas.openxmlformats.org/officeDocument/2006/relationships/notesSlide" Target="/ppt/notesSlides/notesSlide6.xml" Id="Re3415eb89cef482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83d5579f70d45d2" /><Relationship Type="http://schemas.openxmlformats.org/officeDocument/2006/relationships/notesSlide" Target="/ppt/notesSlides/notesSlide7.xml" Id="Rae41808381bc41c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cfc5a9ff12946ed" /><Relationship Type="http://schemas.openxmlformats.org/officeDocument/2006/relationships/notesSlide" Target="/ppt/notesSlides/notesSlide8.xml" Id="R4c1cc78fb8a7496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93e82ef45324721" /><Relationship Type="http://schemas.openxmlformats.org/officeDocument/2006/relationships/image" Target="/ppt/media/image3.png" Id="R409f1303d4a84ddf" /><Relationship Type="http://schemas.openxmlformats.org/officeDocument/2006/relationships/notesSlide" Target="/ppt/notesSlides/notesSlide9.xml" Id="R2943c87d6d2049d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11ff3ff317245b9" /><Relationship Type="http://schemas.openxmlformats.org/officeDocument/2006/relationships/image" Target="/ppt/media/image4.png" Id="R7a8d548b41e64045" /><Relationship Type="http://schemas.openxmlformats.org/officeDocument/2006/relationships/notesSlide" Target="/ppt/notesSlides/notesSlide10.xml" Id="R966347e28975467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1695d29678a4bcf" /><Relationship Type="http://schemas.openxmlformats.org/officeDocument/2006/relationships/image" Target="/ppt/media/image5.png" Id="R85b3646903b8403d" /><Relationship Type="http://schemas.openxmlformats.org/officeDocument/2006/relationships/notesSlide" Target="/ppt/notesSlides/notesSlide11.xml" Id="R02d4756244da4bc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213bf55c39641e2" /><Relationship Type="http://schemas.openxmlformats.org/officeDocument/2006/relationships/image" Target="/ppt/media/image6.png" Id="R3e0a082d9a7348c8" /><Relationship Type="http://schemas.openxmlformats.org/officeDocument/2006/relationships/notesSlide" Target="/ppt/notesSlides/notesSlide12.xml" Id="Ra35ffa12bb8545d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61ea0656bd44b62" /><Relationship Type="http://schemas.openxmlformats.org/officeDocument/2006/relationships/notesSlide" Target="/ppt/notesSlides/notesSlide13.xml" Id="R04dc1ae9dd98405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d6abf8ad5054ace" /><Relationship Type="http://schemas.openxmlformats.org/officeDocument/2006/relationships/image" Target="/ppt/media/image7.png" Id="Rcebbd49cd55f4ea3" /><Relationship Type="http://schemas.openxmlformats.org/officeDocument/2006/relationships/notesSlide" Target="/ppt/notesSlides/notesSlide14.xml" Id="Rb0fe8694dac14eb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50b651c1d9e4a5d" /><Relationship Type="http://schemas.openxmlformats.org/officeDocument/2006/relationships/notesSlide" Target="/ppt/notesSlides/notesSlide15.xml" Id="R01f72ecf163e48f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b769c311f463406a" /><Relationship Type="http://schemas.openxmlformats.org/officeDocument/2006/relationships/notesSlide" Target="/ppt/notesSlides/notesSlide16.xml" Id="Redd2e876f0934ac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4391e893827463d" /><Relationship Type="http://schemas.openxmlformats.org/officeDocument/2006/relationships/hyperlink" Target="https://doi.org/10.24432/C5PK67" TargetMode="External" Id="R985161424d764d69" /><Relationship Type="http://schemas.openxmlformats.org/officeDocument/2006/relationships/hyperlink" Target="https://github.com/guzlikz/concrete-strength-project" TargetMode="External" Id="R8239114635194d94" /><Relationship Type="http://schemas.openxmlformats.org/officeDocument/2006/relationships/notesSlide" Target="/ppt/notesSlides/notesSlide17.xml" Id="R6b56cb86a0bc490a" /></Relationships>
</file>

<file path=ppt/slides/slide1.xml><?xml version="1.0" encoding="utf-8"?>
<p:sld xmlns:p="http://schemas.openxmlformats.org/presentationml/2006/main">
  <p:cSld>
    <p:bg>
      <p:bgPr>
        <a:solidFill xmlns:a="http://schemas.openxmlformats.org/drawingml/2006/main">
          <a:srgbClr val="152B3B"/>
        </a:solidFill>
      </p:bgPr>
    </p:bg>
    <p:spTree>
      <p:nvGrpSpPr>
        <p:cNvPr id="1" name=""/>
        <p:cNvGrpSpPr/>
        <p:nvPr/>
      </p:nvGrpSpPr>
      <p:grpSpPr>
        <a:xfrm xmlns:a="http://schemas.openxmlformats.org/drawingml/2006/main"/>
      </p:grpSpPr>
      <p:sp>
        <p:nvSpPr>
          <p:cNvPr id="2" name="folio">
            <a:extLst xmlns:a="http://schemas.openxmlformats.org/drawingml/2006/main">
              <a:ext uri="{FF2B5EF4-FFF2-40B4-BE49-F238E27FC236}">
                <a16:creationId xmlns:a16="http://schemas.microsoft.com/office/drawing/2014/main" id="{66041D04-392C-49F3-861F-BF2400A35E13}"/>
              </a:ext>
            </a:extLst>
          </p:cNvPr>
          <p:cNvSpPr>
            <a:spLocks xmlns:a="http://schemas.openxmlformats.org/drawingml/2006/main" noGrp="1"/>
          </p:cNvSpPr>
          <p:nvPr/>
        </p:nvSpPr>
        <p:spPr>
          <a:xfrm xmlns:a="http://schemas.openxmlformats.org/drawingml/2006/main">
            <a:off x="11353800" y="64389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B6C9D1"/>
                </a:solidFill>
                <a:latin typeface="Arial"/>
                <a:ea typeface="Arial"/>
                <a:cs typeface="Arial"/>
              </a:defRPr>
            </a:defPPr>
            <a:lvl1pPr>
              <a:defRPr sz="1200" b="0">
                <a:solidFill>
                  <a:srgbClr val="B6C9D1"/>
                </a:solidFill>
                <a:latin typeface="Arial"/>
                <a:ea typeface="Arial"/>
                <a:cs typeface="Arial"/>
              </a:defRPr>
            </a:lvl1pPr>
            <a:lvl2pPr>
              <a:defRPr sz="1200" b="0">
                <a:solidFill>
                  <a:srgbClr val="B6C9D1"/>
                </a:solidFill>
                <a:latin typeface="Arial"/>
                <a:ea typeface="Arial"/>
                <a:cs typeface="Arial"/>
              </a:defRPr>
            </a:lvl2pPr>
            <a:lvl3pPr>
              <a:defRPr sz="1200" b="0">
                <a:solidFill>
                  <a:srgbClr val="B6C9D1"/>
                </a:solidFill>
                <a:latin typeface="Arial"/>
                <a:ea typeface="Arial"/>
                <a:cs typeface="Arial"/>
              </a:defRPr>
            </a:lvl3pPr>
            <a:lvl4pPr>
              <a:defRPr sz="1200" b="0">
                <a:solidFill>
                  <a:srgbClr val="B6C9D1"/>
                </a:solidFill>
                <a:latin typeface="Arial"/>
                <a:ea typeface="Arial"/>
                <a:cs typeface="Arial"/>
              </a:defRPr>
            </a:lvl4pPr>
            <a:lvl5pPr>
              <a:defRPr sz="1200" b="0">
                <a:solidFill>
                  <a:srgbClr val="B6C9D1"/>
                </a:solidFill>
                <a:latin typeface="Arial"/>
                <a:ea typeface="Arial"/>
                <a:cs typeface="Arial"/>
              </a:defRPr>
            </a:lvl5pPr>
            <a:lvl6pPr>
              <a:defRPr sz="1200" b="0">
                <a:solidFill>
                  <a:srgbClr val="B6C9D1"/>
                </a:solidFill>
                <a:latin typeface="Arial"/>
                <a:ea typeface="Arial"/>
                <a:cs typeface="Arial"/>
              </a:defRPr>
            </a:lvl6pPr>
            <a:lvl7pPr>
              <a:defRPr sz="1200" b="0">
                <a:solidFill>
                  <a:srgbClr val="B6C9D1"/>
                </a:solidFill>
                <a:latin typeface="Arial"/>
                <a:ea typeface="Arial"/>
                <a:cs typeface="Arial"/>
              </a:defRPr>
            </a:lvl7pPr>
            <a:lvl8pPr>
              <a:defRPr sz="1200" b="0">
                <a:solidFill>
                  <a:srgbClr val="B6C9D1"/>
                </a:solidFill>
                <a:latin typeface="Arial"/>
                <a:ea typeface="Arial"/>
                <a:cs typeface="Arial"/>
              </a:defRPr>
            </a:lvl8pPr>
            <a:lvl9pPr>
              <a:defRPr sz="1200" b="0">
                <a:solidFill>
                  <a:srgbClr val="B6C9D1"/>
                </a:solidFill>
                <a:latin typeface="Arial"/>
                <a:ea typeface="Arial"/>
                <a:cs typeface="Arial"/>
              </a:defRPr>
            </a:lvl9pPr>
          </a:lstStyle>
          <a:p xmlns:a="http://schemas.openxmlformats.org/drawingml/2006/main">
            <a:pPr>
              <a:defRPr sz="1200" b="0">
                <a:solidFill>
                  <a:srgbClr val="B6C9D1"/>
                </a:solidFill>
                <a:latin typeface="Arial"/>
                <a:ea typeface="Arial"/>
                <a:cs typeface="Arial"/>
              </a:defRPr>
            </a:pPr>
            <a:r>
              <a:rPr sz="1200" b="0">
                <a:solidFill>
                  <a:srgbClr val="B6C9D1"/>
                </a:solidFill>
                <a:latin typeface="Arial"/>
                <a:ea typeface="Arial"/>
                <a:cs typeface="Arial"/>
              </a:rPr>
              <a:t>1</a:t>
            </a:r>
          </a:p>
        </p:txBody>
      </p:sp>
      <p:sp>
        <p:nvSpPr>
          <p:cNvPr id="3" name="cover-title">
            <a:extLst xmlns:a="http://schemas.openxmlformats.org/drawingml/2006/main">
              <a:ext uri="{FF2B5EF4-FFF2-40B4-BE49-F238E27FC236}">
                <a16:creationId xmlns:a16="http://schemas.microsoft.com/office/drawing/2014/main" id="{241099D7-BA64-42F7-BA25-2195F9956A0A}"/>
              </a:ext>
            </a:extLst>
          </p:cNvPr>
          <p:cNvSpPr>
            <a:spLocks xmlns:a="http://schemas.openxmlformats.org/drawingml/2006/main" noGrp="1"/>
          </p:cNvSpPr>
          <p:nvPr/>
        </p:nvSpPr>
        <p:spPr>
          <a:xfrm xmlns:a="http://schemas.openxmlformats.org/drawingml/2006/main">
            <a:off x="609600" y="952500"/>
            <a:ext cx="1076325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950" b="1">
                <a:solidFill>
                  <a:srgbClr val="FFFFFF"/>
                </a:solidFill>
                <a:latin typeface="Arial"/>
                <a:ea typeface="Arial"/>
                <a:cs typeface="Arial"/>
              </a:defRPr>
            </a:defPPr>
            <a:lvl1pPr>
              <a:defRPr sz="4950" b="1">
                <a:solidFill>
                  <a:srgbClr val="FFFFFF"/>
                </a:solidFill>
                <a:latin typeface="Arial"/>
                <a:ea typeface="Arial"/>
                <a:cs typeface="Arial"/>
              </a:defRPr>
            </a:lvl1pPr>
            <a:lvl2pPr>
              <a:defRPr sz="4950" b="1">
                <a:solidFill>
                  <a:srgbClr val="FFFFFF"/>
                </a:solidFill>
                <a:latin typeface="Arial"/>
                <a:ea typeface="Arial"/>
                <a:cs typeface="Arial"/>
              </a:defRPr>
            </a:lvl2pPr>
            <a:lvl3pPr>
              <a:defRPr sz="4950" b="1">
                <a:solidFill>
                  <a:srgbClr val="FFFFFF"/>
                </a:solidFill>
                <a:latin typeface="Arial"/>
                <a:ea typeface="Arial"/>
                <a:cs typeface="Arial"/>
              </a:defRPr>
            </a:lvl3pPr>
            <a:lvl4pPr>
              <a:defRPr sz="4950" b="1">
                <a:solidFill>
                  <a:srgbClr val="FFFFFF"/>
                </a:solidFill>
                <a:latin typeface="Arial"/>
                <a:ea typeface="Arial"/>
                <a:cs typeface="Arial"/>
              </a:defRPr>
            </a:lvl4pPr>
            <a:lvl5pPr>
              <a:defRPr sz="4950" b="1">
                <a:solidFill>
                  <a:srgbClr val="FFFFFF"/>
                </a:solidFill>
                <a:latin typeface="Arial"/>
                <a:ea typeface="Arial"/>
                <a:cs typeface="Arial"/>
              </a:defRPr>
            </a:lvl5pPr>
            <a:lvl6pPr>
              <a:defRPr sz="4950" b="1">
                <a:solidFill>
                  <a:srgbClr val="FFFFFF"/>
                </a:solidFill>
                <a:latin typeface="Arial"/>
                <a:ea typeface="Arial"/>
                <a:cs typeface="Arial"/>
              </a:defRPr>
            </a:lvl6pPr>
            <a:lvl7pPr>
              <a:defRPr sz="4950" b="1">
                <a:solidFill>
                  <a:srgbClr val="FFFFFF"/>
                </a:solidFill>
                <a:latin typeface="Arial"/>
                <a:ea typeface="Arial"/>
                <a:cs typeface="Arial"/>
              </a:defRPr>
            </a:lvl7pPr>
            <a:lvl8pPr>
              <a:defRPr sz="4950" b="1">
                <a:solidFill>
                  <a:srgbClr val="FFFFFF"/>
                </a:solidFill>
                <a:latin typeface="Arial"/>
                <a:ea typeface="Arial"/>
                <a:cs typeface="Arial"/>
              </a:defRPr>
            </a:lvl8pPr>
            <a:lvl9pPr>
              <a:defRPr sz="4950" b="1">
                <a:solidFill>
                  <a:srgbClr val="FFFFFF"/>
                </a:solidFill>
                <a:latin typeface="Arial"/>
                <a:ea typeface="Arial"/>
                <a:cs typeface="Arial"/>
              </a:defRPr>
            </a:lvl9pPr>
          </a:lstStyle>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Прогнозирование</a:t>
            </a:r>
          </a:p>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прочности бетона</a:t>
            </a:r>
          </a:p>
        </p:txBody>
      </p:sp>
      <p:sp>
        <p:nvSpPr>
          <p:cNvPr id="4" name="">
            <a:extLst xmlns:a="http://schemas.openxmlformats.org/drawingml/2006/main">
              <a:ext uri="{FF2B5EF4-FFF2-40B4-BE49-F238E27FC236}">
                <a16:creationId xmlns:a16="http://schemas.microsoft.com/office/drawing/2014/main" id="{DEE2ABA9-CBC2-4B36-9956-DE2FB6216129}"/>
              </a:ext>
            </a:extLst>
          </p:cNvPr>
          <p:cNvSpPr>
            <a:spLocks xmlns:a="http://schemas.openxmlformats.org/drawingml/2006/main" noGrp="1"/>
          </p:cNvSpPr>
          <p:nvPr/>
        </p:nvSpPr>
        <p:spPr>
          <a:xfrm xmlns:a="http://schemas.openxmlformats.org/drawingml/2006/main">
            <a:off x="647700" y="29527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0">
                <a:solidFill>
                  <a:srgbClr val="74C9D2"/>
                </a:solidFill>
                <a:latin typeface="Arial"/>
                <a:ea typeface="Arial"/>
                <a:cs typeface="Arial"/>
              </a:defRPr>
            </a:defPPr>
            <a:lvl1pPr>
              <a:defRPr sz="2400" b="0">
                <a:solidFill>
                  <a:srgbClr val="74C9D2"/>
                </a:solidFill>
                <a:latin typeface="Arial"/>
                <a:ea typeface="Arial"/>
                <a:cs typeface="Arial"/>
              </a:defRPr>
            </a:lvl1pPr>
            <a:lvl2pPr>
              <a:defRPr sz="2400" b="0">
                <a:solidFill>
                  <a:srgbClr val="74C9D2"/>
                </a:solidFill>
                <a:latin typeface="Arial"/>
                <a:ea typeface="Arial"/>
                <a:cs typeface="Arial"/>
              </a:defRPr>
            </a:lvl2pPr>
            <a:lvl3pPr>
              <a:defRPr sz="2400" b="0">
                <a:solidFill>
                  <a:srgbClr val="74C9D2"/>
                </a:solidFill>
                <a:latin typeface="Arial"/>
                <a:ea typeface="Arial"/>
                <a:cs typeface="Arial"/>
              </a:defRPr>
            </a:lvl3pPr>
            <a:lvl4pPr>
              <a:defRPr sz="2400" b="0">
                <a:solidFill>
                  <a:srgbClr val="74C9D2"/>
                </a:solidFill>
                <a:latin typeface="Arial"/>
                <a:ea typeface="Arial"/>
                <a:cs typeface="Arial"/>
              </a:defRPr>
            </a:lvl4pPr>
            <a:lvl5pPr>
              <a:defRPr sz="2400" b="0">
                <a:solidFill>
                  <a:srgbClr val="74C9D2"/>
                </a:solidFill>
                <a:latin typeface="Arial"/>
                <a:ea typeface="Arial"/>
                <a:cs typeface="Arial"/>
              </a:defRPr>
            </a:lvl5pPr>
            <a:lvl6pPr>
              <a:defRPr sz="2400" b="0">
                <a:solidFill>
                  <a:srgbClr val="74C9D2"/>
                </a:solidFill>
                <a:latin typeface="Arial"/>
                <a:ea typeface="Arial"/>
                <a:cs typeface="Arial"/>
              </a:defRPr>
            </a:lvl6pPr>
            <a:lvl7pPr>
              <a:defRPr sz="2400" b="0">
                <a:solidFill>
                  <a:srgbClr val="74C9D2"/>
                </a:solidFill>
                <a:latin typeface="Arial"/>
                <a:ea typeface="Arial"/>
                <a:cs typeface="Arial"/>
              </a:defRPr>
            </a:lvl7pPr>
            <a:lvl8pPr>
              <a:defRPr sz="2400" b="0">
                <a:solidFill>
                  <a:srgbClr val="74C9D2"/>
                </a:solidFill>
                <a:latin typeface="Arial"/>
                <a:ea typeface="Arial"/>
                <a:cs typeface="Arial"/>
              </a:defRPr>
            </a:lvl8pPr>
            <a:lvl9pPr>
              <a:defRPr sz="2400" b="0">
                <a:solidFill>
                  <a:srgbClr val="74C9D2"/>
                </a:solidFill>
                <a:latin typeface="Arial"/>
                <a:ea typeface="Arial"/>
                <a:cs typeface="Arial"/>
              </a:defRPr>
            </a:lvl9pPr>
          </a:lstStyle>
          <a:p xmlns:a="http://schemas.openxmlformats.org/drawingml/2006/main">
            <a:pPr>
              <a:defRPr sz="2400" b="0">
                <a:solidFill>
                  <a:srgbClr val="74C9D2"/>
                </a:solidFill>
                <a:latin typeface="Arial"/>
                <a:ea typeface="Arial"/>
                <a:cs typeface="Arial"/>
              </a:defRPr>
            </a:pPr>
            <a:r>
              <a:rPr sz="2400" b="0">
                <a:solidFill>
                  <a:srgbClr val="74C9D2"/>
                </a:solidFill>
                <a:latin typeface="Arial"/>
                <a:ea typeface="Arial"/>
                <a:cs typeface="Arial"/>
              </a:rPr>
              <a:t>Линейная регрессия и случайный лес</a:t>
            </a:r>
          </a:p>
        </p:txBody>
      </p:sp>
      <p:sp>
        <p:nvSpPr>
          <p:cNvPr id="5" name="">
            <a:extLst xmlns:a="http://schemas.openxmlformats.org/drawingml/2006/main">
              <a:ext uri="{FF2B5EF4-FFF2-40B4-BE49-F238E27FC236}">
                <a16:creationId xmlns:a16="http://schemas.microsoft.com/office/drawing/2014/main" id="{F0A3C734-60EF-4672-9227-FD04B4435098}"/>
              </a:ext>
            </a:extLst>
          </p:cNvPr>
          <p:cNvSpPr>
            <a:spLocks xmlns:a="http://schemas.openxmlformats.org/drawingml/2006/main" noGrp="1"/>
          </p:cNvSpPr>
          <p:nvPr/>
        </p:nvSpPr>
        <p:spPr>
          <a:xfrm xmlns:a="http://schemas.openxmlformats.org/drawingml/2006/main">
            <a:off x="647700" y="452437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FFFFFF"/>
                </a:solidFill>
                <a:latin typeface="Arial"/>
                <a:ea typeface="Arial"/>
                <a:cs typeface="Arial"/>
              </a:defRPr>
            </a:defPPr>
            <a:lvl1pPr>
              <a:defRPr sz="2325" b="1">
                <a:solidFill>
                  <a:srgbClr val="FFFFFF"/>
                </a:solidFill>
                <a:latin typeface="Arial"/>
                <a:ea typeface="Arial"/>
                <a:cs typeface="Arial"/>
              </a:defRPr>
            </a:lvl1pPr>
            <a:lvl2pPr>
              <a:defRPr sz="2325" b="1">
                <a:solidFill>
                  <a:srgbClr val="FFFFFF"/>
                </a:solidFill>
                <a:latin typeface="Arial"/>
                <a:ea typeface="Arial"/>
                <a:cs typeface="Arial"/>
              </a:defRPr>
            </a:lvl2pPr>
            <a:lvl3pPr>
              <a:defRPr sz="2325" b="1">
                <a:solidFill>
                  <a:srgbClr val="FFFFFF"/>
                </a:solidFill>
                <a:latin typeface="Arial"/>
                <a:ea typeface="Arial"/>
                <a:cs typeface="Arial"/>
              </a:defRPr>
            </a:lvl3pPr>
            <a:lvl4pPr>
              <a:defRPr sz="2325" b="1">
                <a:solidFill>
                  <a:srgbClr val="FFFFFF"/>
                </a:solidFill>
                <a:latin typeface="Arial"/>
                <a:ea typeface="Arial"/>
                <a:cs typeface="Arial"/>
              </a:defRPr>
            </a:lvl4pPr>
            <a:lvl5pPr>
              <a:defRPr sz="2325" b="1">
                <a:solidFill>
                  <a:srgbClr val="FFFFFF"/>
                </a:solidFill>
                <a:latin typeface="Arial"/>
                <a:ea typeface="Arial"/>
                <a:cs typeface="Arial"/>
              </a:defRPr>
            </a:lvl5pPr>
            <a:lvl6pPr>
              <a:defRPr sz="2325" b="1">
                <a:solidFill>
                  <a:srgbClr val="FFFFFF"/>
                </a:solidFill>
                <a:latin typeface="Arial"/>
                <a:ea typeface="Arial"/>
                <a:cs typeface="Arial"/>
              </a:defRPr>
            </a:lvl6pPr>
            <a:lvl7pPr>
              <a:defRPr sz="2325" b="1">
                <a:solidFill>
                  <a:srgbClr val="FFFFFF"/>
                </a:solidFill>
                <a:latin typeface="Arial"/>
                <a:ea typeface="Arial"/>
                <a:cs typeface="Arial"/>
              </a:defRPr>
            </a:lvl7pPr>
            <a:lvl8pPr>
              <a:defRPr sz="2325" b="1">
                <a:solidFill>
                  <a:srgbClr val="FFFFFF"/>
                </a:solidFill>
                <a:latin typeface="Arial"/>
                <a:ea typeface="Arial"/>
                <a:cs typeface="Arial"/>
              </a:defRPr>
            </a:lvl8pPr>
            <a:lvl9pPr>
              <a:defRPr sz="2325" b="1">
                <a:solidFill>
                  <a:srgbClr val="FFFFFF"/>
                </a:solidFill>
                <a:latin typeface="Arial"/>
                <a:ea typeface="Arial"/>
                <a:cs typeface="Arial"/>
              </a:defRPr>
            </a:lvl9pPr>
          </a:lstStyle>
          <a:p xmlns:a="http://schemas.openxmlformats.org/drawingml/2006/main">
            <a:pPr>
              <a:defRPr sz="2325" b="1">
                <a:solidFill>
                  <a:srgbClr val="FFFFFF"/>
                </a:solidFill>
                <a:latin typeface="Arial"/>
                <a:ea typeface="Arial"/>
                <a:cs typeface="Arial"/>
              </a:defRPr>
            </a:pPr>
            <a:r>
              <a:rPr sz="2325" b="1">
                <a:solidFill>
                  <a:srgbClr val="FFFFFF"/>
                </a:solidFill>
                <a:latin typeface="Arial"/>
                <a:ea typeface="Arial"/>
                <a:cs typeface="Arial"/>
              </a:rPr>
              <a:t>Поздин Марат Евгеньевич</a:t>
            </a:r>
          </a:p>
        </p:txBody>
      </p:sp>
      <p:sp>
        <p:nvSpPr>
          <p:cNvPr id="6" name="">
            <a:extLst xmlns:a="http://schemas.openxmlformats.org/drawingml/2006/main">
              <a:ext uri="{FF2B5EF4-FFF2-40B4-BE49-F238E27FC236}">
                <a16:creationId xmlns:a16="http://schemas.microsoft.com/office/drawing/2014/main" id="{CE8F5F10-3D4D-478A-8D02-8E520821F034}"/>
              </a:ext>
            </a:extLst>
          </p:cNvPr>
          <p:cNvSpPr>
            <a:spLocks xmlns:a="http://schemas.openxmlformats.org/drawingml/2006/main" noGrp="1"/>
          </p:cNvSpPr>
          <p:nvPr/>
        </p:nvSpPr>
        <p:spPr>
          <a:xfrm xmlns:a="http://schemas.openxmlformats.org/drawingml/2006/main">
            <a:off x="647700" y="50673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D1E1E7"/>
                </a:solidFill>
                <a:latin typeface="Arial"/>
                <a:ea typeface="Arial"/>
                <a:cs typeface="Arial"/>
              </a:defRPr>
            </a:defPPr>
            <a:lvl1pPr>
              <a:defRPr sz="2175" b="0">
                <a:solidFill>
                  <a:srgbClr val="D1E1E7"/>
                </a:solidFill>
                <a:latin typeface="Arial"/>
                <a:ea typeface="Arial"/>
                <a:cs typeface="Arial"/>
              </a:defRPr>
            </a:lvl1pPr>
            <a:lvl2pPr>
              <a:defRPr sz="2175" b="0">
                <a:solidFill>
                  <a:srgbClr val="D1E1E7"/>
                </a:solidFill>
                <a:latin typeface="Arial"/>
                <a:ea typeface="Arial"/>
                <a:cs typeface="Arial"/>
              </a:defRPr>
            </a:lvl2pPr>
            <a:lvl3pPr>
              <a:defRPr sz="2175" b="0">
                <a:solidFill>
                  <a:srgbClr val="D1E1E7"/>
                </a:solidFill>
                <a:latin typeface="Arial"/>
                <a:ea typeface="Arial"/>
                <a:cs typeface="Arial"/>
              </a:defRPr>
            </a:lvl3pPr>
            <a:lvl4pPr>
              <a:defRPr sz="2175" b="0">
                <a:solidFill>
                  <a:srgbClr val="D1E1E7"/>
                </a:solidFill>
                <a:latin typeface="Arial"/>
                <a:ea typeface="Arial"/>
                <a:cs typeface="Arial"/>
              </a:defRPr>
            </a:lvl4pPr>
            <a:lvl5pPr>
              <a:defRPr sz="2175" b="0">
                <a:solidFill>
                  <a:srgbClr val="D1E1E7"/>
                </a:solidFill>
                <a:latin typeface="Arial"/>
                <a:ea typeface="Arial"/>
                <a:cs typeface="Arial"/>
              </a:defRPr>
            </a:lvl5pPr>
            <a:lvl6pPr>
              <a:defRPr sz="2175" b="0">
                <a:solidFill>
                  <a:srgbClr val="D1E1E7"/>
                </a:solidFill>
                <a:latin typeface="Arial"/>
                <a:ea typeface="Arial"/>
                <a:cs typeface="Arial"/>
              </a:defRPr>
            </a:lvl6pPr>
            <a:lvl7pPr>
              <a:defRPr sz="2175" b="0">
                <a:solidFill>
                  <a:srgbClr val="D1E1E7"/>
                </a:solidFill>
                <a:latin typeface="Arial"/>
                <a:ea typeface="Arial"/>
                <a:cs typeface="Arial"/>
              </a:defRPr>
            </a:lvl7pPr>
            <a:lvl8pPr>
              <a:defRPr sz="2175" b="0">
                <a:solidFill>
                  <a:srgbClr val="D1E1E7"/>
                </a:solidFill>
                <a:latin typeface="Arial"/>
                <a:ea typeface="Arial"/>
                <a:cs typeface="Arial"/>
              </a:defRPr>
            </a:lvl8pPr>
            <a:lvl9pPr>
              <a:defRPr sz="2175" b="0">
                <a:solidFill>
                  <a:srgbClr val="D1E1E7"/>
                </a:solidFill>
                <a:latin typeface="Arial"/>
                <a:ea typeface="Arial"/>
                <a:cs typeface="Arial"/>
              </a:defRPr>
            </a:lvl9pPr>
          </a:lstStyle>
          <a:p xmlns:a="http://schemas.openxmlformats.org/drawingml/2006/main">
            <a:pPr>
              <a:defRPr sz="2175" b="0">
                <a:solidFill>
                  <a:srgbClr val="D1E1E7"/>
                </a:solidFill>
                <a:latin typeface="Arial"/>
                <a:ea typeface="Arial"/>
                <a:cs typeface="Arial"/>
              </a:defRPr>
            </a:pPr>
            <a:r>
              <a:rPr sz="2175" b="0">
                <a:solidFill>
                  <a:srgbClr val="D1E1E7"/>
                </a:solidFill>
                <a:latin typeface="Arial"/>
                <a:ea typeface="Arial"/>
                <a:cs typeface="Arial"/>
              </a:rPr>
              <a:t>ученик 11Б класса МБОУ лицей №7</a:t>
            </a:r>
          </a:p>
        </p:txBody>
      </p:sp>
      <p:sp>
        <p:nvSpPr>
          <p:cNvPr id="7" name="">
            <a:extLst xmlns:a="http://schemas.openxmlformats.org/drawingml/2006/main">
              <a:ext uri="{FF2B5EF4-FFF2-40B4-BE49-F238E27FC236}">
                <a16:creationId xmlns:a16="http://schemas.microsoft.com/office/drawing/2014/main" id="{122272B2-5D19-4FA2-9F4A-48935FC67E50}"/>
              </a:ext>
            </a:extLst>
          </p:cNvPr>
          <p:cNvSpPr>
            <a:spLocks xmlns:a="http://schemas.openxmlformats.org/drawingml/2006/main" noGrp="1"/>
          </p:cNvSpPr>
          <p:nvPr/>
        </p:nvSpPr>
        <p:spPr>
          <a:xfrm xmlns:a="http://schemas.openxmlformats.org/drawingml/2006/main">
            <a:off x="647700" y="59531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B6C9D1"/>
                </a:solidFill>
                <a:latin typeface="Arial"/>
                <a:ea typeface="Arial"/>
                <a:cs typeface="Arial"/>
              </a:defRPr>
            </a:defPPr>
            <a:lvl1pPr>
              <a:defRPr sz="1500" b="0">
                <a:solidFill>
                  <a:srgbClr val="B6C9D1"/>
                </a:solidFill>
                <a:latin typeface="Arial"/>
                <a:ea typeface="Arial"/>
                <a:cs typeface="Arial"/>
              </a:defRPr>
            </a:lvl1pPr>
            <a:lvl2pPr>
              <a:defRPr sz="1500" b="0">
                <a:solidFill>
                  <a:srgbClr val="B6C9D1"/>
                </a:solidFill>
                <a:latin typeface="Arial"/>
                <a:ea typeface="Arial"/>
                <a:cs typeface="Arial"/>
              </a:defRPr>
            </a:lvl2pPr>
            <a:lvl3pPr>
              <a:defRPr sz="1500" b="0">
                <a:solidFill>
                  <a:srgbClr val="B6C9D1"/>
                </a:solidFill>
                <a:latin typeface="Arial"/>
                <a:ea typeface="Arial"/>
                <a:cs typeface="Arial"/>
              </a:defRPr>
            </a:lvl3pPr>
            <a:lvl4pPr>
              <a:defRPr sz="1500" b="0">
                <a:solidFill>
                  <a:srgbClr val="B6C9D1"/>
                </a:solidFill>
                <a:latin typeface="Arial"/>
                <a:ea typeface="Arial"/>
                <a:cs typeface="Arial"/>
              </a:defRPr>
            </a:lvl4pPr>
            <a:lvl5pPr>
              <a:defRPr sz="1500" b="0">
                <a:solidFill>
                  <a:srgbClr val="B6C9D1"/>
                </a:solidFill>
                <a:latin typeface="Arial"/>
                <a:ea typeface="Arial"/>
                <a:cs typeface="Arial"/>
              </a:defRPr>
            </a:lvl5pPr>
            <a:lvl6pPr>
              <a:defRPr sz="1500" b="0">
                <a:solidFill>
                  <a:srgbClr val="B6C9D1"/>
                </a:solidFill>
                <a:latin typeface="Arial"/>
                <a:ea typeface="Arial"/>
                <a:cs typeface="Arial"/>
              </a:defRPr>
            </a:lvl6pPr>
            <a:lvl7pPr>
              <a:defRPr sz="1500" b="0">
                <a:solidFill>
                  <a:srgbClr val="B6C9D1"/>
                </a:solidFill>
                <a:latin typeface="Arial"/>
                <a:ea typeface="Arial"/>
                <a:cs typeface="Arial"/>
              </a:defRPr>
            </a:lvl7pPr>
            <a:lvl8pPr>
              <a:defRPr sz="1500" b="0">
                <a:solidFill>
                  <a:srgbClr val="B6C9D1"/>
                </a:solidFill>
                <a:latin typeface="Arial"/>
                <a:ea typeface="Arial"/>
                <a:cs typeface="Arial"/>
              </a:defRPr>
            </a:lvl8pPr>
            <a:lvl9pPr>
              <a:defRPr sz="1500" b="0">
                <a:solidFill>
                  <a:srgbClr val="B6C9D1"/>
                </a:solidFill>
                <a:latin typeface="Arial"/>
                <a:ea typeface="Arial"/>
                <a:cs typeface="Arial"/>
              </a:defRPr>
            </a:lvl9pPr>
          </a:lstStyle>
          <a:p xmlns:a="http://schemas.openxmlformats.org/drawingml/2006/main">
            <a:pPr>
              <a:defRPr sz="1500" b="0">
                <a:solidFill>
                  <a:srgbClr val="B6C9D1"/>
                </a:solidFill>
                <a:latin typeface="Arial"/>
                <a:ea typeface="Arial"/>
                <a:cs typeface="Arial"/>
              </a:defRPr>
            </a:pPr>
            <a:r>
              <a:rPr sz="1500" b="0">
                <a:solidFill>
                  <a:srgbClr val="B6C9D1"/>
                </a:solidFill>
                <a:latin typeface="Arial"/>
                <a:ea typeface="Arial"/>
                <a:cs typeface="Arial"/>
              </a:rPr>
              <a:t>Учебный проект на Python</a:t>
            </a:r>
          </a:p>
        </p:txBody>
      </p:sp>
    </p:spTree>
    <p:extLst>
      <p:ext uri="{BB962C8B-B14F-4D97-AF65-F5344CB8AC3E}">
        <p14:creationId xmlns:p14="http://schemas.microsoft.com/office/powerpoint/2010/main" val="22350358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5466E7B8-FD0C-4391-A4C0-0ACC7B4EDC29}"/>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152B3B"/>
                </a:solidFill>
                <a:latin typeface="Arial"/>
                <a:ea typeface="Arial"/>
                <a:cs typeface="Arial"/>
              </a:defRPr>
            </a:defPPr>
            <a:lvl1pPr>
              <a:defRPr sz="2850" b="1">
                <a:solidFill>
                  <a:srgbClr val="152B3B"/>
                </a:solidFill>
                <a:latin typeface="Arial"/>
                <a:ea typeface="Arial"/>
                <a:cs typeface="Arial"/>
              </a:defRPr>
            </a:lvl1pPr>
            <a:lvl2pPr>
              <a:defRPr sz="2850" b="1">
                <a:solidFill>
                  <a:srgbClr val="152B3B"/>
                </a:solidFill>
                <a:latin typeface="Arial"/>
                <a:ea typeface="Arial"/>
                <a:cs typeface="Arial"/>
              </a:defRPr>
            </a:lvl2pPr>
            <a:lvl3pPr>
              <a:defRPr sz="2850" b="1">
                <a:solidFill>
                  <a:srgbClr val="152B3B"/>
                </a:solidFill>
                <a:latin typeface="Arial"/>
                <a:ea typeface="Arial"/>
                <a:cs typeface="Arial"/>
              </a:defRPr>
            </a:lvl3pPr>
            <a:lvl4pPr>
              <a:defRPr sz="2850" b="1">
                <a:solidFill>
                  <a:srgbClr val="152B3B"/>
                </a:solidFill>
                <a:latin typeface="Arial"/>
                <a:ea typeface="Arial"/>
                <a:cs typeface="Arial"/>
              </a:defRPr>
            </a:lvl4pPr>
            <a:lvl5pPr>
              <a:defRPr sz="2850" b="1">
                <a:solidFill>
                  <a:srgbClr val="152B3B"/>
                </a:solidFill>
                <a:latin typeface="Arial"/>
                <a:ea typeface="Arial"/>
                <a:cs typeface="Arial"/>
              </a:defRPr>
            </a:lvl5pPr>
            <a:lvl6pPr>
              <a:defRPr sz="2850" b="1">
                <a:solidFill>
                  <a:srgbClr val="152B3B"/>
                </a:solidFill>
                <a:latin typeface="Arial"/>
                <a:ea typeface="Arial"/>
                <a:cs typeface="Arial"/>
              </a:defRPr>
            </a:lvl6pPr>
            <a:lvl7pPr>
              <a:defRPr sz="2850" b="1">
                <a:solidFill>
                  <a:srgbClr val="152B3B"/>
                </a:solidFill>
                <a:latin typeface="Arial"/>
                <a:ea typeface="Arial"/>
                <a:cs typeface="Arial"/>
              </a:defRPr>
            </a:lvl7pPr>
            <a:lvl8pPr>
              <a:defRPr sz="2850" b="1">
                <a:solidFill>
                  <a:srgbClr val="152B3B"/>
                </a:solidFill>
                <a:latin typeface="Arial"/>
                <a:ea typeface="Arial"/>
                <a:cs typeface="Arial"/>
              </a:defRPr>
            </a:lvl8pPr>
            <a:lvl9pPr>
              <a:defRPr sz="2850" b="1">
                <a:solidFill>
                  <a:srgbClr val="152B3B"/>
                </a:solidFill>
                <a:latin typeface="Arial"/>
                <a:ea typeface="Arial"/>
                <a:cs typeface="Arial"/>
              </a:defRPr>
            </a:lvl9pPr>
          </a:lstStyle>
          <a:p xmlns:a="http://schemas.openxmlformats.org/drawingml/2006/main">
            <a:pPr>
              <a:defRPr sz="2850" b="1">
                <a:solidFill>
                  <a:srgbClr val="152B3B"/>
                </a:solidFill>
                <a:latin typeface="Arial"/>
                <a:ea typeface="Arial"/>
                <a:cs typeface="Arial"/>
              </a:defRPr>
            </a:pPr>
            <a:r>
              <a:rPr sz="2850" b="1">
                <a:solidFill>
                  <a:srgbClr val="152B3B"/>
                </a:solidFill>
                <a:latin typeface="Arial"/>
                <a:ea typeface="Arial"/>
                <a:cs typeface="Arial"/>
              </a:rPr>
              <a:t>Можно ли предсказать прочность по рецептуре?</a:t>
            </a:r>
          </a:p>
        </p:txBody>
      </p:sp>
      <p:sp>
        <p:nvSpPr>
          <p:cNvPr id="3" name="folio">
            <a:extLst xmlns:a="http://schemas.openxmlformats.org/drawingml/2006/main">
              <a:ext uri="{FF2B5EF4-FFF2-40B4-BE49-F238E27FC236}">
                <a16:creationId xmlns:a16="http://schemas.microsoft.com/office/drawing/2014/main" id="{2BEE4E75-82C8-402C-AC97-B8E8F5BAEAFC}"/>
              </a:ext>
            </a:extLst>
          </p:cNvPr>
          <p:cNvSpPr>
            <a:spLocks xmlns:a="http://schemas.openxmlformats.org/drawingml/2006/main" noGrp="1"/>
          </p:cNvSpPr>
          <p:nvPr/>
        </p:nvSpPr>
        <p:spPr>
          <a:xfrm xmlns:a="http://schemas.openxmlformats.org/drawingml/2006/main">
            <a:off x="11353800" y="64389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6776"/>
                </a:solidFill>
                <a:latin typeface="Arial"/>
                <a:ea typeface="Arial"/>
                <a:cs typeface="Arial"/>
              </a:defRPr>
            </a:defPPr>
            <a:lvl1pPr>
              <a:defRPr sz="1200" b="0">
                <a:solidFill>
                  <a:srgbClr val="526776"/>
                </a:solidFill>
                <a:latin typeface="Arial"/>
                <a:ea typeface="Arial"/>
                <a:cs typeface="Arial"/>
              </a:defRPr>
            </a:lvl1pPr>
            <a:lvl2pPr>
              <a:defRPr sz="1200" b="0">
                <a:solidFill>
                  <a:srgbClr val="526776"/>
                </a:solidFill>
                <a:latin typeface="Arial"/>
                <a:ea typeface="Arial"/>
                <a:cs typeface="Arial"/>
              </a:defRPr>
            </a:lvl2pPr>
            <a:lvl3pPr>
              <a:defRPr sz="1200" b="0">
                <a:solidFill>
                  <a:srgbClr val="526776"/>
                </a:solidFill>
                <a:latin typeface="Arial"/>
                <a:ea typeface="Arial"/>
                <a:cs typeface="Arial"/>
              </a:defRPr>
            </a:lvl3pPr>
            <a:lvl4pPr>
              <a:defRPr sz="1200" b="0">
                <a:solidFill>
                  <a:srgbClr val="526776"/>
                </a:solidFill>
                <a:latin typeface="Arial"/>
                <a:ea typeface="Arial"/>
                <a:cs typeface="Arial"/>
              </a:defRPr>
            </a:lvl4pPr>
            <a:lvl5pPr>
              <a:defRPr sz="1200" b="0">
                <a:solidFill>
                  <a:srgbClr val="526776"/>
                </a:solidFill>
                <a:latin typeface="Arial"/>
                <a:ea typeface="Arial"/>
                <a:cs typeface="Arial"/>
              </a:defRPr>
            </a:lvl5pPr>
            <a:lvl6pPr>
              <a:defRPr sz="1200" b="0">
                <a:solidFill>
                  <a:srgbClr val="526776"/>
                </a:solidFill>
                <a:latin typeface="Arial"/>
                <a:ea typeface="Arial"/>
                <a:cs typeface="Arial"/>
              </a:defRPr>
            </a:lvl6pPr>
            <a:lvl7pPr>
              <a:defRPr sz="1200" b="0">
                <a:solidFill>
                  <a:srgbClr val="526776"/>
                </a:solidFill>
                <a:latin typeface="Arial"/>
                <a:ea typeface="Arial"/>
                <a:cs typeface="Arial"/>
              </a:defRPr>
            </a:lvl7pPr>
            <a:lvl8pPr>
              <a:defRPr sz="1200" b="0">
                <a:solidFill>
                  <a:srgbClr val="526776"/>
                </a:solidFill>
                <a:latin typeface="Arial"/>
                <a:ea typeface="Arial"/>
                <a:cs typeface="Arial"/>
              </a:defRPr>
            </a:lvl8pPr>
            <a:lvl9pPr>
              <a:defRPr sz="1200" b="0">
                <a:solidFill>
                  <a:srgbClr val="526776"/>
                </a:solidFill>
                <a:latin typeface="Arial"/>
                <a:ea typeface="Arial"/>
                <a:cs typeface="Arial"/>
              </a:defRPr>
            </a:lvl9pPr>
          </a:lstStyle>
          <a:p xmlns:a="http://schemas.openxmlformats.org/drawingml/2006/main">
            <a:pPr>
              <a:defRPr sz="1200" b="0">
                <a:solidFill>
                  <a:srgbClr val="526776"/>
                </a:solidFill>
                <a:latin typeface="Arial"/>
                <a:ea typeface="Arial"/>
                <a:cs typeface="Arial"/>
              </a:defRPr>
            </a:pPr>
            <a:r>
              <a:rPr sz="1200" b="0">
                <a:solidFill>
                  <a:srgbClr val="526776"/>
                </a:solidFill>
                <a:latin typeface="Arial"/>
                <a:ea typeface="Arial"/>
                <a:cs typeface="Arial"/>
              </a:rPr>
              <a:t>2</a:t>
            </a:r>
          </a:p>
        </p:txBody>
      </p:sp>
      <p:sp>
        <p:nvSpPr>
          <p:cNvPr id="4" name="">
            <a:extLst xmlns:a="http://schemas.openxmlformats.org/drawingml/2006/main">
              <a:ext uri="{FF2B5EF4-FFF2-40B4-BE49-F238E27FC236}">
                <a16:creationId xmlns:a16="http://schemas.microsoft.com/office/drawing/2014/main" id="{3FFBEC4A-3D9D-4370-ACB6-4F77CC90190D}"/>
              </a:ext>
            </a:extLst>
          </p:cNvPr>
          <p:cNvSpPr>
            <a:spLocks xmlns:a="http://schemas.openxmlformats.org/drawingml/2006/main" noGrp="1"/>
          </p:cNvSpPr>
          <p:nvPr/>
        </p:nvSpPr>
        <p:spPr>
          <a:xfrm xmlns:a="http://schemas.openxmlformats.org/drawingml/2006/main">
            <a:off x="609600" y="1695450"/>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67D8D"/>
                </a:solidFill>
                <a:latin typeface="Arial"/>
                <a:ea typeface="Arial"/>
                <a:cs typeface="Arial"/>
              </a:defRPr>
            </a:defPPr>
            <a:lvl1pPr>
              <a:defRPr sz="2550" b="1">
                <a:solidFill>
                  <a:srgbClr val="167D8D"/>
                </a:solidFill>
                <a:latin typeface="Arial"/>
                <a:ea typeface="Arial"/>
                <a:cs typeface="Arial"/>
              </a:defRPr>
            </a:lvl1pPr>
            <a:lvl2pPr>
              <a:defRPr sz="2550" b="1">
                <a:solidFill>
                  <a:srgbClr val="167D8D"/>
                </a:solidFill>
                <a:latin typeface="Arial"/>
                <a:ea typeface="Arial"/>
                <a:cs typeface="Arial"/>
              </a:defRPr>
            </a:lvl2pPr>
            <a:lvl3pPr>
              <a:defRPr sz="2550" b="1">
                <a:solidFill>
                  <a:srgbClr val="167D8D"/>
                </a:solidFill>
                <a:latin typeface="Arial"/>
                <a:ea typeface="Arial"/>
                <a:cs typeface="Arial"/>
              </a:defRPr>
            </a:lvl3pPr>
            <a:lvl4pPr>
              <a:defRPr sz="2550" b="1">
                <a:solidFill>
                  <a:srgbClr val="167D8D"/>
                </a:solidFill>
                <a:latin typeface="Arial"/>
                <a:ea typeface="Arial"/>
                <a:cs typeface="Arial"/>
              </a:defRPr>
            </a:lvl4pPr>
            <a:lvl5pPr>
              <a:defRPr sz="2550" b="1">
                <a:solidFill>
                  <a:srgbClr val="167D8D"/>
                </a:solidFill>
                <a:latin typeface="Arial"/>
                <a:ea typeface="Arial"/>
                <a:cs typeface="Arial"/>
              </a:defRPr>
            </a:lvl5pPr>
            <a:lvl6pPr>
              <a:defRPr sz="2550" b="1">
                <a:solidFill>
                  <a:srgbClr val="167D8D"/>
                </a:solidFill>
                <a:latin typeface="Arial"/>
                <a:ea typeface="Arial"/>
                <a:cs typeface="Arial"/>
              </a:defRPr>
            </a:lvl6pPr>
            <a:lvl7pPr>
              <a:defRPr sz="2550" b="1">
                <a:solidFill>
                  <a:srgbClr val="167D8D"/>
                </a:solidFill>
                <a:latin typeface="Arial"/>
                <a:ea typeface="Arial"/>
                <a:cs typeface="Arial"/>
              </a:defRPr>
            </a:lvl7pPr>
            <a:lvl8pPr>
              <a:defRPr sz="2550" b="1">
                <a:solidFill>
                  <a:srgbClr val="167D8D"/>
                </a:solidFill>
                <a:latin typeface="Arial"/>
                <a:ea typeface="Arial"/>
                <a:cs typeface="Arial"/>
              </a:defRPr>
            </a:lvl8pPr>
            <a:lvl9pPr>
              <a:defRPr sz="2550" b="1">
                <a:solidFill>
                  <a:srgbClr val="167D8D"/>
                </a:solidFill>
                <a:latin typeface="Arial"/>
                <a:ea typeface="Arial"/>
                <a:cs typeface="Arial"/>
              </a:defRPr>
            </a:lvl9pPr>
          </a:lstStyle>
          <a:p xmlns:a="http://schemas.openxmlformats.org/drawingml/2006/main">
            <a:pPr>
              <a:defRPr sz="2550" b="1">
                <a:solidFill>
                  <a:srgbClr val="167D8D"/>
                </a:solidFill>
                <a:latin typeface="Arial"/>
                <a:ea typeface="Arial"/>
                <a:cs typeface="Arial"/>
              </a:defRPr>
            </a:pPr>
            <a:r>
              <a:rPr sz="2550" b="1">
                <a:solidFill>
                  <a:srgbClr val="167D8D"/>
                </a:solidFill>
                <a:latin typeface="Arial"/>
                <a:ea typeface="Arial"/>
                <a:cs typeface="Arial"/>
              </a:rPr>
              <a:t>8 входных признаков</a:t>
            </a:r>
          </a:p>
        </p:txBody>
      </p:sp>
      <p:sp>
        <p:nvSpPr>
          <p:cNvPr id="5" name="">
            <a:extLst xmlns:a="http://schemas.openxmlformats.org/drawingml/2006/main">
              <a:ext uri="{FF2B5EF4-FFF2-40B4-BE49-F238E27FC236}">
                <a16:creationId xmlns:a16="http://schemas.microsoft.com/office/drawing/2014/main" id="{F060EF94-1F9B-4557-B7F1-ABBA96DA5789}"/>
              </a:ext>
            </a:extLst>
          </p:cNvPr>
          <p:cNvSpPr>
            <a:spLocks xmlns:a="http://schemas.openxmlformats.org/drawingml/2006/main" noGrp="1"/>
          </p:cNvSpPr>
          <p:nvPr/>
        </p:nvSpPr>
        <p:spPr>
          <a:xfrm xmlns:a="http://schemas.openxmlformats.org/drawingml/2006/main">
            <a:off x="609600" y="2438400"/>
            <a:ext cx="5476875"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52B3B"/>
                </a:solidFill>
                <a:latin typeface="Arial"/>
                <a:ea typeface="Arial"/>
                <a:cs typeface="Arial"/>
              </a:defRPr>
            </a:defPPr>
            <a:lvl1pPr>
              <a:defRPr sz="2175" b="0">
                <a:solidFill>
                  <a:srgbClr val="152B3B"/>
                </a:solidFill>
                <a:latin typeface="Arial"/>
                <a:ea typeface="Arial"/>
                <a:cs typeface="Arial"/>
              </a:defRPr>
            </a:lvl1pPr>
            <a:lvl2pPr>
              <a:defRPr sz="2175" b="0">
                <a:solidFill>
                  <a:srgbClr val="152B3B"/>
                </a:solidFill>
                <a:latin typeface="Arial"/>
                <a:ea typeface="Arial"/>
                <a:cs typeface="Arial"/>
              </a:defRPr>
            </a:lvl2pPr>
            <a:lvl3pPr>
              <a:defRPr sz="2175" b="0">
                <a:solidFill>
                  <a:srgbClr val="152B3B"/>
                </a:solidFill>
                <a:latin typeface="Arial"/>
                <a:ea typeface="Arial"/>
                <a:cs typeface="Arial"/>
              </a:defRPr>
            </a:lvl3pPr>
            <a:lvl4pPr>
              <a:defRPr sz="2175" b="0">
                <a:solidFill>
                  <a:srgbClr val="152B3B"/>
                </a:solidFill>
                <a:latin typeface="Arial"/>
                <a:ea typeface="Arial"/>
                <a:cs typeface="Arial"/>
              </a:defRPr>
            </a:lvl4pPr>
            <a:lvl5pPr>
              <a:defRPr sz="2175" b="0">
                <a:solidFill>
                  <a:srgbClr val="152B3B"/>
                </a:solidFill>
                <a:latin typeface="Arial"/>
                <a:ea typeface="Arial"/>
                <a:cs typeface="Arial"/>
              </a:defRPr>
            </a:lvl5pPr>
            <a:lvl6pPr>
              <a:defRPr sz="2175" b="0">
                <a:solidFill>
                  <a:srgbClr val="152B3B"/>
                </a:solidFill>
                <a:latin typeface="Arial"/>
                <a:ea typeface="Arial"/>
                <a:cs typeface="Arial"/>
              </a:defRPr>
            </a:lvl6pPr>
            <a:lvl7pPr>
              <a:defRPr sz="2175" b="0">
                <a:solidFill>
                  <a:srgbClr val="152B3B"/>
                </a:solidFill>
                <a:latin typeface="Arial"/>
                <a:ea typeface="Arial"/>
                <a:cs typeface="Arial"/>
              </a:defRPr>
            </a:lvl7pPr>
            <a:lvl8pPr>
              <a:defRPr sz="2175" b="0">
                <a:solidFill>
                  <a:srgbClr val="152B3B"/>
                </a:solidFill>
                <a:latin typeface="Arial"/>
                <a:ea typeface="Arial"/>
                <a:cs typeface="Arial"/>
              </a:defRPr>
            </a:lvl8pPr>
            <a:lvl9pPr>
              <a:defRPr sz="2175" b="0">
                <a:solidFill>
                  <a:srgbClr val="152B3B"/>
                </a:solidFill>
                <a:latin typeface="Arial"/>
                <a:ea typeface="Arial"/>
                <a:cs typeface="Arial"/>
              </a:defRPr>
            </a:lvl9pPr>
          </a:lstStyle>
          <a:p xmlns:a="http://schemas.openxmlformats.org/drawingml/2006/main">
            <a:pPr>
              <a:defRPr sz="2175" b="0">
                <a:solidFill>
                  <a:srgbClr val="152B3B"/>
                </a:solidFill>
                <a:latin typeface="Arial"/>
                <a:ea typeface="Arial"/>
                <a:cs typeface="Arial"/>
              </a:defRPr>
            </a:pPr>
            <a:r>
              <a:rPr sz="2175" b="0">
                <a:solidFill>
                  <a:srgbClr val="152B3B"/>
                </a:solidFill>
                <a:latin typeface="Arial"/>
                <a:ea typeface="Arial"/>
                <a:cs typeface="Arial"/>
              </a:rPr>
              <a:t>Цемент, шлак, зола-унос, вода,</a:t>
            </a:r>
          </a:p>
          <a:p xmlns:a="http://schemas.openxmlformats.org/drawingml/2006/main">
            <a:pPr>
              <a:defRPr sz="2175" b="0">
                <a:solidFill>
                  <a:srgbClr val="152B3B"/>
                </a:solidFill>
                <a:latin typeface="Arial"/>
                <a:ea typeface="Arial"/>
                <a:cs typeface="Arial"/>
              </a:defRPr>
            </a:pPr>
            <a:r>
              <a:rPr sz="2175" b="0">
                <a:solidFill>
                  <a:srgbClr val="152B3B"/>
                </a:solidFill>
                <a:latin typeface="Arial"/>
                <a:ea typeface="Arial"/>
                <a:cs typeface="Arial"/>
              </a:rPr>
              <a:t>суперпластификатор, крупный</a:t>
            </a:r>
          </a:p>
          <a:p xmlns:a="http://schemas.openxmlformats.org/drawingml/2006/main">
            <a:pPr>
              <a:defRPr sz="2175" b="0">
                <a:solidFill>
                  <a:srgbClr val="152B3B"/>
                </a:solidFill>
                <a:latin typeface="Arial"/>
                <a:ea typeface="Arial"/>
                <a:cs typeface="Arial"/>
              </a:defRPr>
            </a:pPr>
            <a:r>
              <a:rPr sz="2175" b="0">
                <a:solidFill>
                  <a:srgbClr val="152B3B"/>
                </a:solidFill>
                <a:latin typeface="Arial"/>
                <a:ea typeface="Arial"/>
                <a:cs typeface="Arial"/>
              </a:rPr>
              <a:t>и мелкий заполнители, возраст</a:t>
            </a:r>
          </a:p>
        </p:txBody>
      </p:sp>
      <p:sp>
        <p:nvSpPr>
          <p:cNvPr id="6" name="">
            <a:extLst xmlns:a="http://schemas.openxmlformats.org/drawingml/2006/main">
              <a:ext uri="{FF2B5EF4-FFF2-40B4-BE49-F238E27FC236}">
                <a16:creationId xmlns:a16="http://schemas.microsoft.com/office/drawing/2014/main" id="{9723F6D8-5301-4604-9B40-25E090971893}"/>
              </a:ext>
            </a:extLst>
          </p:cNvPr>
          <p:cNvSpPr>
            <a:spLocks xmlns:a="http://schemas.openxmlformats.org/drawingml/2006/main" noGrp="1"/>
          </p:cNvSpPr>
          <p:nvPr/>
        </p:nvSpPr>
        <p:spPr>
          <a:xfrm xmlns:a="http://schemas.openxmlformats.org/drawingml/2006/main">
            <a:off x="7124700" y="1695450"/>
            <a:ext cx="4381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67D8D"/>
                </a:solidFill>
                <a:latin typeface="Arial"/>
                <a:ea typeface="Arial"/>
                <a:cs typeface="Arial"/>
              </a:defRPr>
            </a:defPPr>
            <a:lvl1pPr>
              <a:defRPr sz="2550" b="1">
                <a:solidFill>
                  <a:srgbClr val="167D8D"/>
                </a:solidFill>
                <a:latin typeface="Arial"/>
                <a:ea typeface="Arial"/>
                <a:cs typeface="Arial"/>
              </a:defRPr>
            </a:lvl1pPr>
            <a:lvl2pPr>
              <a:defRPr sz="2550" b="1">
                <a:solidFill>
                  <a:srgbClr val="167D8D"/>
                </a:solidFill>
                <a:latin typeface="Arial"/>
                <a:ea typeface="Arial"/>
                <a:cs typeface="Arial"/>
              </a:defRPr>
            </a:lvl2pPr>
            <a:lvl3pPr>
              <a:defRPr sz="2550" b="1">
                <a:solidFill>
                  <a:srgbClr val="167D8D"/>
                </a:solidFill>
                <a:latin typeface="Arial"/>
                <a:ea typeface="Arial"/>
                <a:cs typeface="Arial"/>
              </a:defRPr>
            </a:lvl3pPr>
            <a:lvl4pPr>
              <a:defRPr sz="2550" b="1">
                <a:solidFill>
                  <a:srgbClr val="167D8D"/>
                </a:solidFill>
                <a:latin typeface="Arial"/>
                <a:ea typeface="Arial"/>
                <a:cs typeface="Arial"/>
              </a:defRPr>
            </a:lvl4pPr>
            <a:lvl5pPr>
              <a:defRPr sz="2550" b="1">
                <a:solidFill>
                  <a:srgbClr val="167D8D"/>
                </a:solidFill>
                <a:latin typeface="Arial"/>
                <a:ea typeface="Arial"/>
                <a:cs typeface="Arial"/>
              </a:defRPr>
            </a:lvl5pPr>
            <a:lvl6pPr>
              <a:defRPr sz="2550" b="1">
                <a:solidFill>
                  <a:srgbClr val="167D8D"/>
                </a:solidFill>
                <a:latin typeface="Arial"/>
                <a:ea typeface="Arial"/>
                <a:cs typeface="Arial"/>
              </a:defRPr>
            </a:lvl6pPr>
            <a:lvl7pPr>
              <a:defRPr sz="2550" b="1">
                <a:solidFill>
                  <a:srgbClr val="167D8D"/>
                </a:solidFill>
                <a:latin typeface="Arial"/>
                <a:ea typeface="Arial"/>
                <a:cs typeface="Arial"/>
              </a:defRPr>
            </a:lvl7pPr>
            <a:lvl8pPr>
              <a:defRPr sz="2550" b="1">
                <a:solidFill>
                  <a:srgbClr val="167D8D"/>
                </a:solidFill>
                <a:latin typeface="Arial"/>
                <a:ea typeface="Arial"/>
                <a:cs typeface="Arial"/>
              </a:defRPr>
            </a:lvl8pPr>
            <a:lvl9pPr>
              <a:defRPr sz="2550" b="1">
                <a:solidFill>
                  <a:srgbClr val="167D8D"/>
                </a:solidFill>
                <a:latin typeface="Arial"/>
                <a:ea typeface="Arial"/>
                <a:cs typeface="Arial"/>
              </a:defRPr>
            </a:lvl9pPr>
          </a:lstStyle>
          <a:p xmlns:a="http://schemas.openxmlformats.org/drawingml/2006/main">
            <a:pPr>
              <a:defRPr sz="2550" b="1">
                <a:solidFill>
                  <a:srgbClr val="167D8D"/>
                </a:solidFill>
                <a:latin typeface="Arial"/>
                <a:ea typeface="Arial"/>
                <a:cs typeface="Arial"/>
              </a:defRPr>
            </a:pPr>
            <a:r>
              <a:rPr sz="2550" b="1">
                <a:solidFill>
                  <a:srgbClr val="167D8D"/>
                </a:solidFill>
                <a:latin typeface="Arial"/>
                <a:ea typeface="Arial"/>
                <a:cs typeface="Arial"/>
              </a:rPr>
              <a:t>1 прогноз</a:t>
            </a:r>
          </a:p>
        </p:txBody>
      </p:sp>
      <p:sp>
        <p:nvSpPr>
          <p:cNvPr id="7" name="">
            <a:extLst xmlns:a="http://schemas.openxmlformats.org/drawingml/2006/main">
              <a:ext uri="{FF2B5EF4-FFF2-40B4-BE49-F238E27FC236}">
                <a16:creationId xmlns:a16="http://schemas.microsoft.com/office/drawing/2014/main" id="{FA81F775-592C-431C-9A8C-B5A8FAEE5275}"/>
              </a:ext>
            </a:extLst>
          </p:cNvPr>
          <p:cNvSpPr>
            <a:spLocks xmlns:a="http://schemas.openxmlformats.org/drawingml/2006/main" noGrp="1"/>
          </p:cNvSpPr>
          <p:nvPr/>
        </p:nvSpPr>
        <p:spPr>
          <a:xfrm xmlns:a="http://schemas.openxmlformats.org/drawingml/2006/main">
            <a:off x="7124700" y="2438400"/>
            <a:ext cx="438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625" b="1">
                <a:solidFill>
                  <a:srgbClr val="152B3B"/>
                </a:solidFill>
                <a:latin typeface="Arial"/>
                <a:ea typeface="Arial"/>
                <a:cs typeface="Arial"/>
              </a:defRPr>
            </a:defPPr>
            <a:lvl1pPr>
              <a:defRPr sz="2625" b="1">
                <a:solidFill>
                  <a:srgbClr val="152B3B"/>
                </a:solidFill>
                <a:latin typeface="Arial"/>
                <a:ea typeface="Arial"/>
                <a:cs typeface="Arial"/>
              </a:defRPr>
            </a:lvl1pPr>
            <a:lvl2pPr>
              <a:defRPr sz="2625" b="1">
                <a:solidFill>
                  <a:srgbClr val="152B3B"/>
                </a:solidFill>
                <a:latin typeface="Arial"/>
                <a:ea typeface="Arial"/>
                <a:cs typeface="Arial"/>
              </a:defRPr>
            </a:lvl2pPr>
            <a:lvl3pPr>
              <a:defRPr sz="2625" b="1">
                <a:solidFill>
                  <a:srgbClr val="152B3B"/>
                </a:solidFill>
                <a:latin typeface="Arial"/>
                <a:ea typeface="Arial"/>
                <a:cs typeface="Arial"/>
              </a:defRPr>
            </a:lvl3pPr>
            <a:lvl4pPr>
              <a:defRPr sz="2625" b="1">
                <a:solidFill>
                  <a:srgbClr val="152B3B"/>
                </a:solidFill>
                <a:latin typeface="Arial"/>
                <a:ea typeface="Arial"/>
                <a:cs typeface="Arial"/>
              </a:defRPr>
            </a:lvl4pPr>
            <a:lvl5pPr>
              <a:defRPr sz="2625" b="1">
                <a:solidFill>
                  <a:srgbClr val="152B3B"/>
                </a:solidFill>
                <a:latin typeface="Arial"/>
                <a:ea typeface="Arial"/>
                <a:cs typeface="Arial"/>
              </a:defRPr>
            </a:lvl5pPr>
            <a:lvl6pPr>
              <a:defRPr sz="2625" b="1">
                <a:solidFill>
                  <a:srgbClr val="152B3B"/>
                </a:solidFill>
                <a:latin typeface="Arial"/>
                <a:ea typeface="Arial"/>
                <a:cs typeface="Arial"/>
              </a:defRPr>
            </a:lvl6pPr>
            <a:lvl7pPr>
              <a:defRPr sz="2625" b="1">
                <a:solidFill>
                  <a:srgbClr val="152B3B"/>
                </a:solidFill>
                <a:latin typeface="Arial"/>
                <a:ea typeface="Arial"/>
                <a:cs typeface="Arial"/>
              </a:defRPr>
            </a:lvl7pPr>
            <a:lvl8pPr>
              <a:defRPr sz="2625" b="1">
                <a:solidFill>
                  <a:srgbClr val="152B3B"/>
                </a:solidFill>
                <a:latin typeface="Arial"/>
                <a:ea typeface="Arial"/>
                <a:cs typeface="Arial"/>
              </a:defRPr>
            </a:lvl8pPr>
            <a:lvl9pPr>
              <a:defRPr sz="2625" b="1">
                <a:solidFill>
                  <a:srgbClr val="152B3B"/>
                </a:solidFill>
                <a:latin typeface="Arial"/>
                <a:ea typeface="Arial"/>
                <a:cs typeface="Arial"/>
              </a:defRPr>
            </a:lvl9pPr>
          </a:lstStyle>
          <a:p xmlns:a="http://schemas.openxmlformats.org/drawingml/2006/main">
            <a:pPr>
              <a:defRPr sz="2625" b="1">
                <a:solidFill>
                  <a:srgbClr val="152B3B"/>
                </a:solidFill>
                <a:latin typeface="Arial"/>
                <a:ea typeface="Arial"/>
                <a:cs typeface="Arial"/>
              </a:defRPr>
            </a:pPr>
            <a:r>
              <a:rPr sz="2625" b="1">
                <a:solidFill>
                  <a:srgbClr val="152B3B"/>
                </a:solidFill>
                <a:latin typeface="Arial"/>
                <a:ea typeface="Arial"/>
                <a:cs typeface="Arial"/>
              </a:rPr>
              <a:t>Прочность на сжатие</a:t>
            </a:r>
          </a:p>
          <a:p xmlns:a="http://schemas.openxmlformats.org/drawingml/2006/main">
            <a:pPr>
              <a:defRPr sz="2625" b="1">
                <a:solidFill>
                  <a:srgbClr val="152B3B"/>
                </a:solidFill>
                <a:latin typeface="Arial"/>
                <a:ea typeface="Arial"/>
                <a:cs typeface="Arial"/>
              </a:defRPr>
            </a:pPr>
            <a:r>
              <a:rPr sz="2625" b="1">
                <a:solidFill>
                  <a:srgbClr val="152B3B"/>
                </a:solidFill>
                <a:latin typeface="Arial"/>
                <a:ea typeface="Arial"/>
                <a:cs typeface="Arial"/>
              </a:rPr>
              <a:t>в МПа</a:t>
            </a:r>
          </a:p>
        </p:txBody>
      </p:sp>
      <p:sp>
        <p:nvSpPr>
          <p:cNvPr id="8" name="">
            <a:extLst xmlns:a="http://schemas.openxmlformats.org/drawingml/2006/main">
              <a:ext uri="{FF2B5EF4-FFF2-40B4-BE49-F238E27FC236}">
                <a16:creationId xmlns:a16="http://schemas.microsoft.com/office/drawing/2014/main" id="{9F47133F-B410-48CD-B115-E98EEB337E4F}"/>
              </a:ext>
            </a:extLst>
          </p:cNvPr>
          <p:cNvSpPr>
            <a:spLocks xmlns:a="http://schemas.openxmlformats.org/drawingml/2006/main" noGrp="1"/>
          </p:cNvSpPr>
          <p:nvPr/>
        </p:nvSpPr>
        <p:spPr>
          <a:xfrm xmlns:a="http://schemas.openxmlformats.org/drawingml/2006/main">
            <a:off x="609600" y="49530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152B3B"/>
                </a:solidFill>
                <a:latin typeface="Arial"/>
                <a:ea typeface="Arial"/>
                <a:cs typeface="Arial"/>
              </a:defRPr>
            </a:defPPr>
            <a:lvl1pPr>
              <a:defRPr sz="2400" b="1">
                <a:solidFill>
                  <a:srgbClr val="152B3B"/>
                </a:solidFill>
                <a:latin typeface="Arial"/>
                <a:ea typeface="Arial"/>
                <a:cs typeface="Arial"/>
              </a:defRPr>
            </a:lvl1pPr>
            <a:lvl2pPr>
              <a:defRPr sz="2400" b="1">
                <a:solidFill>
                  <a:srgbClr val="152B3B"/>
                </a:solidFill>
                <a:latin typeface="Arial"/>
                <a:ea typeface="Arial"/>
                <a:cs typeface="Arial"/>
              </a:defRPr>
            </a:lvl2pPr>
            <a:lvl3pPr>
              <a:defRPr sz="2400" b="1">
                <a:solidFill>
                  <a:srgbClr val="152B3B"/>
                </a:solidFill>
                <a:latin typeface="Arial"/>
                <a:ea typeface="Arial"/>
                <a:cs typeface="Arial"/>
              </a:defRPr>
            </a:lvl3pPr>
            <a:lvl4pPr>
              <a:defRPr sz="2400" b="1">
                <a:solidFill>
                  <a:srgbClr val="152B3B"/>
                </a:solidFill>
                <a:latin typeface="Arial"/>
                <a:ea typeface="Arial"/>
                <a:cs typeface="Arial"/>
              </a:defRPr>
            </a:lvl4pPr>
            <a:lvl5pPr>
              <a:defRPr sz="2400" b="1">
                <a:solidFill>
                  <a:srgbClr val="152B3B"/>
                </a:solidFill>
                <a:latin typeface="Arial"/>
                <a:ea typeface="Arial"/>
                <a:cs typeface="Arial"/>
              </a:defRPr>
            </a:lvl5pPr>
            <a:lvl6pPr>
              <a:defRPr sz="2400" b="1">
                <a:solidFill>
                  <a:srgbClr val="152B3B"/>
                </a:solidFill>
                <a:latin typeface="Arial"/>
                <a:ea typeface="Arial"/>
                <a:cs typeface="Arial"/>
              </a:defRPr>
            </a:lvl6pPr>
            <a:lvl7pPr>
              <a:defRPr sz="2400" b="1">
                <a:solidFill>
                  <a:srgbClr val="152B3B"/>
                </a:solidFill>
                <a:latin typeface="Arial"/>
                <a:ea typeface="Arial"/>
                <a:cs typeface="Arial"/>
              </a:defRPr>
            </a:lvl7pPr>
            <a:lvl8pPr>
              <a:defRPr sz="2400" b="1">
                <a:solidFill>
                  <a:srgbClr val="152B3B"/>
                </a:solidFill>
                <a:latin typeface="Arial"/>
                <a:ea typeface="Arial"/>
                <a:cs typeface="Arial"/>
              </a:defRPr>
            </a:lvl8pPr>
            <a:lvl9pPr>
              <a:defRPr sz="2400" b="1">
                <a:solidFill>
                  <a:srgbClr val="152B3B"/>
                </a:solidFill>
                <a:latin typeface="Arial"/>
                <a:ea typeface="Arial"/>
                <a:cs typeface="Arial"/>
              </a:defRPr>
            </a:lvl9pPr>
          </a:lstStyle>
          <a:p xmlns:a="http://schemas.openxmlformats.org/drawingml/2006/main">
            <a:pPr>
              <a:defRPr sz="2400" b="1">
                <a:solidFill>
                  <a:srgbClr val="152B3B"/>
                </a:solidFill>
                <a:latin typeface="Arial"/>
                <a:ea typeface="Arial"/>
                <a:cs typeface="Arial"/>
              </a:defRPr>
            </a:pPr>
            <a:r>
              <a:rPr sz="2400" b="1">
                <a:solidFill>
                  <a:srgbClr val="152B3B"/>
                </a:solidFill>
                <a:latin typeface="Arial"/>
                <a:ea typeface="Arial"/>
                <a:cs typeface="Arial"/>
              </a:rPr>
              <a:t>Проверка: какая модель точнее на новых составах?</a:t>
            </a:r>
          </a:p>
        </p:txBody>
      </p:sp>
      <p:sp>
        <p:nvSpPr>
          <p:cNvPr id="9" name="">
            <a:extLst xmlns:a="http://schemas.openxmlformats.org/drawingml/2006/main">
              <a:ext uri="{FF2B5EF4-FFF2-40B4-BE49-F238E27FC236}">
                <a16:creationId xmlns:a16="http://schemas.microsoft.com/office/drawing/2014/main" id="{3FCE0F55-47E6-486C-A39F-DD441235213C}"/>
              </a:ext>
            </a:extLst>
          </p:cNvPr>
          <p:cNvSpPr>
            <a:spLocks xmlns:a="http://schemas.openxmlformats.org/drawingml/2006/main" noGrp="1"/>
          </p:cNvSpPr>
          <p:nvPr/>
        </p:nvSpPr>
        <p:spPr>
          <a:xfrm xmlns:a="http://schemas.openxmlformats.org/drawingml/2006/main">
            <a:off x="609600" y="601980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526776"/>
                </a:solidFill>
                <a:latin typeface="Arial"/>
                <a:ea typeface="Arial"/>
                <a:cs typeface="Arial"/>
              </a:defRPr>
            </a:defPPr>
            <a:lvl1pPr>
              <a:defRPr sz="1575" b="0">
                <a:solidFill>
                  <a:srgbClr val="526776"/>
                </a:solidFill>
                <a:latin typeface="Arial"/>
                <a:ea typeface="Arial"/>
                <a:cs typeface="Arial"/>
              </a:defRPr>
            </a:lvl1pPr>
            <a:lvl2pPr>
              <a:defRPr sz="1575" b="0">
                <a:solidFill>
                  <a:srgbClr val="526776"/>
                </a:solidFill>
                <a:latin typeface="Arial"/>
                <a:ea typeface="Arial"/>
                <a:cs typeface="Arial"/>
              </a:defRPr>
            </a:lvl2pPr>
            <a:lvl3pPr>
              <a:defRPr sz="1575" b="0">
                <a:solidFill>
                  <a:srgbClr val="526776"/>
                </a:solidFill>
                <a:latin typeface="Arial"/>
                <a:ea typeface="Arial"/>
                <a:cs typeface="Arial"/>
              </a:defRPr>
            </a:lvl3pPr>
            <a:lvl4pPr>
              <a:defRPr sz="1575" b="0">
                <a:solidFill>
                  <a:srgbClr val="526776"/>
                </a:solidFill>
                <a:latin typeface="Arial"/>
                <a:ea typeface="Arial"/>
                <a:cs typeface="Arial"/>
              </a:defRPr>
            </a:lvl4pPr>
            <a:lvl5pPr>
              <a:defRPr sz="1575" b="0">
                <a:solidFill>
                  <a:srgbClr val="526776"/>
                </a:solidFill>
                <a:latin typeface="Arial"/>
                <a:ea typeface="Arial"/>
                <a:cs typeface="Arial"/>
              </a:defRPr>
            </a:lvl5pPr>
            <a:lvl6pPr>
              <a:defRPr sz="1575" b="0">
                <a:solidFill>
                  <a:srgbClr val="526776"/>
                </a:solidFill>
                <a:latin typeface="Arial"/>
                <a:ea typeface="Arial"/>
                <a:cs typeface="Arial"/>
              </a:defRPr>
            </a:lvl6pPr>
            <a:lvl7pPr>
              <a:defRPr sz="1575" b="0">
                <a:solidFill>
                  <a:srgbClr val="526776"/>
                </a:solidFill>
                <a:latin typeface="Arial"/>
                <a:ea typeface="Arial"/>
                <a:cs typeface="Arial"/>
              </a:defRPr>
            </a:lvl7pPr>
            <a:lvl8pPr>
              <a:defRPr sz="1575" b="0">
                <a:solidFill>
                  <a:srgbClr val="526776"/>
                </a:solidFill>
                <a:latin typeface="Arial"/>
                <a:ea typeface="Arial"/>
                <a:cs typeface="Arial"/>
              </a:defRPr>
            </a:lvl8pPr>
            <a:lvl9pPr>
              <a:defRPr sz="1575" b="0">
                <a:solidFill>
                  <a:srgbClr val="526776"/>
                </a:solidFill>
                <a:latin typeface="Arial"/>
                <a:ea typeface="Arial"/>
                <a:cs typeface="Arial"/>
              </a:defRPr>
            </a:lvl9pPr>
          </a:lstStyle>
          <a:p xmlns:a="http://schemas.openxmlformats.org/drawingml/2006/main">
            <a:pPr>
              <a:defRPr sz="1575" b="0">
                <a:solidFill>
                  <a:srgbClr val="526776"/>
                </a:solidFill>
                <a:latin typeface="Arial"/>
                <a:ea typeface="Arial"/>
                <a:cs typeface="Arial"/>
              </a:defRPr>
            </a:pPr>
            <a:r>
              <a:rPr sz="1575" b="0">
                <a:solidFill>
                  <a:srgbClr val="526776"/>
                </a:solidFill>
                <a:latin typeface="Arial"/>
                <a:ea typeface="Arial"/>
                <a:cs typeface="Arial"/>
              </a:rPr>
              <a:t>Дозировки компонентов: кг/м³. Возраст образца: сутки.</a:t>
            </a:r>
          </a:p>
        </p:txBody>
      </p:sp>
    </p:spTree>
    <p:extLst>
      <p:ext uri="{BB962C8B-B14F-4D97-AF65-F5344CB8AC3E}">
        <p14:creationId xmlns:p14="http://schemas.microsoft.com/office/powerpoint/2010/main" val="93019899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16C3D25C-C1F6-4E8D-932A-55FEC70A4059}"/>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152B3B"/>
                </a:solidFill>
                <a:latin typeface="Arial"/>
                <a:ea typeface="Arial"/>
                <a:cs typeface="Arial"/>
              </a:defRPr>
            </a:defPPr>
            <a:lvl1pPr>
              <a:defRPr sz="2850" b="1">
                <a:solidFill>
                  <a:srgbClr val="152B3B"/>
                </a:solidFill>
                <a:latin typeface="Arial"/>
                <a:ea typeface="Arial"/>
                <a:cs typeface="Arial"/>
              </a:defRPr>
            </a:lvl1pPr>
            <a:lvl2pPr>
              <a:defRPr sz="2850" b="1">
                <a:solidFill>
                  <a:srgbClr val="152B3B"/>
                </a:solidFill>
                <a:latin typeface="Arial"/>
                <a:ea typeface="Arial"/>
                <a:cs typeface="Arial"/>
              </a:defRPr>
            </a:lvl2pPr>
            <a:lvl3pPr>
              <a:defRPr sz="2850" b="1">
                <a:solidFill>
                  <a:srgbClr val="152B3B"/>
                </a:solidFill>
                <a:latin typeface="Arial"/>
                <a:ea typeface="Arial"/>
                <a:cs typeface="Arial"/>
              </a:defRPr>
            </a:lvl3pPr>
            <a:lvl4pPr>
              <a:defRPr sz="2850" b="1">
                <a:solidFill>
                  <a:srgbClr val="152B3B"/>
                </a:solidFill>
                <a:latin typeface="Arial"/>
                <a:ea typeface="Arial"/>
                <a:cs typeface="Arial"/>
              </a:defRPr>
            </a:lvl4pPr>
            <a:lvl5pPr>
              <a:defRPr sz="2850" b="1">
                <a:solidFill>
                  <a:srgbClr val="152B3B"/>
                </a:solidFill>
                <a:latin typeface="Arial"/>
                <a:ea typeface="Arial"/>
                <a:cs typeface="Arial"/>
              </a:defRPr>
            </a:lvl5pPr>
            <a:lvl6pPr>
              <a:defRPr sz="2850" b="1">
                <a:solidFill>
                  <a:srgbClr val="152B3B"/>
                </a:solidFill>
                <a:latin typeface="Arial"/>
                <a:ea typeface="Arial"/>
                <a:cs typeface="Arial"/>
              </a:defRPr>
            </a:lvl6pPr>
            <a:lvl7pPr>
              <a:defRPr sz="2850" b="1">
                <a:solidFill>
                  <a:srgbClr val="152B3B"/>
                </a:solidFill>
                <a:latin typeface="Arial"/>
                <a:ea typeface="Arial"/>
                <a:cs typeface="Arial"/>
              </a:defRPr>
            </a:lvl7pPr>
            <a:lvl8pPr>
              <a:defRPr sz="2850" b="1">
                <a:solidFill>
                  <a:srgbClr val="152B3B"/>
                </a:solidFill>
                <a:latin typeface="Arial"/>
                <a:ea typeface="Arial"/>
                <a:cs typeface="Arial"/>
              </a:defRPr>
            </a:lvl8pPr>
            <a:lvl9pPr>
              <a:defRPr sz="2850" b="1">
                <a:solidFill>
                  <a:srgbClr val="152B3B"/>
                </a:solidFill>
                <a:latin typeface="Arial"/>
                <a:ea typeface="Arial"/>
                <a:cs typeface="Arial"/>
              </a:defRPr>
            </a:lvl9pPr>
          </a:lstStyle>
          <a:p xmlns:a="http://schemas.openxmlformats.org/drawingml/2006/main">
            <a:pPr>
              <a:defRPr sz="2850" b="1">
                <a:solidFill>
                  <a:srgbClr val="152B3B"/>
                </a:solidFill>
                <a:latin typeface="Arial"/>
                <a:ea typeface="Arial"/>
                <a:cs typeface="Arial"/>
              </a:defRPr>
            </a:pPr>
            <a:r>
              <a:rPr sz="2850" b="1">
                <a:solidFill>
                  <a:srgbClr val="152B3B"/>
                </a:solidFill>
                <a:latin typeface="Arial"/>
                <a:ea typeface="Arial"/>
                <a:cs typeface="Arial"/>
              </a:rPr>
              <a:t>В данных 1 030 измерений и 8 признаков</a:t>
            </a:r>
          </a:p>
        </p:txBody>
      </p:sp>
      <p:sp>
        <p:nvSpPr>
          <p:cNvPr id="3" name="folio">
            <a:extLst xmlns:a="http://schemas.openxmlformats.org/drawingml/2006/main">
              <a:ext uri="{FF2B5EF4-FFF2-40B4-BE49-F238E27FC236}">
                <a16:creationId xmlns:a16="http://schemas.microsoft.com/office/drawing/2014/main" id="{8C1F021E-7BCA-40D2-A500-BF2B26457A01}"/>
              </a:ext>
            </a:extLst>
          </p:cNvPr>
          <p:cNvSpPr>
            <a:spLocks xmlns:a="http://schemas.openxmlformats.org/drawingml/2006/main" noGrp="1"/>
          </p:cNvSpPr>
          <p:nvPr/>
        </p:nvSpPr>
        <p:spPr>
          <a:xfrm xmlns:a="http://schemas.openxmlformats.org/drawingml/2006/main">
            <a:off x="11353800" y="64389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6776"/>
                </a:solidFill>
                <a:latin typeface="Arial"/>
                <a:ea typeface="Arial"/>
                <a:cs typeface="Arial"/>
              </a:defRPr>
            </a:defPPr>
            <a:lvl1pPr>
              <a:defRPr sz="1200" b="0">
                <a:solidFill>
                  <a:srgbClr val="526776"/>
                </a:solidFill>
                <a:latin typeface="Arial"/>
                <a:ea typeface="Arial"/>
                <a:cs typeface="Arial"/>
              </a:defRPr>
            </a:lvl1pPr>
            <a:lvl2pPr>
              <a:defRPr sz="1200" b="0">
                <a:solidFill>
                  <a:srgbClr val="526776"/>
                </a:solidFill>
                <a:latin typeface="Arial"/>
                <a:ea typeface="Arial"/>
                <a:cs typeface="Arial"/>
              </a:defRPr>
            </a:lvl2pPr>
            <a:lvl3pPr>
              <a:defRPr sz="1200" b="0">
                <a:solidFill>
                  <a:srgbClr val="526776"/>
                </a:solidFill>
                <a:latin typeface="Arial"/>
                <a:ea typeface="Arial"/>
                <a:cs typeface="Arial"/>
              </a:defRPr>
            </a:lvl3pPr>
            <a:lvl4pPr>
              <a:defRPr sz="1200" b="0">
                <a:solidFill>
                  <a:srgbClr val="526776"/>
                </a:solidFill>
                <a:latin typeface="Arial"/>
                <a:ea typeface="Arial"/>
                <a:cs typeface="Arial"/>
              </a:defRPr>
            </a:lvl4pPr>
            <a:lvl5pPr>
              <a:defRPr sz="1200" b="0">
                <a:solidFill>
                  <a:srgbClr val="526776"/>
                </a:solidFill>
                <a:latin typeface="Arial"/>
                <a:ea typeface="Arial"/>
                <a:cs typeface="Arial"/>
              </a:defRPr>
            </a:lvl5pPr>
            <a:lvl6pPr>
              <a:defRPr sz="1200" b="0">
                <a:solidFill>
                  <a:srgbClr val="526776"/>
                </a:solidFill>
                <a:latin typeface="Arial"/>
                <a:ea typeface="Arial"/>
                <a:cs typeface="Arial"/>
              </a:defRPr>
            </a:lvl6pPr>
            <a:lvl7pPr>
              <a:defRPr sz="1200" b="0">
                <a:solidFill>
                  <a:srgbClr val="526776"/>
                </a:solidFill>
                <a:latin typeface="Arial"/>
                <a:ea typeface="Arial"/>
                <a:cs typeface="Arial"/>
              </a:defRPr>
            </a:lvl7pPr>
            <a:lvl8pPr>
              <a:defRPr sz="1200" b="0">
                <a:solidFill>
                  <a:srgbClr val="526776"/>
                </a:solidFill>
                <a:latin typeface="Arial"/>
                <a:ea typeface="Arial"/>
                <a:cs typeface="Arial"/>
              </a:defRPr>
            </a:lvl8pPr>
            <a:lvl9pPr>
              <a:defRPr sz="1200" b="0">
                <a:solidFill>
                  <a:srgbClr val="526776"/>
                </a:solidFill>
                <a:latin typeface="Arial"/>
                <a:ea typeface="Arial"/>
                <a:cs typeface="Arial"/>
              </a:defRPr>
            </a:lvl9pPr>
          </a:lstStyle>
          <a:p xmlns:a="http://schemas.openxmlformats.org/drawingml/2006/main">
            <a:pPr>
              <a:defRPr sz="1200" b="0">
                <a:solidFill>
                  <a:srgbClr val="526776"/>
                </a:solidFill>
                <a:latin typeface="Arial"/>
                <a:ea typeface="Arial"/>
                <a:cs typeface="Arial"/>
              </a:defRPr>
            </a:pPr>
            <a:r>
              <a:rPr sz="1200" b="0">
                <a:solidFill>
                  <a:srgbClr val="526776"/>
                </a:solidFill>
                <a:latin typeface="Arial"/>
                <a:ea typeface="Arial"/>
                <a:cs typeface="Arial"/>
              </a:rPr>
              <a:t>3</a:t>
            </a:r>
          </a:p>
        </p:txBody>
      </p:sp>
      <p:graphicFrame>
        <p:nvGraphicFramePr>
          <p:cNvPr id="4" name="">
            <a:extLst xmlns:a="http://schemas.openxmlformats.org/drawingml/2006/main">
              <a:ext uri="{FF2B5EF4-FFF2-40B4-BE49-F238E27FC236}">
                <a16:creationId xmlns:a16="http://schemas.microsoft.com/office/drawing/2014/main" id="{CA287203-DFEC-4B26-BB58-B4C9BB9D32D1}"/>
              </a:ext>
            </a:extLst>
          </p:cNvPr>
          <p:cNvGraphicFramePr/>
          <p:nvPr/>
        </p:nvGraphicFramePr>
        <p:xfrm>
          <a:off xmlns:a="http://schemas.openxmlformats.org/drawingml/2006/main" x="609600" y="1619250"/>
          <a:ext xmlns:a="http://schemas.openxmlformats.org/drawingml/2006/main" cx="10972800" cy="2495550"/>
        </p:xfrm>
        <a:graphic xmlns:a="http://schemas.openxmlformats.org/drawingml/2006/main">
          <a:graphicData uri="http://schemas.openxmlformats.org/drawingml/2006/table">
            <a:tbl>
              <a:tblPr/>
              <a:tblGrid>
                <a:gridCol w="2857500"/>
                <a:gridCol w="5429250"/>
                <a:gridCol w="2686050"/>
              </a:tblGrid>
              <a:tr h="623888">
                <a:tc>
                  <a:txBody>
                    <a:bodyPr lIns="114300" tIns="114300" rIns="114300" bIns="114300"/>
                    <a:lstStyle/>
                    <a:p>
                      <a:r>
                        <a:rPr sz="1875" b="1">
                          <a:solidFill>
                            <a:srgbClr val="FFFFFF"/>
                          </a:solidFill>
                          <a:latin typeface="Arial"/>
                          <a:ea typeface="Arial"/>
                          <a:cs typeface="Arial"/>
                        </a:rPr>
                        <a:t>Что измеряем</a:t>
                      </a:r>
                    </a:p>
                  </a:txBody>
                  <a:tcPr marL="91440" marR="91440" marT="45720" marB="45720" anchor="ctr">
                    <a:lnL w="6668">
                      <a:solidFill>
                        <a:srgbClr val="DCE5E9"/>
                      </a:solidFill>
                      <a:prstDash val="solid"/>
                    </a:lnL>
                    <a:lnR w="6668">
                      <a:solidFill>
                        <a:srgbClr val="DCE5E9"/>
                      </a:solidFill>
                      <a:prstDash val="solid"/>
                    </a:lnR>
                    <a:lnT w="6668">
                      <a:solidFill>
                        <a:srgbClr val="DCE5E9"/>
                      </a:solidFill>
                      <a:prstDash val="solid"/>
                    </a:lnT>
                    <a:lnB w="6668">
                      <a:solidFill>
                        <a:srgbClr val="DCE5E9"/>
                      </a:solidFill>
                      <a:prstDash val="solid"/>
                    </a:lnB>
                    <a:solidFill>
                      <a:srgbClr val="152B3B"/>
                    </a:solidFill>
                  </a:tcPr>
                </a:tc>
                <a:tc>
                  <a:txBody>
                    <a:bodyPr lIns="114300" tIns="114300" rIns="114300" bIns="114300"/>
                    <a:lstStyle/>
                    <a:p>
                      <a:r>
                        <a:rPr sz="1875" b="1">
                          <a:solidFill>
                            <a:srgbClr val="FFFFFF"/>
                          </a:solidFill>
                          <a:latin typeface="Arial"/>
                          <a:ea typeface="Arial"/>
                          <a:cs typeface="Arial"/>
                        </a:rPr>
                        <a:t>Состав признаков</a:t>
                      </a:r>
                    </a:p>
                  </a:txBody>
                  <a:tcPr marL="91440" marR="91440" marT="45720" marB="45720" anchor="ctr">
                    <a:lnR w="6668">
                      <a:solidFill>
                        <a:srgbClr val="DCE5E9"/>
                      </a:solidFill>
                      <a:prstDash val="solid"/>
                    </a:lnR>
                    <a:lnT w="6668">
                      <a:solidFill>
                        <a:srgbClr val="DCE5E9"/>
                      </a:solidFill>
                      <a:prstDash val="solid"/>
                    </a:lnT>
                    <a:lnB w="6668">
                      <a:solidFill>
                        <a:srgbClr val="DCE5E9"/>
                      </a:solidFill>
                      <a:prstDash val="solid"/>
                    </a:lnB>
                    <a:solidFill>
                      <a:srgbClr val="152B3B"/>
                    </a:solidFill>
                  </a:tcPr>
                </a:tc>
                <a:tc>
                  <a:txBody>
                    <a:bodyPr lIns="114300" tIns="114300" rIns="114300" bIns="114300"/>
                    <a:lstStyle/>
                    <a:p>
                      <a:r>
                        <a:rPr sz="1875" b="1">
                          <a:solidFill>
                            <a:srgbClr val="FFFFFF"/>
                          </a:solidFill>
                          <a:latin typeface="Arial"/>
                          <a:ea typeface="Arial"/>
                          <a:cs typeface="Arial"/>
                        </a:rPr>
                        <a:t>Единицы</a:t>
                      </a:r>
                    </a:p>
                  </a:txBody>
                  <a:tcPr marL="91440" marR="91440" marT="45720" marB="45720" anchor="ctr">
                    <a:lnR w="6668">
                      <a:solidFill>
                        <a:srgbClr val="DCE5E9"/>
                      </a:solidFill>
                      <a:prstDash val="solid"/>
                    </a:lnR>
                    <a:lnT w="6668">
                      <a:solidFill>
                        <a:srgbClr val="DCE5E9"/>
                      </a:solidFill>
                      <a:prstDash val="solid"/>
                    </a:lnT>
                    <a:lnB w="6668">
                      <a:solidFill>
                        <a:srgbClr val="DCE5E9"/>
                      </a:solidFill>
                      <a:prstDash val="solid"/>
                    </a:lnB>
                    <a:solidFill>
                      <a:srgbClr val="152B3B"/>
                    </a:solidFill>
                  </a:tcPr>
                </a:tc>
              </a:tr>
              <a:tr h="623888">
                <a:tc>
                  <a:txBody>
                    <a:bodyPr lIns="114300" tIns="114300" rIns="114300" bIns="114300"/>
                    <a:lstStyle/>
                    <a:p>
                      <a:r>
                        <a:rPr sz="1875" b="0">
                          <a:solidFill>
                            <a:srgbClr val="152B3B"/>
                          </a:solidFill>
                          <a:latin typeface="Arial"/>
                          <a:ea typeface="Arial"/>
                          <a:cs typeface="Arial"/>
                        </a:rPr>
                        <a:t>Компоненты смеси</a:t>
                      </a:r>
                    </a:p>
                  </a:txBody>
                  <a:tcPr marL="91440" marR="91440" marT="45720" marB="45720" anchor="ctr">
                    <a:lnL w="6668">
                      <a:solidFill>
                        <a:srgbClr val="DCE5E9"/>
                      </a:solidFill>
                      <a:prstDash val="solid"/>
                    </a:lnL>
                    <a:lnR w="6668">
                      <a:solidFill>
                        <a:srgbClr val="DCE5E9"/>
                      </a:solidFill>
                      <a:prstDash val="solid"/>
                    </a:lnR>
                    <a:lnB w="6668">
                      <a:solidFill>
                        <a:srgbClr val="DCE5E9"/>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7 количественных признаков</a:t>
                      </a:r>
                    </a:p>
                  </a:txBody>
                  <a:tcPr marL="91440" marR="91440" marT="45720" marB="45720" anchor="ctr">
                    <a:lnR w="6668">
                      <a:solidFill>
                        <a:srgbClr val="DCE5E9"/>
                      </a:solidFill>
                      <a:prstDash val="solid"/>
                    </a:lnR>
                    <a:lnB w="6668">
                      <a:solidFill>
                        <a:srgbClr val="DCE5E9"/>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кг/м³</a:t>
                      </a:r>
                    </a:p>
                  </a:txBody>
                  <a:tcPr marL="91440" marR="91440" marT="45720" marB="45720" anchor="ctr">
                    <a:lnR w="6668">
                      <a:solidFill>
                        <a:srgbClr val="DCE5E9"/>
                      </a:solidFill>
                      <a:prstDash val="solid"/>
                    </a:lnR>
                    <a:lnB w="6668">
                      <a:solidFill>
                        <a:srgbClr val="DCE5E9"/>
                      </a:solidFill>
                      <a:prstDash val="solid"/>
                    </a:lnB>
                    <a:solidFill>
                      <a:srgbClr val="FFFFFF"/>
                    </a:solidFill>
                  </a:tcPr>
                </a:tc>
              </a:tr>
              <a:tr h="623888">
                <a:tc>
                  <a:txBody>
                    <a:bodyPr lIns="114300" tIns="114300" rIns="114300" bIns="114300"/>
                    <a:lstStyle/>
                    <a:p>
                      <a:r>
                        <a:rPr sz="1875" b="0">
                          <a:solidFill>
                            <a:srgbClr val="152B3B"/>
                          </a:solidFill>
                          <a:latin typeface="Arial"/>
                          <a:ea typeface="Arial"/>
                          <a:cs typeface="Arial"/>
                        </a:rPr>
                        <a:t>Возраст образца</a:t>
                      </a:r>
                    </a:p>
                  </a:txBody>
                  <a:tcPr marL="91440" marR="91440" marT="45720" marB="45720" anchor="ctr">
                    <a:lnL w="6668">
                      <a:solidFill>
                        <a:srgbClr val="DCE5E9"/>
                      </a:solidFill>
                      <a:prstDash val="solid"/>
                    </a:lnL>
                    <a:lnR w="6668">
                      <a:solidFill>
                        <a:srgbClr val="DCE5E9"/>
                      </a:solidFill>
                      <a:prstDash val="solid"/>
                    </a:lnR>
                    <a:lnB w="6668">
                      <a:solidFill>
                        <a:srgbClr val="DCE5E9"/>
                      </a:solidFill>
                      <a:prstDash val="solid"/>
                    </a:lnB>
                    <a:solidFill>
                      <a:srgbClr val="F3F7F8"/>
                    </a:solidFill>
                  </a:tcPr>
                </a:tc>
                <a:tc>
                  <a:txBody>
                    <a:bodyPr lIns="114300" tIns="114300" rIns="114300" bIns="114300"/>
                    <a:lstStyle/>
                    <a:p>
                      <a:r>
                        <a:rPr sz="1875" b="0">
                          <a:solidFill>
                            <a:srgbClr val="152B3B"/>
                          </a:solidFill>
                          <a:latin typeface="Arial"/>
                          <a:ea typeface="Arial"/>
                          <a:cs typeface="Arial"/>
                        </a:rPr>
                        <a:t>1–365</a:t>
                      </a:r>
                    </a:p>
                  </a:txBody>
                  <a:tcPr marL="91440" marR="91440" marT="45720" marB="45720" anchor="ctr">
                    <a:lnR w="6668">
                      <a:solidFill>
                        <a:srgbClr val="DCE5E9"/>
                      </a:solidFill>
                      <a:prstDash val="solid"/>
                    </a:lnR>
                    <a:lnB w="6668">
                      <a:solidFill>
                        <a:srgbClr val="DCE5E9"/>
                      </a:solidFill>
                      <a:prstDash val="solid"/>
                    </a:lnB>
                    <a:solidFill>
                      <a:srgbClr val="F3F7F8"/>
                    </a:solidFill>
                  </a:tcPr>
                </a:tc>
                <a:tc>
                  <a:txBody>
                    <a:bodyPr lIns="114300" tIns="114300" rIns="114300" bIns="114300"/>
                    <a:lstStyle/>
                    <a:p>
                      <a:r>
                        <a:rPr sz="1875" b="0">
                          <a:solidFill>
                            <a:srgbClr val="152B3B"/>
                          </a:solidFill>
                          <a:latin typeface="Arial"/>
                          <a:ea typeface="Arial"/>
                          <a:cs typeface="Arial"/>
                        </a:rPr>
                        <a:t>сутки</a:t>
                      </a:r>
                    </a:p>
                  </a:txBody>
                  <a:tcPr marL="91440" marR="91440" marT="45720" marB="45720" anchor="ctr">
                    <a:lnR w="6668">
                      <a:solidFill>
                        <a:srgbClr val="DCE5E9"/>
                      </a:solidFill>
                      <a:prstDash val="solid"/>
                    </a:lnR>
                    <a:lnB w="6668">
                      <a:solidFill>
                        <a:srgbClr val="DCE5E9"/>
                      </a:solidFill>
                      <a:prstDash val="solid"/>
                    </a:lnB>
                    <a:solidFill>
                      <a:srgbClr val="F3F7F8"/>
                    </a:solidFill>
                  </a:tcPr>
                </a:tc>
              </a:tr>
              <a:tr h="623888">
                <a:tc>
                  <a:txBody>
                    <a:bodyPr lIns="114300" tIns="114300" rIns="114300" bIns="114300"/>
                    <a:lstStyle/>
                    <a:p>
                      <a:r>
                        <a:rPr sz="1875" b="0">
                          <a:solidFill>
                            <a:srgbClr val="152B3B"/>
                          </a:solidFill>
                          <a:latin typeface="Arial"/>
                          <a:ea typeface="Arial"/>
                          <a:cs typeface="Arial"/>
                        </a:rPr>
                        <a:t>Прочность на сжатие</a:t>
                      </a:r>
                    </a:p>
                  </a:txBody>
                  <a:tcPr marL="91440" marR="91440" marT="45720" marB="45720" anchor="ctr">
                    <a:lnL w="6668">
                      <a:solidFill>
                        <a:srgbClr val="DCE5E9"/>
                      </a:solidFill>
                      <a:prstDash val="solid"/>
                    </a:lnL>
                    <a:lnR w="6668">
                      <a:solidFill>
                        <a:srgbClr val="DCE5E9"/>
                      </a:solidFill>
                      <a:prstDash val="solid"/>
                    </a:lnR>
                    <a:lnB w="6668">
                      <a:solidFill>
                        <a:srgbClr val="DCE5E9"/>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2,33–82,60</a:t>
                      </a:r>
                    </a:p>
                  </a:txBody>
                  <a:tcPr marL="91440" marR="91440" marT="45720" marB="45720" anchor="ctr">
                    <a:lnR w="6668">
                      <a:solidFill>
                        <a:srgbClr val="DCE5E9"/>
                      </a:solidFill>
                      <a:prstDash val="solid"/>
                    </a:lnR>
                    <a:lnB w="6668">
                      <a:solidFill>
                        <a:srgbClr val="DCE5E9"/>
                      </a:solidFill>
                      <a:prstDash val="solid"/>
                    </a:lnB>
                    <a:solidFill>
                      <a:srgbClr val="FFFFFF"/>
                    </a:solidFill>
                  </a:tcPr>
                </a:tc>
                <a:tc>
                  <a:txBody>
                    <a:bodyPr lIns="114300" tIns="114300" rIns="114300" bIns="114300"/>
                    <a:lstStyle/>
                    <a:p>
                      <a:r>
                        <a:rPr sz="1875" b="0">
                          <a:solidFill>
                            <a:srgbClr val="152B3B"/>
                          </a:solidFill>
                          <a:latin typeface="Arial"/>
                          <a:ea typeface="Arial"/>
                          <a:cs typeface="Arial"/>
                        </a:rPr>
                        <a:t>МПа</a:t>
                      </a:r>
                    </a:p>
                  </a:txBody>
                  <a:tcPr marL="91440" marR="91440" marT="45720" marB="45720" anchor="ctr">
                    <a:lnR w="6668">
                      <a:solidFill>
                        <a:srgbClr val="DCE5E9"/>
                      </a:solidFill>
                      <a:prstDash val="solid"/>
                    </a:lnR>
                    <a:lnB w="6668">
                      <a:solidFill>
                        <a:srgbClr val="DCE5E9"/>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115760BA-72BE-42EF-974B-7C3BFB7DC56C}"/>
              </a:ext>
            </a:extLst>
          </p:cNvPr>
          <p:cNvSpPr>
            <a:spLocks xmlns:a="http://schemas.openxmlformats.org/drawingml/2006/main" noGrp="1"/>
          </p:cNvSpPr>
          <p:nvPr/>
        </p:nvSpPr>
        <p:spPr>
          <a:xfrm xmlns:a="http://schemas.openxmlformats.org/drawingml/2006/main">
            <a:off x="609600" y="45529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167D8D"/>
                </a:solidFill>
                <a:latin typeface="Arial"/>
                <a:ea typeface="Arial"/>
                <a:cs typeface="Arial"/>
              </a:defRPr>
            </a:defPPr>
            <a:lvl1pPr>
              <a:defRPr sz="2475" b="1">
                <a:solidFill>
                  <a:srgbClr val="167D8D"/>
                </a:solidFill>
                <a:latin typeface="Arial"/>
                <a:ea typeface="Arial"/>
                <a:cs typeface="Arial"/>
              </a:defRPr>
            </a:lvl1pPr>
            <a:lvl2pPr>
              <a:defRPr sz="2475" b="1">
                <a:solidFill>
                  <a:srgbClr val="167D8D"/>
                </a:solidFill>
                <a:latin typeface="Arial"/>
                <a:ea typeface="Arial"/>
                <a:cs typeface="Arial"/>
              </a:defRPr>
            </a:lvl2pPr>
            <a:lvl3pPr>
              <a:defRPr sz="2475" b="1">
                <a:solidFill>
                  <a:srgbClr val="167D8D"/>
                </a:solidFill>
                <a:latin typeface="Arial"/>
                <a:ea typeface="Arial"/>
                <a:cs typeface="Arial"/>
              </a:defRPr>
            </a:lvl3pPr>
            <a:lvl4pPr>
              <a:defRPr sz="2475" b="1">
                <a:solidFill>
                  <a:srgbClr val="167D8D"/>
                </a:solidFill>
                <a:latin typeface="Arial"/>
                <a:ea typeface="Arial"/>
                <a:cs typeface="Arial"/>
              </a:defRPr>
            </a:lvl4pPr>
            <a:lvl5pPr>
              <a:defRPr sz="2475" b="1">
                <a:solidFill>
                  <a:srgbClr val="167D8D"/>
                </a:solidFill>
                <a:latin typeface="Arial"/>
                <a:ea typeface="Arial"/>
                <a:cs typeface="Arial"/>
              </a:defRPr>
            </a:lvl5pPr>
            <a:lvl6pPr>
              <a:defRPr sz="2475" b="1">
                <a:solidFill>
                  <a:srgbClr val="167D8D"/>
                </a:solidFill>
                <a:latin typeface="Arial"/>
                <a:ea typeface="Arial"/>
                <a:cs typeface="Arial"/>
              </a:defRPr>
            </a:lvl6pPr>
            <a:lvl7pPr>
              <a:defRPr sz="2475" b="1">
                <a:solidFill>
                  <a:srgbClr val="167D8D"/>
                </a:solidFill>
                <a:latin typeface="Arial"/>
                <a:ea typeface="Arial"/>
                <a:cs typeface="Arial"/>
              </a:defRPr>
            </a:lvl7pPr>
            <a:lvl8pPr>
              <a:defRPr sz="2475" b="1">
                <a:solidFill>
                  <a:srgbClr val="167D8D"/>
                </a:solidFill>
                <a:latin typeface="Arial"/>
                <a:ea typeface="Arial"/>
                <a:cs typeface="Arial"/>
              </a:defRPr>
            </a:lvl8pPr>
            <a:lvl9pPr>
              <a:defRPr sz="2475" b="1">
                <a:solidFill>
                  <a:srgbClr val="167D8D"/>
                </a:solidFill>
                <a:latin typeface="Arial"/>
                <a:ea typeface="Arial"/>
                <a:cs typeface="Arial"/>
              </a:defRPr>
            </a:lvl9pPr>
          </a:lstStyle>
          <a:p xmlns:a="http://schemas.openxmlformats.org/drawingml/2006/main">
            <a:pPr>
              <a:defRPr sz="2475" b="1">
                <a:solidFill>
                  <a:srgbClr val="167D8D"/>
                </a:solidFill>
                <a:latin typeface="Arial"/>
                <a:ea typeface="Arial"/>
                <a:cs typeface="Arial"/>
              </a:defRPr>
            </a:pPr>
            <a:r>
              <a:rPr sz="2475" b="1">
                <a:solidFill>
                  <a:srgbClr val="167D8D"/>
                </a:solidFill>
                <a:latin typeface="Arial"/>
                <a:ea typeface="Arial"/>
                <a:cs typeface="Arial"/>
              </a:rPr>
              <a:t>25 полных повторов удалены</a:t>
            </a:r>
          </a:p>
        </p:txBody>
      </p:sp>
      <p:sp>
        <p:nvSpPr>
          <p:cNvPr id="6" name="">
            <a:extLst xmlns:a="http://schemas.openxmlformats.org/drawingml/2006/main">
              <a:ext uri="{FF2B5EF4-FFF2-40B4-BE49-F238E27FC236}">
                <a16:creationId xmlns:a16="http://schemas.microsoft.com/office/drawing/2014/main" id="{23B29A20-C20E-413E-B3A9-E7E59ED7F379}"/>
              </a:ext>
            </a:extLst>
          </p:cNvPr>
          <p:cNvSpPr>
            <a:spLocks xmlns:a="http://schemas.openxmlformats.org/drawingml/2006/main" noGrp="1"/>
          </p:cNvSpPr>
          <p:nvPr/>
        </p:nvSpPr>
        <p:spPr>
          <a:xfrm xmlns:a="http://schemas.openxmlformats.org/drawingml/2006/main">
            <a:off x="609600" y="5172075"/>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52B3B"/>
                </a:solidFill>
                <a:latin typeface="Arial"/>
                <a:ea typeface="Arial"/>
                <a:cs typeface="Arial"/>
              </a:defRPr>
            </a:defPPr>
            <a:lvl1pPr>
              <a:defRPr sz="2175" b="0">
                <a:solidFill>
                  <a:srgbClr val="152B3B"/>
                </a:solidFill>
                <a:latin typeface="Arial"/>
                <a:ea typeface="Arial"/>
                <a:cs typeface="Arial"/>
              </a:defRPr>
            </a:lvl1pPr>
            <a:lvl2pPr>
              <a:defRPr sz="2175" b="0">
                <a:solidFill>
                  <a:srgbClr val="152B3B"/>
                </a:solidFill>
                <a:latin typeface="Arial"/>
                <a:ea typeface="Arial"/>
                <a:cs typeface="Arial"/>
              </a:defRPr>
            </a:lvl2pPr>
            <a:lvl3pPr>
              <a:defRPr sz="2175" b="0">
                <a:solidFill>
                  <a:srgbClr val="152B3B"/>
                </a:solidFill>
                <a:latin typeface="Arial"/>
                <a:ea typeface="Arial"/>
                <a:cs typeface="Arial"/>
              </a:defRPr>
            </a:lvl3pPr>
            <a:lvl4pPr>
              <a:defRPr sz="2175" b="0">
                <a:solidFill>
                  <a:srgbClr val="152B3B"/>
                </a:solidFill>
                <a:latin typeface="Arial"/>
                <a:ea typeface="Arial"/>
                <a:cs typeface="Arial"/>
              </a:defRPr>
            </a:lvl4pPr>
            <a:lvl5pPr>
              <a:defRPr sz="2175" b="0">
                <a:solidFill>
                  <a:srgbClr val="152B3B"/>
                </a:solidFill>
                <a:latin typeface="Arial"/>
                <a:ea typeface="Arial"/>
                <a:cs typeface="Arial"/>
              </a:defRPr>
            </a:lvl5pPr>
            <a:lvl6pPr>
              <a:defRPr sz="2175" b="0">
                <a:solidFill>
                  <a:srgbClr val="152B3B"/>
                </a:solidFill>
                <a:latin typeface="Arial"/>
                <a:ea typeface="Arial"/>
                <a:cs typeface="Arial"/>
              </a:defRPr>
            </a:lvl6pPr>
            <a:lvl7pPr>
              <a:defRPr sz="2175" b="0">
                <a:solidFill>
                  <a:srgbClr val="152B3B"/>
                </a:solidFill>
                <a:latin typeface="Arial"/>
                <a:ea typeface="Arial"/>
                <a:cs typeface="Arial"/>
              </a:defRPr>
            </a:lvl7pPr>
            <a:lvl8pPr>
              <a:defRPr sz="2175" b="0">
                <a:solidFill>
                  <a:srgbClr val="152B3B"/>
                </a:solidFill>
                <a:latin typeface="Arial"/>
                <a:ea typeface="Arial"/>
                <a:cs typeface="Arial"/>
              </a:defRPr>
            </a:lvl8pPr>
            <a:lvl9pPr>
              <a:defRPr sz="2175" b="0">
                <a:solidFill>
                  <a:srgbClr val="152B3B"/>
                </a:solidFill>
                <a:latin typeface="Arial"/>
                <a:ea typeface="Arial"/>
                <a:cs typeface="Arial"/>
              </a:defRPr>
            </a:lvl9pPr>
          </a:lstStyle>
          <a:p xmlns:a="http://schemas.openxmlformats.org/drawingml/2006/main">
            <a:pPr>
              <a:defRPr sz="2175" b="0">
                <a:solidFill>
                  <a:srgbClr val="152B3B"/>
                </a:solidFill>
                <a:latin typeface="Arial"/>
                <a:ea typeface="Arial"/>
                <a:cs typeface="Arial"/>
              </a:defRPr>
            </a:pPr>
            <a:r>
              <a:rPr sz="2175" b="0">
                <a:solidFill>
                  <a:srgbClr val="152B3B"/>
                </a:solidFill>
                <a:latin typeface="Arial"/>
                <a:ea typeface="Arial"/>
                <a:cs typeface="Arial"/>
              </a:rPr>
              <a:t>Осталось 1 005 наблюдений. Пропусков нет.</a:t>
            </a:r>
          </a:p>
        </p:txBody>
      </p:sp>
      <p:sp>
        <p:nvSpPr>
          <p:cNvPr id="7" name="">
            <a:extLst xmlns:a="http://schemas.openxmlformats.org/drawingml/2006/main">
              <a:ext uri="{FF2B5EF4-FFF2-40B4-BE49-F238E27FC236}">
                <a16:creationId xmlns:a16="http://schemas.microsoft.com/office/drawing/2014/main" id="{4DCF3E2E-F262-41C7-8364-96EB082883B3}"/>
              </a:ext>
            </a:extLst>
          </p:cNvPr>
          <p:cNvSpPr>
            <a:spLocks xmlns:a="http://schemas.openxmlformats.org/drawingml/2006/main" noGrp="1"/>
          </p:cNvSpPr>
          <p:nvPr/>
        </p:nvSpPr>
        <p:spPr>
          <a:xfrm xmlns:a="http://schemas.openxmlformats.org/drawingml/2006/main">
            <a:off x="609600" y="60198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526776"/>
                </a:solidFill>
                <a:latin typeface="Arial"/>
                <a:ea typeface="Arial"/>
                <a:cs typeface="Arial"/>
              </a:defRPr>
            </a:defPPr>
            <a:lvl1pPr>
              <a:defRPr sz="1500" b="0">
                <a:solidFill>
                  <a:srgbClr val="526776"/>
                </a:solidFill>
                <a:latin typeface="Arial"/>
                <a:ea typeface="Arial"/>
                <a:cs typeface="Arial"/>
              </a:defRPr>
            </a:lvl1pPr>
            <a:lvl2pPr>
              <a:defRPr sz="1500" b="0">
                <a:solidFill>
                  <a:srgbClr val="526776"/>
                </a:solidFill>
                <a:latin typeface="Arial"/>
                <a:ea typeface="Arial"/>
                <a:cs typeface="Arial"/>
              </a:defRPr>
            </a:lvl2pPr>
            <a:lvl3pPr>
              <a:defRPr sz="1500" b="0">
                <a:solidFill>
                  <a:srgbClr val="526776"/>
                </a:solidFill>
                <a:latin typeface="Arial"/>
                <a:ea typeface="Arial"/>
                <a:cs typeface="Arial"/>
              </a:defRPr>
            </a:lvl3pPr>
            <a:lvl4pPr>
              <a:defRPr sz="1500" b="0">
                <a:solidFill>
                  <a:srgbClr val="526776"/>
                </a:solidFill>
                <a:latin typeface="Arial"/>
                <a:ea typeface="Arial"/>
                <a:cs typeface="Arial"/>
              </a:defRPr>
            </a:lvl4pPr>
            <a:lvl5pPr>
              <a:defRPr sz="1500" b="0">
                <a:solidFill>
                  <a:srgbClr val="526776"/>
                </a:solidFill>
                <a:latin typeface="Arial"/>
                <a:ea typeface="Arial"/>
                <a:cs typeface="Arial"/>
              </a:defRPr>
            </a:lvl5pPr>
            <a:lvl6pPr>
              <a:defRPr sz="1500" b="0">
                <a:solidFill>
                  <a:srgbClr val="526776"/>
                </a:solidFill>
                <a:latin typeface="Arial"/>
                <a:ea typeface="Arial"/>
                <a:cs typeface="Arial"/>
              </a:defRPr>
            </a:lvl6pPr>
            <a:lvl7pPr>
              <a:defRPr sz="1500" b="0">
                <a:solidFill>
                  <a:srgbClr val="526776"/>
                </a:solidFill>
                <a:latin typeface="Arial"/>
                <a:ea typeface="Arial"/>
                <a:cs typeface="Arial"/>
              </a:defRPr>
            </a:lvl7pPr>
            <a:lvl8pPr>
              <a:defRPr sz="1500" b="0">
                <a:solidFill>
                  <a:srgbClr val="526776"/>
                </a:solidFill>
                <a:latin typeface="Arial"/>
                <a:ea typeface="Arial"/>
                <a:cs typeface="Arial"/>
              </a:defRPr>
            </a:lvl8pPr>
            <a:lvl9pPr>
              <a:defRPr sz="1500" b="0">
                <a:solidFill>
                  <a:srgbClr val="526776"/>
                </a:solidFill>
                <a:latin typeface="Arial"/>
                <a:ea typeface="Arial"/>
                <a:cs typeface="Arial"/>
              </a:defRPr>
            </a:lvl9pPr>
          </a:lstStyle>
          <a:p xmlns:a="http://schemas.openxmlformats.org/drawingml/2006/main">
            <a:pPr>
              <a:defRPr sz="1500" b="0">
                <a:solidFill>
                  <a:srgbClr val="526776"/>
                </a:solidFill>
                <a:latin typeface="Arial"/>
                <a:ea typeface="Arial"/>
                <a:cs typeface="Arial"/>
              </a:defRPr>
            </a:pPr>
            <a:r>
              <a:rPr sz="1500" b="0">
                <a:solidFill>
                  <a:srgbClr val="526776"/>
                </a:solidFill>
                <a:latin typeface="Arial"/>
                <a:ea typeface="Arial"/>
                <a:cs typeface="Arial"/>
              </a:rPr>
              <a:t>Источник: UCI, Concrete Compressive Strength, Yeh (1998), CC BY 4.0</a:t>
            </a:r>
          </a:p>
        </p:txBody>
      </p:sp>
    </p:spTree>
    <p:extLst>
      <p:ext uri="{BB962C8B-B14F-4D97-AF65-F5344CB8AC3E}">
        <p14:creationId xmlns:p14="http://schemas.microsoft.com/office/powerpoint/2010/main" val="142098710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AA2B2560-58E8-4D15-BF50-ECF698AA49BC}"/>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152B3B"/>
                </a:solidFill>
                <a:latin typeface="Arial"/>
                <a:ea typeface="Arial"/>
                <a:cs typeface="Arial"/>
              </a:defRPr>
            </a:defPPr>
            <a:lvl1pPr>
              <a:defRPr sz="2850" b="1">
                <a:solidFill>
                  <a:srgbClr val="152B3B"/>
                </a:solidFill>
                <a:latin typeface="Arial"/>
                <a:ea typeface="Arial"/>
                <a:cs typeface="Arial"/>
              </a:defRPr>
            </a:lvl1pPr>
            <a:lvl2pPr>
              <a:defRPr sz="2850" b="1">
                <a:solidFill>
                  <a:srgbClr val="152B3B"/>
                </a:solidFill>
                <a:latin typeface="Arial"/>
                <a:ea typeface="Arial"/>
                <a:cs typeface="Arial"/>
              </a:defRPr>
            </a:lvl2pPr>
            <a:lvl3pPr>
              <a:defRPr sz="2850" b="1">
                <a:solidFill>
                  <a:srgbClr val="152B3B"/>
                </a:solidFill>
                <a:latin typeface="Arial"/>
                <a:ea typeface="Arial"/>
                <a:cs typeface="Arial"/>
              </a:defRPr>
            </a:lvl3pPr>
            <a:lvl4pPr>
              <a:defRPr sz="2850" b="1">
                <a:solidFill>
                  <a:srgbClr val="152B3B"/>
                </a:solidFill>
                <a:latin typeface="Arial"/>
                <a:ea typeface="Arial"/>
                <a:cs typeface="Arial"/>
              </a:defRPr>
            </a:lvl4pPr>
            <a:lvl5pPr>
              <a:defRPr sz="2850" b="1">
                <a:solidFill>
                  <a:srgbClr val="152B3B"/>
                </a:solidFill>
                <a:latin typeface="Arial"/>
                <a:ea typeface="Arial"/>
                <a:cs typeface="Arial"/>
              </a:defRPr>
            </a:lvl5pPr>
            <a:lvl6pPr>
              <a:defRPr sz="2850" b="1">
                <a:solidFill>
                  <a:srgbClr val="152B3B"/>
                </a:solidFill>
                <a:latin typeface="Arial"/>
                <a:ea typeface="Arial"/>
                <a:cs typeface="Arial"/>
              </a:defRPr>
            </a:lvl6pPr>
            <a:lvl7pPr>
              <a:defRPr sz="2850" b="1">
                <a:solidFill>
                  <a:srgbClr val="152B3B"/>
                </a:solidFill>
                <a:latin typeface="Arial"/>
                <a:ea typeface="Arial"/>
                <a:cs typeface="Arial"/>
              </a:defRPr>
            </a:lvl7pPr>
            <a:lvl8pPr>
              <a:defRPr sz="2850" b="1">
                <a:solidFill>
                  <a:srgbClr val="152B3B"/>
                </a:solidFill>
                <a:latin typeface="Arial"/>
                <a:ea typeface="Arial"/>
                <a:cs typeface="Arial"/>
              </a:defRPr>
            </a:lvl8pPr>
            <a:lvl9pPr>
              <a:defRPr sz="2850" b="1">
                <a:solidFill>
                  <a:srgbClr val="152B3B"/>
                </a:solidFill>
                <a:latin typeface="Arial"/>
                <a:ea typeface="Arial"/>
                <a:cs typeface="Arial"/>
              </a:defRPr>
            </a:lvl9pPr>
          </a:lstStyle>
          <a:p xmlns:a="http://schemas.openxmlformats.org/drawingml/2006/main">
            <a:pPr>
              <a:defRPr sz="2850" b="1">
                <a:solidFill>
                  <a:srgbClr val="152B3B"/>
                </a:solidFill>
                <a:latin typeface="Arial"/>
                <a:ea typeface="Arial"/>
                <a:cs typeface="Arial"/>
              </a:defRPr>
            </a:pPr>
            <a:r>
              <a:rPr sz="2850" b="1">
                <a:solidFill>
                  <a:srgbClr val="152B3B"/>
                </a:solidFill>
                <a:latin typeface="Arial"/>
                <a:ea typeface="Arial"/>
                <a:cs typeface="Arial"/>
              </a:rPr>
              <a:t>Прочность в обучении распределена неравномерно</a:t>
            </a:r>
          </a:p>
        </p:txBody>
      </p:sp>
      <p:sp>
        <p:nvSpPr>
          <p:cNvPr id="3" name="folio">
            <a:extLst xmlns:a="http://schemas.openxmlformats.org/drawingml/2006/main">
              <a:ext uri="{FF2B5EF4-FFF2-40B4-BE49-F238E27FC236}">
                <a16:creationId xmlns:a16="http://schemas.microsoft.com/office/drawing/2014/main" id="{CED7AB29-CCEB-4DF8-BF43-7A418CCBD531}"/>
              </a:ext>
            </a:extLst>
          </p:cNvPr>
          <p:cNvSpPr>
            <a:spLocks xmlns:a="http://schemas.openxmlformats.org/drawingml/2006/main" noGrp="1"/>
          </p:cNvSpPr>
          <p:nvPr/>
        </p:nvSpPr>
        <p:spPr>
          <a:xfrm xmlns:a="http://schemas.openxmlformats.org/drawingml/2006/main">
            <a:off x="11353800" y="64389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6776"/>
                </a:solidFill>
                <a:latin typeface="Arial"/>
                <a:ea typeface="Arial"/>
                <a:cs typeface="Arial"/>
              </a:defRPr>
            </a:defPPr>
            <a:lvl1pPr>
              <a:defRPr sz="1200" b="0">
                <a:solidFill>
                  <a:srgbClr val="526776"/>
                </a:solidFill>
                <a:latin typeface="Arial"/>
                <a:ea typeface="Arial"/>
                <a:cs typeface="Arial"/>
              </a:defRPr>
            </a:lvl1pPr>
            <a:lvl2pPr>
              <a:defRPr sz="1200" b="0">
                <a:solidFill>
                  <a:srgbClr val="526776"/>
                </a:solidFill>
                <a:latin typeface="Arial"/>
                <a:ea typeface="Arial"/>
                <a:cs typeface="Arial"/>
              </a:defRPr>
            </a:lvl2pPr>
            <a:lvl3pPr>
              <a:defRPr sz="1200" b="0">
                <a:solidFill>
                  <a:srgbClr val="526776"/>
                </a:solidFill>
                <a:latin typeface="Arial"/>
                <a:ea typeface="Arial"/>
                <a:cs typeface="Arial"/>
              </a:defRPr>
            </a:lvl3pPr>
            <a:lvl4pPr>
              <a:defRPr sz="1200" b="0">
                <a:solidFill>
                  <a:srgbClr val="526776"/>
                </a:solidFill>
                <a:latin typeface="Arial"/>
                <a:ea typeface="Arial"/>
                <a:cs typeface="Arial"/>
              </a:defRPr>
            </a:lvl4pPr>
            <a:lvl5pPr>
              <a:defRPr sz="1200" b="0">
                <a:solidFill>
                  <a:srgbClr val="526776"/>
                </a:solidFill>
                <a:latin typeface="Arial"/>
                <a:ea typeface="Arial"/>
                <a:cs typeface="Arial"/>
              </a:defRPr>
            </a:lvl5pPr>
            <a:lvl6pPr>
              <a:defRPr sz="1200" b="0">
                <a:solidFill>
                  <a:srgbClr val="526776"/>
                </a:solidFill>
                <a:latin typeface="Arial"/>
                <a:ea typeface="Arial"/>
                <a:cs typeface="Arial"/>
              </a:defRPr>
            </a:lvl6pPr>
            <a:lvl7pPr>
              <a:defRPr sz="1200" b="0">
                <a:solidFill>
                  <a:srgbClr val="526776"/>
                </a:solidFill>
                <a:latin typeface="Arial"/>
                <a:ea typeface="Arial"/>
                <a:cs typeface="Arial"/>
              </a:defRPr>
            </a:lvl7pPr>
            <a:lvl8pPr>
              <a:defRPr sz="1200" b="0">
                <a:solidFill>
                  <a:srgbClr val="526776"/>
                </a:solidFill>
                <a:latin typeface="Arial"/>
                <a:ea typeface="Arial"/>
                <a:cs typeface="Arial"/>
              </a:defRPr>
            </a:lvl8pPr>
            <a:lvl9pPr>
              <a:defRPr sz="1200" b="0">
                <a:solidFill>
                  <a:srgbClr val="526776"/>
                </a:solidFill>
                <a:latin typeface="Arial"/>
                <a:ea typeface="Arial"/>
                <a:cs typeface="Arial"/>
              </a:defRPr>
            </a:lvl9pPr>
          </a:lstStyle>
          <a:p xmlns:a="http://schemas.openxmlformats.org/drawingml/2006/main">
            <a:pPr>
              <a:defRPr sz="1200" b="0">
                <a:solidFill>
                  <a:srgbClr val="526776"/>
                </a:solidFill>
                <a:latin typeface="Arial"/>
                <a:ea typeface="Arial"/>
                <a:cs typeface="Arial"/>
              </a:defRPr>
            </a:pPr>
            <a:r>
              <a:rPr sz="1200" b="0">
                <a:solidFill>
                  <a:srgbClr val="526776"/>
                </a:solidFill>
                <a:latin typeface="Arial"/>
                <a:ea typeface="Arial"/>
                <a:cs typeface="Arial"/>
              </a:rPr>
              <a:t>4</a:t>
            </a:r>
          </a:p>
        </p:txBody>
      </p:sp>
      <p:pic>
        <p:nvPicPr>
          <p:cNvPr id="4" name="">
            <a:extLst xmlns:a="http://schemas.openxmlformats.org/drawingml/2006/main">
              <a:ext uri="{FF2B5EF4-FFF2-40B4-BE49-F238E27FC236}">
                <a16:creationId xmlns:a16="http://schemas.microsoft.com/office/drawing/2014/main" id="{897EE6A4-C5EB-4719-B47C-1D3CCDE19567}"/>
              </a:ext>
            </a:extLst>
          </p:cNvPr>
          <p:cNvPicPr>
            <a:picLocks xmlns:a="http://schemas.openxmlformats.org/drawingml/2006/main" noChangeAspect="1"/>
          </p:cNvPicPr>
          <p:nvPr/>
        </p:nvPicPr>
        <p:blipFill>
          <a:blip xmlns:r="http://schemas.openxmlformats.org/officeDocument/2006/relationships" xmlns:a="http://schemas.openxmlformats.org/drawingml/2006/main" r:embed="R57bc3088fda447a3"/>
          <a:stretch xmlns:a="http://schemas.openxmlformats.org/drawingml/2006/main"/>
        </p:blipFill>
        <p:spPr>
          <a:xfrm xmlns:a="http://schemas.openxmlformats.org/drawingml/2006/main">
            <a:off x="533400" y="1466328"/>
            <a:ext cx="8143875" cy="4468269"/>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A3A2CF0-FDC6-4311-9CCA-6C282FFB698E}"/>
              </a:ext>
            </a:extLst>
          </p:cNvPr>
          <p:cNvSpPr>
            <a:spLocks xmlns:a="http://schemas.openxmlformats.org/drawingml/2006/main" noGrp="1"/>
          </p:cNvSpPr>
          <p:nvPr/>
        </p:nvSpPr>
        <p:spPr>
          <a:xfrm xmlns:a="http://schemas.openxmlformats.org/drawingml/2006/main">
            <a:off x="8953500" y="2238375"/>
            <a:ext cx="2714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225" b="1">
                <a:solidFill>
                  <a:srgbClr val="167D8D"/>
                </a:solidFill>
                <a:latin typeface="Arial"/>
                <a:ea typeface="Arial"/>
                <a:cs typeface="Arial"/>
              </a:defRPr>
            </a:defPPr>
            <a:lvl1pPr>
              <a:defRPr sz="3225" b="1">
                <a:solidFill>
                  <a:srgbClr val="167D8D"/>
                </a:solidFill>
                <a:latin typeface="Arial"/>
                <a:ea typeface="Arial"/>
                <a:cs typeface="Arial"/>
              </a:defRPr>
            </a:lvl1pPr>
            <a:lvl2pPr>
              <a:defRPr sz="3225" b="1">
                <a:solidFill>
                  <a:srgbClr val="167D8D"/>
                </a:solidFill>
                <a:latin typeface="Arial"/>
                <a:ea typeface="Arial"/>
                <a:cs typeface="Arial"/>
              </a:defRPr>
            </a:lvl2pPr>
            <a:lvl3pPr>
              <a:defRPr sz="3225" b="1">
                <a:solidFill>
                  <a:srgbClr val="167D8D"/>
                </a:solidFill>
                <a:latin typeface="Arial"/>
                <a:ea typeface="Arial"/>
                <a:cs typeface="Arial"/>
              </a:defRPr>
            </a:lvl3pPr>
            <a:lvl4pPr>
              <a:defRPr sz="3225" b="1">
                <a:solidFill>
                  <a:srgbClr val="167D8D"/>
                </a:solidFill>
                <a:latin typeface="Arial"/>
                <a:ea typeface="Arial"/>
                <a:cs typeface="Arial"/>
              </a:defRPr>
            </a:lvl4pPr>
            <a:lvl5pPr>
              <a:defRPr sz="3225" b="1">
                <a:solidFill>
                  <a:srgbClr val="167D8D"/>
                </a:solidFill>
                <a:latin typeface="Arial"/>
                <a:ea typeface="Arial"/>
                <a:cs typeface="Arial"/>
              </a:defRPr>
            </a:lvl5pPr>
            <a:lvl6pPr>
              <a:defRPr sz="3225" b="1">
                <a:solidFill>
                  <a:srgbClr val="167D8D"/>
                </a:solidFill>
                <a:latin typeface="Arial"/>
                <a:ea typeface="Arial"/>
                <a:cs typeface="Arial"/>
              </a:defRPr>
            </a:lvl6pPr>
            <a:lvl7pPr>
              <a:defRPr sz="3225" b="1">
                <a:solidFill>
                  <a:srgbClr val="167D8D"/>
                </a:solidFill>
                <a:latin typeface="Arial"/>
                <a:ea typeface="Arial"/>
                <a:cs typeface="Arial"/>
              </a:defRPr>
            </a:lvl7pPr>
            <a:lvl8pPr>
              <a:defRPr sz="3225" b="1">
                <a:solidFill>
                  <a:srgbClr val="167D8D"/>
                </a:solidFill>
                <a:latin typeface="Arial"/>
                <a:ea typeface="Arial"/>
                <a:cs typeface="Arial"/>
              </a:defRPr>
            </a:lvl8pPr>
            <a:lvl9pPr>
              <a:defRPr sz="3225" b="1">
                <a:solidFill>
                  <a:srgbClr val="167D8D"/>
                </a:solidFill>
                <a:latin typeface="Arial"/>
                <a:ea typeface="Arial"/>
                <a:cs typeface="Arial"/>
              </a:defRPr>
            </a:lvl9pPr>
          </a:lstStyle>
          <a:p xmlns:a="http://schemas.openxmlformats.org/drawingml/2006/main">
            <a:pPr>
              <a:defRPr sz="3225" b="1">
                <a:solidFill>
                  <a:srgbClr val="167D8D"/>
                </a:solidFill>
                <a:latin typeface="Arial"/>
                <a:ea typeface="Arial"/>
                <a:cs typeface="Arial"/>
              </a:defRPr>
            </a:pPr>
            <a:r>
              <a:rPr sz="3225" b="1">
                <a:solidFill>
                  <a:srgbClr val="167D8D"/>
                </a:solidFill>
                <a:latin typeface="Arial"/>
                <a:ea typeface="Arial"/>
                <a:cs typeface="Arial"/>
              </a:rPr>
              <a:t>56 из 799</a:t>
            </a:r>
          </a:p>
        </p:txBody>
      </p:sp>
      <p:sp>
        <p:nvSpPr>
          <p:cNvPr id="6" name="">
            <a:extLst xmlns:a="http://schemas.openxmlformats.org/drawingml/2006/main">
              <a:ext uri="{FF2B5EF4-FFF2-40B4-BE49-F238E27FC236}">
                <a16:creationId xmlns:a16="http://schemas.microsoft.com/office/drawing/2014/main" id="{E29A2EB1-EC22-45DF-AAA5-F634FAAA4C1C}"/>
              </a:ext>
            </a:extLst>
          </p:cNvPr>
          <p:cNvSpPr>
            <a:spLocks xmlns:a="http://schemas.openxmlformats.org/drawingml/2006/main" noGrp="1"/>
          </p:cNvSpPr>
          <p:nvPr/>
        </p:nvSpPr>
        <p:spPr>
          <a:xfrm xmlns:a="http://schemas.openxmlformats.org/drawingml/2006/main">
            <a:off x="8953500" y="3048000"/>
            <a:ext cx="2667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52B3B"/>
                </a:solidFill>
                <a:latin typeface="Arial"/>
                <a:ea typeface="Arial"/>
                <a:cs typeface="Arial"/>
              </a:defRPr>
            </a:defPPr>
            <a:lvl1pPr>
              <a:defRPr sz="2025" b="0">
                <a:solidFill>
                  <a:srgbClr val="152B3B"/>
                </a:solidFill>
                <a:latin typeface="Arial"/>
                <a:ea typeface="Arial"/>
                <a:cs typeface="Arial"/>
              </a:defRPr>
            </a:lvl1pPr>
            <a:lvl2pPr>
              <a:defRPr sz="2025" b="0">
                <a:solidFill>
                  <a:srgbClr val="152B3B"/>
                </a:solidFill>
                <a:latin typeface="Arial"/>
                <a:ea typeface="Arial"/>
                <a:cs typeface="Arial"/>
              </a:defRPr>
            </a:lvl2pPr>
            <a:lvl3pPr>
              <a:defRPr sz="2025" b="0">
                <a:solidFill>
                  <a:srgbClr val="152B3B"/>
                </a:solidFill>
                <a:latin typeface="Arial"/>
                <a:ea typeface="Arial"/>
                <a:cs typeface="Arial"/>
              </a:defRPr>
            </a:lvl3pPr>
            <a:lvl4pPr>
              <a:defRPr sz="2025" b="0">
                <a:solidFill>
                  <a:srgbClr val="152B3B"/>
                </a:solidFill>
                <a:latin typeface="Arial"/>
                <a:ea typeface="Arial"/>
                <a:cs typeface="Arial"/>
              </a:defRPr>
            </a:lvl4pPr>
            <a:lvl5pPr>
              <a:defRPr sz="2025" b="0">
                <a:solidFill>
                  <a:srgbClr val="152B3B"/>
                </a:solidFill>
                <a:latin typeface="Arial"/>
                <a:ea typeface="Arial"/>
                <a:cs typeface="Arial"/>
              </a:defRPr>
            </a:lvl5pPr>
            <a:lvl6pPr>
              <a:defRPr sz="2025" b="0">
                <a:solidFill>
                  <a:srgbClr val="152B3B"/>
                </a:solidFill>
                <a:latin typeface="Arial"/>
                <a:ea typeface="Arial"/>
                <a:cs typeface="Arial"/>
              </a:defRPr>
            </a:lvl6pPr>
            <a:lvl7pPr>
              <a:defRPr sz="2025" b="0">
                <a:solidFill>
                  <a:srgbClr val="152B3B"/>
                </a:solidFill>
                <a:latin typeface="Arial"/>
                <a:ea typeface="Arial"/>
                <a:cs typeface="Arial"/>
              </a:defRPr>
            </a:lvl7pPr>
            <a:lvl8pPr>
              <a:defRPr sz="2025" b="0">
                <a:solidFill>
                  <a:srgbClr val="152B3B"/>
                </a:solidFill>
                <a:latin typeface="Arial"/>
                <a:ea typeface="Arial"/>
                <a:cs typeface="Arial"/>
              </a:defRPr>
            </a:lvl8pPr>
            <a:lvl9pPr>
              <a:defRPr sz="2025" b="0">
                <a:solidFill>
                  <a:srgbClr val="152B3B"/>
                </a:solidFill>
                <a:latin typeface="Arial"/>
                <a:ea typeface="Arial"/>
                <a:cs typeface="Arial"/>
              </a:defRPr>
            </a:lvl9pPr>
          </a:lstStyle>
          <a:p xmlns:a="http://schemas.openxmlformats.org/drawingml/2006/main">
            <a:pPr>
              <a:defRPr sz="2025" b="0">
                <a:solidFill>
                  <a:srgbClr val="152B3B"/>
                </a:solidFill>
                <a:latin typeface="Arial"/>
                <a:ea typeface="Arial"/>
                <a:cs typeface="Arial"/>
              </a:defRPr>
            </a:pPr>
            <a:r>
              <a:rPr sz="2025" b="0">
                <a:solidFill>
                  <a:srgbClr val="152B3B"/>
                </a:solidFill>
                <a:latin typeface="Arial"/>
                <a:ea typeface="Arial"/>
                <a:cs typeface="Arial"/>
              </a:rPr>
              <a:t>обучающих примеров</a:t>
            </a:r>
          </a:p>
          <a:p xmlns:a="http://schemas.openxmlformats.org/drawingml/2006/main">
            <a:pPr>
              <a:defRPr sz="2025" b="0">
                <a:solidFill>
                  <a:srgbClr val="152B3B"/>
                </a:solidFill>
                <a:latin typeface="Arial"/>
                <a:ea typeface="Arial"/>
                <a:cs typeface="Arial"/>
              </a:defRPr>
            </a:pPr>
            <a:r>
              <a:rPr sz="2025" b="0">
                <a:solidFill>
                  <a:srgbClr val="152B3B"/>
                </a:solidFill>
                <a:latin typeface="Arial"/>
                <a:ea typeface="Arial"/>
                <a:cs typeface="Arial"/>
              </a:rPr>
              <a:t>имеют прочность</a:t>
            </a:r>
          </a:p>
          <a:p xmlns:a="http://schemas.openxmlformats.org/drawingml/2006/main">
            <a:pPr>
              <a:defRPr sz="2025" b="0">
                <a:solidFill>
                  <a:srgbClr val="152B3B"/>
                </a:solidFill>
                <a:latin typeface="Arial"/>
                <a:ea typeface="Arial"/>
                <a:cs typeface="Arial"/>
              </a:defRPr>
            </a:pPr>
            <a:r>
              <a:rPr sz="2025" b="0">
                <a:solidFill>
                  <a:srgbClr val="152B3B"/>
                </a:solidFill>
                <a:latin typeface="Arial"/>
                <a:ea typeface="Arial"/>
                <a:cs typeface="Arial"/>
              </a:rPr>
              <a:t>от 60 МПа</a:t>
            </a:r>
          </a:p>
        </p:txBody>
      </p:sp>
      <p:sp>
        <p:nvSpPr>
          <p:cNvPr id="7" name="">
            <a:extLst xmlns:a="http://schemas.openxmlformats.org/drawingml/2006/main">
              <a:ext uri="{FF2B5EF4-FFF2-40B4-BE49-F238E27FC236}">
                <a16:creationId xmlns:a16="http://schemas.microsoft.com/office/drawing/2014/main" id="{51D1D384-C62C-46C1-8EA5-38126BC0295F}"/>
              </a:ext>
            </a:extLst>
          </p:cNvPr>
          <p:cNvSpPr>
            <a:spLocks xmlns:a="http://schemas.openxmlformats.org/drawingml/2006/main" noGrp="1"/>
          </p:cNvSpPr>
          <p:nvPr/>
        </p:nvSpPr>
        <p:spPr>
          <a:xfrm xmlns:a="http://schemas.openxmlformats.org/drawingml/2006/main">
            <a:off x="609600" y="61150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526776"/>
                </a:solidFill>
                <a:latin typeface="Arial"/>
                <a:ea typeface="Arial"/>
                <a:cs typeface="Arial"/>
              </a:defRPr>
            </a:defPPr>
            <a:lvl1pPr>
              <a:defRPr sz="1500" b="0">
                <a:solidFill>
                  <a:srgbClr val="526776"/>
                </a:solidFill>
                <a:latin typeface="Arial"/>
                <a:ea typeface="Arial"/>
                <a:cs typeface="Arial"/>
              </a:defRPr>
            </a:lvl1pPr>
            <a:lvl2pPr>
              <a:defRPr sz="1500" b="0">
                <a:solidFill>
                  <a:srgbClr val="526776"/>
                </a:solidFill>
                <a:latin typeface="Arial"/>
                <a:ea typeface="Arial"/>
                <a:cs typeface="Arial"/>
              </a:defRPr>
            </a:lvl2pPr>
            <a:lvl3pPr>
              <a:defRPr sz="1500" b="0">
                <a:solidFill>
                  <a:srgbClr val="526776"/>
                </a:solidFill>
                <a:latin typeface="Arial"/>
                <a:ea typeface="Arial"/>
                <a:cs typeface="Arial"/>
              </a:defRPr>
            </a:lvl3pPr>
            <a:lvl4pPr>
              <a:defRPr sz="1500" b="0">
                <a:solidFill>
                  <a:srgbClr val="526776"/>
                </a:solidFill>
                <a:latin typeface="Arial"/>
                <a:ea typeface="Arial"/>
                <a:cs typeface="Arial"/>
              </a:defRPr>
            </a:lvl4pPr>
            <a:lvl5pPr>
              <a:defRPr sz="1500" b="0">
                <a:solidFill>
                  <a:srgbClr val="526776"/>
                </a:solidFill>
                <a:latin typeface="Arial"/>
                <a:ea typeface="Arial"/>
                <a:cs typeface="Arial"/>
              </a:defRPr>
            </a:lvl5pPr>
            <a:lvl6pPr>
              <a:defRPr sz="1500" b="0">
                <a:solidFill>
                  <a:srgbClr val="526776"/>
                </a:solidFill>
                <a:latin typeface="Arial"/>
                <a:ea typeface="Arial"/>
                <a:cs typeface="Arial"/>
              </a:defRPr>
            </a:lvl6pPr>
            <a:lvl7pPr>
              <a:defRPr sz="1500" b="0">
                <a:solidFill>
                  <a:srgbClr val="526776"/>
                </a:solidFill>
                <a:latin typeface="Arial"/>
                <a:ea typeface="Arial"/>
                <a:cs typeface="Arial"/>
              </a:defRPr>
            </a:lvl7pPr>
            <a:lvl8pPr>
              <a:defRPr sz="1500" b="0">
                <a:solidFill>
                  <a:srgbClr val="526776"/>
                </a:solidFill>
                <a:latin typeface="Arial"/>
                <a:ea typeface="Arial"/>
                <a:cs typeface="Arial"/>
              </a:defRPr>
            </a:lvl8pPr>
            <a:lvl9pPr>
              <a:defRPr sz="1500" b="0">
                <a:solidFill>
                  <a:srgbClr val="526776"/>
                </a:solidFill>
                <a:latin typeface="Arial"/>
                <a:ea typeface="Arial"/>
                <a:cs typeface="Arial"/>
              </a:defRPr>
            </a:lvl9pPr>
          </a:lstStyle>
          <a:p xmlns:a="http://schemas.openxmlformats.org/drawingml/2006/main">
            <a:pPr>
              <a:defRPr sz="1500" b="0">
                <a:solidFill>
                  <a:srgbClr val="526776"/>
                </a:solidFill>
                <a:latin typeface="Arial"/>
                <a:ea typeface="Arial"/>
                <a:cs typeface="Arial"/>
              </a:defRPr>
            </a:pPr>
            <a:r>
              <a:rPr sz="1500" b="0">
                <a:solidFill>
                  <a:srgbClr val="526776"/>
                </a:solidFill>
                <a:latin typeface="Arial"/>
                <a:ea typeface="Arial"/>
                <a:cs typeface="Arial"/>
              </a:rPr>
              <a:t>Гистограмма: только train</a:t>
            </a:r>
          </a:p>
        </p:txBody>
      </p:sp>
    </p:spTree>
    <p:extLst>
      <p:ext uri="{BB962C8B-B14F-4D97-AF65-F5344CB8AC3E}">
        <p14:creationId xmlns:p14="http://schemas.microsoft.com/office/powerpoint/2010/main" val="111123667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ADE14AE9-75C7-4C5A-BAF6-3DA68B94A51B}"/>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152B3B"/>
                </a:solidFill>
                <a:latin typeface="Arial"/>
                <a:ea typeface="Arial"/>
                <a:cs typeface="Arial"/>
              </a:defRPr>
            </a:defPPr>
            <a:lvl1pPr>
              <a:defRPr sz="2850" b="1">
                <a:solidFill>
                  <a:srgbClr val="152B3B"/>
                </a:solidFill>
                <a:latin typeface="Arial"/>
                <a:ea typeface="Arial"/>
                <a:cs typeface="Arial"/>
              </a:defRPr>
            </a:lvl1pPr>
            <a:lvl2pPr>
              <a:defRPr sz="2850" b="1">
                <a:solidFill>
                  <a:srgbClr val="152B3B"/>
                </a:solidFill>
                <a:latin typeface="Arial"/>
                <a:ea typeface="Arial"/>
                <a:cs typeface="Arial"/>
              </a:defRPr>
            </a:lvl2pPr>
            <a:lvl3pPr>
              <a:defRPr sz="2850" b="1">
                <a:solidFill>
                  <a:srgbClr val="152B3B"/>
                </a:solidFill>
                <a:latin typeface="Arial"/>
                <a:ea typeface="Arial"/>
                <a:cs typeface="Arial"/>
              </a:defRPr>
            </a:lvl3pPr>
            <a:lvl4pPr>
              <a:defRPr sz="2850" b="1">
                <a:solidFill>
                  <a:srgbClr val="152B3B"/>
                </a:solidFill>
                <a:latin typeface="Arial"/>
                <a:ea typeface="Arial"/>
                <a:cs typeface="Arial"/>
              </a:defRPr>
            </a:lvl4pPr>
            <a:lvl5pPr>
              <a:defRPr sz="2850" b="1">
                <a:solidFill>
                  <a:srgbClr val="152B3B"/>
                </a:solidFill>
                <a:latin typeface="Arial"/>
                <a:ea typeface="Arial"/>
                <a:cs typeface="Arial"/>
              </a:defRPr>
            </a:lvl5pPr>
            <a:lvl6pPr>
              <a:defRPr sz="2850" b="1">
                <a:solidFill>
                  <a:srgbClr val="152B3B"/>
                </a:solidFill>
                <a:latin typeface="Arial"/>
                <a:ea typeface="Arial"/>
                <a:cs typeface="Arial"/>
              </a:defRPr>
            </a:lvl6pPr>
            <a:lvl7pPr>
              <a:defRPr sz="2850" b="1">
                <a:solidFill>
                  <a:srgbClr val="152B3B"/>
                </a:solidFill>
                <a:latin typeface="Arial"/>
                <a:ea typeface="Arial"/>
                <a:cs typeface="Arial"/>
              </a:defRPr>
            </a:lvl7pPr>
            <a:lvl8pPr>
              <a:defRPr sz="2850" b="1">
                <a:solidFill>
                  <a:srgbClr val="152B3B"/>
                </a:solidFill>
                <a:latin typeface="Arial"/>
                <a:ea typeface="Arial"/>
                <a:cs typeface="Arial"/>
              </a:defRPr>
            </a:lvl8pPr>
            <a:lvl9pPr>
              <a:defRPr sz="2850" b="1">
                <a:solidFill>
                  <a:srgbClr val="152B3B"/>
                </a:solidFill>
                <a:latin typeface="Arial"/>
                <a:ea typeface="Arial"/>
                <a:cs typeface="Arial"/>
              </a:defRPr>
            </a:lvl9pPr>
          </a:lstStyle>
          <a:p xmlns:a="http://schemas.openxmlformats.org/drawingml/2006/main">
            <a:pPr>
              <a:defRPr sz="2850" b="1">
                <a:solidFill>
                  <a:srgbClr val="152B3B"/>
                </a:solidFill>
                <a:latin typeface="Arial"/>
                <a:ea typeface="Arial"/>
                <a:cs typeface="Arial"/>
              </a:defRPr>
            </a:pPr>
            <a:r>
              <a:rPr sz="2850" b="1">
                <a:solidFill>
                  <a:srgbClr val="152B3B"/>
                </a:solidFill>
                <a:latin typeface="Arial"/>
                <a:ea typeface="Arial"/>
                <a:cs typeface="Arial"/>
              </a:rPr>
              <a:t>Возраст и цемент связаны с прочностью</a:t>
            </a:r>
          </a:p>
        </p:txBody>
      </p:sp>
      <p:sp>
        <p:nvSpPr>
          <p:cNvPr id="3" name="folio">
            <a:extLst xmlns:a="http://schemas.openxmlformats.org/drawingml/2006/main">
              <a:ext uri="{FF2B5EF4-FFF2-40B4-BE49-F238E27FC236}">
                <a16:creationId xmlns:a16="http://schemas.microsoft.com/office/drawing/2014/main" id="{15159E80-7EE4-4DB4-A8CE-C26600165B3A}"/>
              </a:ext>
            </a:extLst>
          </p:cNvPr>
          <p:cNvSpPr>
            <a:spLocks xmlns:a="http://schemas.openxmlformats.org/drawingml/2006/main" noGrp="1"/>
          </p:cNvSpPr>
          <p:nvPr/>
        </p:nvSpPr>
        <p:spPr>
          <a:xfrm xmlns:a="http://schemas.openxmlformats.org/drawingml/2006/main">
            <a:off x="11353800" y="64389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6776"/>
                </a:solidFill>
                <a:latin typeface="Arial"/>
                <a:ea typeface="Arial"/>
                <a:cs typeface="Arial"/>
              </a:defRPr>
            </a:defPPr>
            <a:lvl1pPr>
              <a:defRPr sz="1200" b="0">
                <a:solidFill>
                  <a:srgbClr val="526776"/>
                </a:solidFill>
                <a:latin typeface="Arial"/>
                <a:ea typeface="Arial"/>
                <a:cs typeface="Arial"/>
              </a:defRPr>
            </a:lvl1pPr>
            <a:lvl2pPr>
              <a:defRPr sz="1200" b="0">
                <a:solidFill>
                  <a:srgbClr val="526776"/>
                </a:solidFill>
                <a:latin typeface="Arial"/>
                <a:ea typeface="Arial"/>
                <a:cs typeface="Arial"/>
              </a:defRPr>
            </a:lvl2pPr>
            <a:lvl3pPr>
              <a:defRPr sz="1200" b="0">
                <a:solidFill>
                  <a:srgbClr val="526776"/>
                </a:solidFill>
                <a:latin typeface="Arial"/>
                <a:ea typeface="Arial"/>
                <a:cs typeface="Arial"/>
              </a:defRPr>
            </a:lvl3pPr>
            <a:lvl4pPr>
              <a:defRPr sz="1200" b="0">
                <a:solidFill>
                  <a:srgbClr val="526776"/>
                </a:solidFill>
                <a:latin typeface="Arial"/>
                <a:ea typeface="Arial"/>
                <a:cs typeface="Arial"/>
              </a:defRPr>
            </a:lvl4pPr>
            <a:lvl5pPr>
              <a:defRPr sz="1200" b="0">
                <a:solidFill>
                  <a:srgbClr val="526776"/>
                </a:solidFill>
                <a:latin typeface="Arial"/>
                <a:ea typeface="Arial"/>
                <a:cs typeface="Arial"/>
              </a:defRPr>
            </a:lvl5pPr>
            <a:lvl6pPr>
              <a:defRPr sz="1200" b="0">
                <a:solidFill>
                  <a:srgbClr val="526776"/>
                </a:solidFill>
                <a:latin typeface="Arial"/>
                <a:ea typeface="Arial"/>
                <a:cs typeface="Arial"/>
              </a:defRPr>
            </a:lvl6pPr>
            <a:lvl7pPr>
              <a:defRPr sz="1200" b="0">
                <a:solidFill>
                  <a:srgbClr val="526776"/>
                </a:solidFill>
                <a:latin typeface="Arial"/>
                <a:ea typeface="Arial"/>
                <a:cs typeface="Arial"/>
              </a:defRPr>
            </a:lvl7pPr>
            <a:lvl8pPr>
              <a:defRPr sz="1200" b="0">
                <a:solidFill>
                  <a:srgbClr val="526776"/>
                </a:solidFill>
                <a:latin typeface="Arial"/>
                <a:ea typeface="Arial"/>
                <a:cs typeface="Arial"/>
              </a:defRPr>
            </a:lvl8pPr>
            <a:lvl9pPr>
              <a:defRPr sz="1200" b="0">
                <a:solidFill>
                  <a:srgbClr val="526776"/>
                </a:solidFill>
                <a:latin typeface="Arial"/>
                <a:ea typeface="Arial"/>
                <a:cs typeface="Arial"/>
              </a:defRPr>
            </a:lvl9pPr>
          </a:lstStyle>
          <a:p xmlns:a="http://schemas.openxmlformats.org/drawingml/2006/main">
            <a:pPr>
              <a:defRPr sz="1200" b="0">
                <a:solidFill>
                  <a:srgbClr val="526776"/>
                </a:solidFill>
                <a:latin typeface="Arial"/>
                <a:ea typeface="Arial"/>
                <a:cs typeface="Arial"/>
              </a:defRPr>
            </a:pPr>
            <a:r>
              <a:rPr sz="1200" b="0">
                <a:solidFill>
                  <a:srgbClr val="526776"/>
                </a:solidFill>
                <a:latin typeface="Arial"/>
                <a:ea typeface="Arial"/>
                <a:cs typeface="Arial"/>
              </a:rPr>
              <a:t>5</a:t>
            </a:r>
          </a:p>
        </p:txBody>
      </p:sp>
      <p:pic>
        <p:nvPicPr>
          <p:cNvPr id="4" name="">
            <a:extLst xmlns:a="http://schemas.openxmlformats.org/drawingml/2006/main">
              <a:ext uri="{FF2B5EF4-FFF2-40B4-BE49-F238E27FC236}">
                <a16:creationId xmlns:a16="http://schemas.microsoft.com/office/drawing/2014/main" id="{0B51B13C-3B7F-4FB5-B157-8413D762D2EF}"/>
              </a:ext>
            </a:extLst>
          </p:cNvPr>
          <p:cNvPicPr>
            <a:picLocks xmlns:a="http://schemas.openxmlformats.org/drawingml/2006/main" noChangeAspect="1"/>
          </p:cNvPicPr>
          <p:nvPr/>
        </p:nvPicPr>
        <p:blipFill>
          <a:blip xmlns:r="http://schemas.openxmlformats.org/officeDocument/2006/relationships" xmlns:a="http://schemas.openxmlformats.org/drawingml/2006/main" r:embed="R6153d404e71840c8"/>
          <a:stretch xmlns:a="http://schemas.openxmlformats.org/drawingml/2006/main"/>
        </p:blipFill>
        <p:spPr>
          <a:xfrm xmlns:a="http://schemas.openxmlformats.org/drawingml/2006/main">
            <a:off x="476250" y="1427247"/>
            <a:ext cx="11239500" cy="4117806"/>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8A0E2E4-B5C1-4728-8739-4BFAD4BBA20E}"/>
              </a:ext>
            </a:extLst>
          </p:cNvPr>
          <p:cNvSpPr>
            <a:spLocks xmlns:a="http://schemas.openxmlformats.org/drawingml/2006/main" noGrp="1"/>
          </p:cNvSpPr>
          <p:nvPr/>
        </p:nvSpPr>
        <p:spPr>
          <a:xfrm xmlns:a="http://schemas.openxmlformats.org/drawingml/2006/main">
            <a:off x="609600" y="577215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67D8D"/>
                </a:solidFill>
                <a:latin typeface="Arial"/>
                <a:ea typeface="Arial"/>
                <a:cs typeface="Arial"/>
              </a:defRPr>
            </a:defPPr>
            <a:lvl1pPr>
              <a:defRPr sz="2175" b="1">
                <a:solidFill>
                  <a:srgbClr val="167D8D"/>
                </a:solidFill>
                <a:latin typeface="Arial"/>
                <a:ea typeface="Arial"/>
                <a:cs typeface="Arial"/>
              </a:defRPr>
            </a:lvl1pPr>
            <a:lvl2pPr>
              <a:defRPr sz="2175" b="1">
                <a:solidFill>
                  <a:srgbClr val="167D8D"/>
                </a:solidFill>
                <a:latin typeface="Arial"/>
                <a:ea typeface="Arial"/>
                <a:cs typeface="Arial"/>
              </a:defRPr>
            </a:lvl2pPr>
            <a:lvl3pPr>
              <a:defRPr sz="2175" b="1">
                <a:solidFill>
                  <a:srgbClr val="167D8D"/>
                </a:solidFill>
                <a:latin typeface="Arial"/>
                <a:ea typeface="Arial"/>
                <a:cs typeface="Arial"/>
              </a:defRPr>
            </a:lvl3pPr>
            <a:lvl4pPr>
              <a:defRPr sz="2175" b="1">
                <a:solidFill>
                  <a:srgbClr val="167D8D"/>
                </a:solidFill>
                <a:latin typeface="Arial"/>
                <a:ea typeface="Arial"/>
                <a:cs typeface="Arial"/>
              </a:defRPr>
            </a:lvl4pPr>
            <a:lvl5pPr>
              <a:defRPr sz="2175" b="1">
                <a:solidFill>
                  <a:srgbClr val="167D8D"/>
                </a:solidFill>
                <a:latin typeface="Arial"/>
                <a:ea typeface="Arial"/>
                <a:cs typeface="Arial"/>
              </a:defRPr>
            </a:lvl5pPr>
            <a:lvl6pPr>
              <a:defRPr sz="2175" b="1">
                <a:solidFill>
                  <a:srgbClr val="167D8D"/>
                </a:solidFill>
                <a:latin typeface="Arial"/>
                <a:ea typeface="Arial"/>
                <a:cs typeface="Arial"/>
              </a:defRPr>
            </a:lvl6pPr>
            <a:lvl7pPr>
              <a:defRPr sz="2175" b="1">
                <a:solidFill>
                  <a:srgbClr val="167D8D"/>
                </a:solidFill>
                <a:latin typeface="Arial"/>
                <a:ea typeface="Arial"/>
                <a:cs typeface="Arial"/>
              </a:defRPr>
            </a:lvl7pPr>
            <a:lvl8pPr>
              <a:defRPr sz="2175" b="1">
                <a:solidFill>
                  <a:srgbClr val="167D8D"/>
                </a:solidFill>
                <a:latin typeface="Arial"/>
                <a:ea typeface="Arial"/>
                <a:cs typeface="Arial"/>
              </a:defRPr>
            </a:lvl8pPr>
            <a:lvl9pPr>
              <a:defRPr sz="2175" b="1">
                <a:solidFill>
                  <a:srgbClr val="167D8D"/>
                </a:solidFill>
                <a:latin typeface="Arial"/>
                <a:ea typeface="Arial"/>
                <a:cs typeface="Arial"/>
              </a:defRPr>
            </a:lvl9pPr>
          </a:lstStyle>
          <a:p xmlns:a="http://schemas.openxmlformats.org/drawingml/2006/main">
            <a:pPr>
              <a:defRPr sz="2175" b="1">
                <a:solidFill>
                  <a:srgbClr val="167D8D"/>
                </a:solidFill>
                <a:latin typeface="Arial"/>
                <a:ea typeface="Arial"/>
                <a:cs typeface="Arial"/>
              </a:defRPr>
            </a:pPr>
            <a:r>
              <a:rPr sz="2175" b="1">
                <a:solidFill>
                  <a:srgbClr val="167D8D"/>
                </a:solidFill>
                <a:latin typeface="Arial"/>
                <a:ea typeface="Arial"/>
                <a:cs typeface="Arial"/>
              </a:rPr>
              <a:t>При одинаковом возрасте прочность может сильно различаться</a:t>
            </a:r>
          </a:p>
        </p:txBody>
      </p:sp>
    </p:spTree>
    <p:extLst>
      <p:ext uri="{BB962C8B-B14F-4D97-AF65-F5344CB8AC3E}">
        <p14:creationId xmlns:p14="http://schemas.microsoft.com/office/powerpoint/2010/main" val="193169812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397763AF-79D4-477E-89FD-A3EEA889EFE7}"/>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152B3B"/>
                </a:solidFill>
                <a:latin typeface="Arial"/>
                <a:ea typeface="Arial"/>
                <a:cs typeface="Arial"/>
              </a:defRPr>
            </a:defPPr>
            <a:lvl1pPr>
              <a:defRPr sz="2850" b="1">
                <a:solidFill>
                  <a:srgbClr val="152B3B"/>
                </a:solidFill>
                <a:latin typeface="Arial"/>
                <a:ea typeface="Arial"/>
                <a:cs typeface="Arial"/>
              </a:defRPr>
            </a:lvl1pPr>
            <a:lvl2pPr>
              <a:defRPr sz="2850" b="1">
                <a:solidFill>
                  <a:srgbClr val="152B3B"/>
                </a:solidFill>
                <a:latin typeface="Arial"/>
                <a:ea typeface="Arial"/>
                <a:cs typeface="Arial"/>
              </a:defRPr>
            </a:lvl2pPr>
            <a:lvl3pPr>
              <a:defRPr sz="2850" b="1">
                <a:solidFill>
                  <a:srgbClr val="152B3B"/>
                </a:solidFill>
                <a:latin typeface="Arial"/>
                <a:ea typeface="Arial"/>
                <a:cs typeface="Arial"/>
              </a:defRPr>
            </a:lvl3pPr>
            <a:lvl4pPr>
              <a:defRPr sz="2850" b="1">
                <a:solidFill>
                  <a:srgbClr val="152B3B"/>
                </a:solidFill>
                <a:latin typeface="Arial"/>
                <a:ea typeface="Arial"/>
                <a:cs typeface="Arial"/>
              </a:defRPr>
            </a:lvl4pPr>
            <a:lvl5pPr>
              <a:defRPr sz="2850" b="1">
                <a:solidFill>
                  <a:srgbClr val="152B3B"/>
                </a:solidFill>
                <a:latin typeface="Arial"/>
                <a:ea typeface="Arial"/>
                <a:cs typeface="Arial"/>
              </a:defRPr>
            </a:lvl5pPr>
            <a:lvl6pPr>
              <a:defRPr sz="2850" b="1">
                <a:solidFill>
                  <a:srgbClr val="152B3B"/>
                </a:solidFill>
                <a:latin typeface="Arial"/>
                <a:ea typeface="Arial"/>
                <a:cs typeface="Arial"/>
              </a:defRPr>
            </a:lvl6pPr>
            <a:lvl7pPr>
              <a:defRPr sz="2850" b="1">
                <a:solidFill>
                  <a:srgbClr val="152B3B"/>
                </a:solidFill>
                <a:latin typeface="Arial"/>
                <a:ea typeface="Arial"/>
                <a:cs typeface="Arial"/>
              </a:defRPr>
            </a:lvl7pPr>
            <a:lvl8pPr>
              <a:defRPr sz="2850" b="1">
                <a:solidFill>
                  <a:srgbClr val="152B3B"/>
                </a:solidFill>
                <a:latin typeface="Arial"/>
                <a:ea typeface="Arial"/>
                <a:cs typeface="Arial"/>
              </a:defRPr>
            </a:lvl8pPr>
            <a:lvl9pPr>
              <a:defRPr sz="2850" b="1">
                <a:solidFill>
                  <a:srgbClr val="152B3B"/>
                </a:solidFill>
                <a:latin typeface="Arial"/>
                <a:ea typeface="Arial"/>
                <a:cs typeface="Arial"/>
              </a:defRPr>
            </a:lvl9pPr>
          </a:lstStyle>
          <a:p xmlns:a="http://schemas.openxmlformats.org/drawingml/2006/main">
            <a:pPr>
              <a:defRPr sz="2850" b="1">
                <a:solidFill>
                  <a:srgbClr val="152B3B"/>
                </a:solidFill>
                <a:latin typeface="Arial"/>
                <a:ea typeface="Arial"/>
                <a:cs typeface="Arial"/>
              </a:defRPr>
            </a:pPr>
            <a:r>
              <a:rPr sz="2850" b="1">
                <a:solidFill>
                  <a:srgbClr val="152B3B"/>
                </a:solidFill>
                <a:latin typeface="Arial"/>
                <a:ea typeface="Arial"/>
                <a:cs typeface="Arial"/>
              </a:rPr>
              <a:t>Рецептуры в обучении и тесте не пересекаются</a:t>
            </a:r>
          </a:p>
        </p:txBody>
      </p:sp>
      <p:sp>
        <p:nvSpPr>
          <p:cNvPr id="3" name="folio">
            <a:extLst xmlns:a="http://schemas.openxmlformats.org/drawingml/2006/main">
              <a:ext uri="{FF2B5EF4-FFF2-40B4-BE49-F238E27FC236}">
                <a16:creationId xmlns:a16="http://schemas.microsoft.com/office/drawing/2014/main" id="{7C8836D8-6475-40D6-B074-B65DD95CD464}"/>
              </a:ext>
            </a:extLst>
          </p:cNvPr>
          <p:cNvSpPr>
            <a:spLocks xmlns:a="http://schemas.openxmlformats.org/drawingml/2006/main" noGrp="1"/>
          </p:cNvSpPr>
          <p:nvPr/>
        </p:nvSpPr>
        <p:spPr>
          <a:xfrm xmlns:a="http://schemas.openxmlformats.org/drawingml/2006/main">
            <a:off x="11353800" y="64389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6776"/>
                </a:solidFill>
                <a:latin typeface="Arial"/>
                <a:ea typeface="Arial"/>
                <a:cs typeface="Arial"/>
              </a:defRPr>
            </a:defPPr>
            <a:lvl1pPr>
              <a:defRPr sz="1200" b="0">
                <a:solidFill>
                  <a:srgbClr val="526776"/>
                </a:solidFill>
                <a:latin typeface="Arial"/>
                <a:ea typeface="Arial"/>
                <a:cs typeface="Arial"/>
              </a:defRPr>
            </a:lvl1pPr>
            <a:lvl2pPr>
              <a:defRPr sz="1200" b="0">
                <a:solidFill>
                  <a:srgbClr val="526776"/>
                </a:solidFill>
                <a:latin typeface="Arial"/>
                <a:ea typeface="Arial"/>
                <a:cs typeface="Arial"/>
              </a:defRPr>
            </a:lvl2pPr>
            <a:lvl3pPr>
              <a:defRPr sz="1200" b="0">
                <a:solidFill>
                  <a:srgbClr val="526776"/>
                </a:solidFill>
                <a:latin typeface="Arial"/>
                <a:ea typeface="Arial"/>
                <a:cs typeface="Arial"/>
              </a:defRPr>
            </a:lvl3pPr>
            <a:lvl4pPr>
              <a:defRPr sz="1200" b="0">
                <a:solidFill>
                  <a:srgbClr val="526776"/>
                </a:solidFill>
                <a:latin typeface="Arial"/>
                <a:ea typeface="Arial"/>
                <a:cs typeface="Arial"/>
              </a:defRPr>
            </a:lvl4pPr>
            <a:lvl5pPr>
              <a:defRPr sz="1200" b="0">
                <a:solidFill>
                  <a:srgbClr val="526776"/>
                </a:solidFill>
                <a:latin typeface="Arial"/>
                <a:ea typeface="Arial"/>
                <a:cs typeface="Arial"/>
              </a:defRPr>
            </a:lvl5pPr>
            <a:lvl6pPr>
              <a:defRPr sz="1200" b="0">
                <a:solidFill>
                  <a:srgbClr val="526776"/>
                </a:solidFill>
                <a:latin typeface="Arial"/>
                <a:ea typeface="Arial"/>
                <a:cs typeface="Arial"/>
              </a:defRPr>
            </a:lvl6pPr>
            <a:lvl7pPr>
              <a:defRPr sz="1200" b="0">
                <a:solidFill>
                  <a:srgbClr val="526776"/>
                </a:solidFill>
                <a:latin typeface="Arial"/>
                <a:ea typeface="Arial"/>
                <a:cs typeface="Arial"/>
              </a:defRPr>
            </a:lvl7pPr>
            <a:lvl8pPr>
              <a:defRPr sz="1200" b="0">
                <a:solidFill>
                  <a:srgbClr val="526776"/>
                </a:solidFill>
                <a:latin typeface="Arial"/>
                <a:ea typeface="Arial"/>
                <a:cs typeface="Arial"/>
              </a:defRPr>
            </a:lvl8pPr>
            <a:lvl9pPr>
              <a:defRPr sz="1200" b="0">
                <a:solidFill>
                  <a:srgbClr val="526776"/>
                </a:solidFill>
                <a:latin typeface="Arial"/>
                <a:ea typeface="Arial"/>
                <a:cs typeface="Arial"/>
              </a:defRPr>
            </a:lvl9pPr>
          </a:lstStyle>
          <a:p xmlns:a="http://schemas.openxmlformats.org/drawingml/2006/main">
            <a:pPr>
              <a:defRPr sz="1200" b="0">
                <a:solidFill>
                  <a:srgbClr val="526776"/>
                </a:solidFill>
                <a:latin typeface="Arial"/>
                <a:ea typeface="Arial"/>
                <a:cs typeface="Arial"/>
              </a:defRPr>
            </a:pPr>
            <a:r>
              <a:rPr sz="1200" b="0">
                <a:solidFill>
                  <a:srgbClr val="526776"/>
                </a:solidFill>
                <a:latin typeface="Arial"/>
                <a:ea typeface="Arial"/>
                <a:cs typeface="Arial"/>
              </a:rPr>
              <a:t>6</a:t>
            </a:r>
          </a:p>
        </p:txBody>
      </p:sp>
      <p:sp>
        <p:nvSpPr>
          <p:cNvPr id="4" name="">
            <a:extLst xmlns:a="http://schemas.openxmlformats.org/drawingml/2006/main">
              <a:ext uri="{FF2B5EF4-FFF2-40B4-BE49-F238E27FC236}">
                <a16:creationId xmlns:a16="http://schemas.microsoft.com/office/drawing/2014/main" id="{391C7331-C002-4C46-B13B-C0B4C416D5E3}"/>
              </a:ext>
            </a:extLst>
          </p:cNvPr>
          <p:cNvSpPr>
            <a:spLocks xmlns:a="http://schemas.openxmlformats.org/drawingml/2006/main" noGrp="1"/>
          </p:cNvSpPr>
          <p:nvPr/>
        </p:nvSpPr>
        <p:spPr>
          <a:xfrm xmlns:a="http://schemas.openxmlformats.org/drawingml/2006/main">
            <a:off x="609600" y="1647825"/>
            <a:ext cx="485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050" b="1">
                <a:solidFill>
                  <a:srgbClr val="167D8D"/>
                </a:solidFill>
                <a:latin typeface="Arial"/>
                <a:ea typeface="Arial"/>
                <a:cs typeface="Arial"/>
              </a:defRPr>
            </a:defPPr>
            <a:lvl1pPr>
              <a:defRPr sz="4050" b="1">
                <a:solidFill>
                  <a:srgbClr val="167D8D"/>
                </a:solidFill>
                <a:latin typeface="Arial"/>
                <a:ea typeface="Arial"/>
                <a:cs typeface="Arial"/>
              </a:defRPr>
            </a:lvl1pPr>
            <a:lvl2pPr>
              <a:defRPr sz="4050" b="1">
                <a:solidFill>
                  <a:srgbClr val="167D8D"/>
                </a:solidFill>
                <a:latin typeface="Arial"/>
                <a:ea typeface="Arial"/>
                <a:cs typeface="Arial"/>
              </a:defRPr>
            </a:lvl2pPr>
            <a:lvl3pPr>
              <a:defRPr sz="4050" b="1">
                <a:solidFill>
                  <a:srgbClr val="167D8D"/>
                </a:solidFill>
                <a:latin typeface="Arial"/>
                <a:ea typeface="Arial"/>
                <a:cs typeface="Arial"/>
              </a:defRPr>
            </a:lvl3pPr>
            <a:lvl4pPr>
              <a:defRPr sz="4050" b="1">
                <a:solidFill>
                  <a:srgbClr val="167D8D"/>
                </a:solidFill>
                <a:latin typeface="Arial"/>
                <a:ea typeface="Arial"/>
                <a:cs typeface="Arial"/>
              </a:defRPr>
            </a:lvl4pPr>
            <a:lvl5pPr>
              <a:defRPr sz="4050" b="1">
                <a:solidFill>
                  <a:srgbClr val="167D8D"/>
                </a:solidFill>
                <a:latin typeface="Arial"/>
                <a:ea typeface="Arial"/>
                <a:cs typeface="Arial"/>
              </a:defRPr>
            </a:lvl5pPr>
            <a:lvl6pPr>
              <a:defRPr sz="4050" b="1">
                <a:solidFill>
                  <a:srgbClr val="167D8D"/>
                </a:solidFill>
                <a:latin typeface="Arial"/>
                <a:ea typeface="Arial"/>
                <a:cs typeface="Arial"/>
              </a:defRPr>
            </a:lvl6pPr>
            <a:lvl7pPr>
              <a:defRPr sz="4050" b="1">
                <a:solidFill>
                  <a:srgbClr val="167D8D"/>
                </a:solidFill>
                <a:latin typeface="Arial"/>
                <a:ea typeface="Arial"/>
                <a:cs typeface="Arial"/>
              </a:defRPr>
            </a:lvl7pPr>
            <a:lvl8pPr>
              <a:defRPr sz="4050" b="1">
                <a:solidFill>
                  <a:srgbClr val="167D8D"/>
                </a:solidFill>
                <a:latin typeface="Arial"/>
                <a:ea typeface="Arial"/>
                <a:cs typeface="Arial"/>
              </a:defRPr>
            </a:lvl8pPr>
            <a:lvl9pPr>
              <a:defRPr sz="4050" b="1">
                <a:solidFill>
                  <a:srgbClr val="167D8D"/>
                </a:solidFill>
                <a:latin typeface="Arial"/>
                <a:ea typeface="Arial"/>
                <a:cs typeface="Arial"/>
              </a:defRPr>
            </a:lvl9pPr>
          </a:lstStyle>
          <a:p xmlns:a="http://schemas.openxmlformats.org/drawingml/2006/main">
            <a:pPr>
              <a:defRPr sz="4050" b="1">
                <a:solidFill>
                  <a:srgbClr val="167D8D"/>
                </a:solidFill>
                <a:latin typeface="Arial"/>
                <a:ea typeface="Arial"/>
                <a:cs typeface="Arial"/>
              </a:defRPr>
            </a:pPr>
            <a:r>
              <a:rPr sz="4050" b="1">
                <a:solidFill>
                  <a:srgbClr val="167D8D"/>
                </a:solidFill>
                <a:latin typeface="Arial"/>
                <a:ea typeface="Arial"/>
                <a:cs typeface="Arial"/>
              </a:rPr>
              <a:t>799 строк</a:t>
            </a:r>
          </a:p>
        </p:txBody>
      </p:sp>
      <p:sp>
        <p:nvSpPr>
          <p:cNvPr id="5" name="">
            <a:extLst xmlns:a="http://schemas.openxmlformats.org/drawingml/2006/main">
              <a:ext uri="{FF2B5EF4-FFF2-40B4-BE49-F238E27FC236}">
                <a16:creationId xmlns:a16="http://schemas.microsoft.com/office/drawing/2014/main" id="{E3D078B5-C182-4580-8381-FF30BC1E2999}"/>
              </a:ext>
            </a:extLst>
          </p:cNvPr>
          <p:cNvSpPr>
            <a:spLocks xmlns:a="http://schemas.openxmlformats.org/drawingml/2006/main" noGrp="1"/>
          </p:cNvSpPr>
          <p:nvPr/>
        </p:nvSpPr>
        <p:spPr>
          <a:xfrm xmlns:a="http://schemas.openxmlformats.org/drawingml/2006/main">
            <a:off x="609600" y="2524125"/>
            <a:ext cx="5286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152B3B"/>
                </a:solidFill>
                <a:latin typeface="Arial"/>
                <a:ea typeface="Arial"/>
                <a:cs typeface="Arial"/>
              </a:defRPr>
            </a:defPPr>
            <a:lvl1pPr>
              <a:defRPr sz="2250" b="0">
                <a:solidFill>
                  <a:srgbClr val="152B3B"/>
                </a:solidFill>
                <a:latin typeface="Arial"/>
                <a:ea typeface="Arial"/>
                <a:cs typeface="Arial"/>
              </a:defRPr>
            </a:lvl1pPr>
            <a:lvl2pPr>
              <a:defRPr sz="2250" b="0">
                <a:solidFill>
                  <a:srgbClr val="152B3B"/>
                </a:solidFill>
                <a:latin typeface="Arial"/>
                <a:ea typeface="Arial"/>
                <a:cs typeface="Arial"/>
              </a:defRPr>
            </a:lvl2pPr>
            <a:lvl3pPr>
              <a:defRPr sz="2250" b="0">
                <a:solidFill>
                  <a:srgbClr val="152B3B"/>
                </a:solidFill>
                <a:latin typeface="Arial"/>
                <a:ea typeface="Arial"/>
                <a:cs typeface="Arial"/>
              </a:defRPr>
            </a:lvl3pPr>
            <a:lvl4pPr>
              <a:defRPr sz="2250" b="0">
                <a:solidFill>
                  <a:srgbClr val="152B3B"/>
                </a:solidFill>
                <a:latin typeface="Arial"/>
                <a:ea typeface="Arial"/>
                <a:cs typeface="Arial"/>
              </a:defRPr>
            </a:lvl4pPr>
            <a:lvl5pPr>
              <a:defRPr sz="2250" b="0">
                <a:solidFill>
                  <a:srgbClr val="152B3B"/>
                </a:solidFill>
                <a:latin typeface="Arial"/>
                <a:ea typeface="Arial"/>
                <a:cs typeface="Arial"/>
              </a:defRPr>
            </a:lvl5pPr>
            <a:lvl6pPr>
              <a:defRPr sz="2250" b="0">
                <a:solidFill>
                  <a:srgbClr val="152B3B"/>
                </a:solidFill>
                <a:latin typeface="Arial"/>
                <a:ea typeface="Arial"/>
                <a:cs typeface="Arial"/>
              </a:defRPr>
            </a:lvl6pPr>
            <a:lvl7pPr>
              <a:defRPr sz="2250" b="0">
                <a:solidFill>
                  <a:srgbClr val="152B3B"/>
                </a:solidFill>
                <a:latin typeface="Arial"/>
                <a:ea typeface="Arial"/>
                <a:cs typeface="Arial"/>
              </a:defRPr>
            </a:lvl7pPr>
            <a:lvl8pPr>
              <a:defRPr sz="2250" b="0">
                <a:solidFill>
                  <a:srgbClr val="152B3B"/>
                </a:solidFill>
                <a:latin typeface="Arial"/>
                <a:ea typeface="Arial"/>
                <a:cs typeface="Arial"/>
              </a:defRPr>
            </a:lvl8pPr>
            <a:lvl9pPr>
              <a:defRPr sz="2250" b="0">
                <a:solidFill>
                  <a:srgbClr val="152B3B"/>
                </a:solidFill>
                <a:latin typeface="Arial"/>
                <a:ea typeface="Arial"/>
                <a:cs typeface="Arial"/>
              </a:defRPr>
            </a:lvl9pPr>
          </a:lstStyle>
          <a:p xmlns:a="http://schemas.openxmlformats.org/drawingml/2006/main">
            <a:pPr>
              <a:defRPr sz="2250" b="0">
                <a:solidFill>
                  <a:srgbClr val="152B3B"/>
                </a:solidFill>
                <a:latin typeface="Arial"/>
                <a:ea typeface="Arial"/>
                <a:cs typeface="Arial"/>
              </a:defRPr>
            </a:pPr>
            <a:r>
              <a:rPr sz="2250" b="0">
                <a:solidFill>
                  <a:srgbClr val="152B3B"/>
                </a:solidFill>
                <a:latin typeface="Arial"/>
                <a:ea typeface="Arial"/>
                <a:cs typeface="Arial"/>
              </a:rPr>
              <a:t>Обучение: 342 рецептуры</a:t>
            </a:r>
          </a:p>
        </p:txBody>
      </p:sp>
      <p:sp>
        <p:nvSpPr>
          <p:cNvPr id="6" name="">
            <a:extLst xmlns:a="http://schemas.openxmlformats.org/drawingml/2006/main">
              <a:ext uri="{FF2B5EF4-FFF2-40B4-BE49-F238E27FC236}">
                <a16:creationId xmlns:a16="http://schemas.microsoft.com/office/drawing/2014/main" id="{E82C6BB6-B5D4-4529-A579-AF1C47A23C40}"/>
              </a:ext>
            </a:extLst>
          </p:cNvPr>
          <p:cNvSpPr>
            <a:spLocks xmlns:a="http://schemas.openxmlformats.org/drawingml/2006/main" noGrp="1"/>
          </p:cNvSpPr>
          <p:nvPr/>
        </p:nvSpPr>
        <p:spPr>
          <a:xfrm xmlns:a="http://schemas.openxmlformats.org/drawingml/2006/main">
            <a:off x="6867525" y="1647825"/>
            <a:ext cx="4667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050" b="1">
                <a:solidFill>
                  <a:srgbClr val="D97742"/>
                </a:solidFill>
                <a:latin typeface="Arial"/>
                <a:ea typeface="Arial"/>
                <a:cs typeface="Arial"/>
              </a:defRPr>
            </a:defPPr>
            <a:lvl1pPr>
              <a:defRPr sz="4050" b="1">
                <a:solidFill>
                  <a:srgbClr val="D97742"/>
                </a:solidFill>
                <a:latin typeface="Arial"/>
                <a:ea typeface="Arial"/>
                <a:cs typeface="Arial"/>
              </a:defRPr>
            </a:lvl1pPr>
            <a:lvl2pPr>
              <a:defRPr sz="4050" b="1">
                <a:solidFill>
                  <a:srgbClr val="D97742"/>
                </a:solidFill>
                <a:latin typeface="Arial"/>
                <a:ea typeface="Arial"/>
                <a:cs typeface="Arial"/>
              </a:defRPr>
            </a:lvl2pPr>
            <a:lvl3pPr>
              <a:defRPr sz="4050" b="1">
                <a:solidFill>
                  <a:srgbClr val="D97742"/>
                </a:solidFill>
                <a:latin typeface="Arial"/>
                <a:ea typeface="Arial"/>
                <a:cs typeface="Arial"/>
              </a:defRPr>
            </a:lvl3pPr>
            <a:lvl4pPr>
              <a:defRPr sz="4050" b="1">
                <a:solidFill>
                  <a:srgbClr val="D97742"/>
                </a:solidFill>
                <a:latin typeface="Arial"/>
                <a:ea typeface="Arial"/>
                <a:cs typeface="Arial"/>
              </a:defRPr>
            </a:lvl4pPr>
            <a:lvl5pPr>
              <a:defRPr sz="4050" b="1">
                <a:solidFill>
                  <a:srgbClr val="D97742"/>
                </a:solidFill>
                <a:latin typeface="Arial"/>
                <a:ea typeface="Arial"/>
                <a:cs typeface="Arial"/>
              </a:defRPr>
            </a:lvl5pPr>
            <a:lvl6pPr>
              <a:defRPr sz="4050" b="1">
                <a:solidFill>
                  <a:srgbClr val="D97742"/>
                </a:solidFill>
                <a:latin typeface="Arial"/>
                <a:ea typeface="Arial"/>
                <a:cs typeface="Arial"/>
              </a:defRPr>
            </a:lvl6pPr>
            <a:lvl7pPr>
              <a:defRPr sz="4050" b="1">
                <a:solidFill>
                  <a:srgbClr val="D97742"/>
                </a:solidFill>
                <a:latin typeface="Arial"/>
                <a:ea typeface="Arial"/>
                <a:cs typeface="Arial"/>
              </a:defRPr>
            </a:lvl7pPr>
            <a:lvl8pPr>
              <a:defRPr sz="4050" b="1">
                <a:solidFill>
                  <a:srgbClr val="D97742"/>
                </a:solidFill>
                <a:latin typeface="Arial"/>
                <a:ea typeface="Arial"/>
                <a:cs typeface="Arial"/>
              </a:defRPr>
            </a:lvl8pPr>
            <a:lvl9pPr>
              <a:defRPr sz="4050" b="1">
                <a:solidFill>
                  <a:srgbClr val="D97742"/>
                </a:solidFill>
                <a:latin typeface="Arial"/>
                <a:ea typeface="Arial"/>
                <a:cs typeface="Arial"/>
              </a:defRPr>
            </a:lvl9pPr>
          </a:lstStyle>
          <a:p xmlns:a="http://schemas.openxmlformats.org/drawingml/2006/main">
            <a:pPr>
              <a:defRPr sz="4050" b="1">
                <a:solidFill>
                  <a:srgbClr val="D97742"/>
                </a:solidFill>
                <a:latin typeface="Arial"/>
                <a:ea typeface="Arial"/>
                <a:cs typeface="Arial"/>
              </a:defRPr>
            </a:pPr>
            <a:r>
              <a:rPr sz="4050" b="1">
                <a:solidFill>
                  <a:srgbClr val="D97742"/>
                </a:solidFill>
                <a:latin typeface="Arial"/>
                <a:ea typeface="Arial"/>
                <a:cs typeface="Arial"/>
              </a:rPr>
              <a:t>206 строк</a:t>
            </a:r>
          </a:p>
        </p:txBody>
      </p:sp>
      <p:sp>
        <p:nvSpPr>
          <p:cNvPr id="7" name="">
            <a:extLst xmlns:a="http://schemas.openxmlformats.org/drawingml/2006/main">
              <a:ext uri="{FF2B5EF4-FFF2-40B4-BE49-F238E27FC236}">
                <a16:creationId xmlns:a16="http://schemas.microsoft.com/office/drawing/2014/main" id="{9B72382A-A58F-416F-AF07-2331D1120CA4}"/>
              </a:ext>
            </a:extLst>
          </p:cNvPr>
          <p:cNvSpPr>
            <a:spLocks xmlns:a="http://schemas.openxmlformats.org/drawingml/2006/main" noGrp="1"/>
          </p:cNvSpPr>
          <p:nvPr/>
        </p:nvSpPr>
        <p:spPr>
          <a:xfrm xmlns:a="http://schemas.openxmlformats.org/drawingml/2006/main">
            <a:off x="6867525" y="2524125"/>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152B3B"/>
                </a:solidFill>
                <a:latin typeface="Arial"/>
                <a:ea typeface="Arial"/>
                <a:cs typeface="Arial"/>
              </a:defRPr>
            </a:defPPr>
            <a:lvl1pPr>
              <a:defRPr sz="2250" b="0">
                <a:solidFill>
                  <a:srgbClr val="152B3B"/>
                </a:solidFill>
                <a:latin typeface="Arial"/>
                <a:ea typeface="Arial"/>
                <a:cs typeface="Arial"/>
              </a:defRPr>
            </a:lvl1pPr>
            <a:lvl2pPr>
              <a:defRPr sz="2250" b="0">
                <a:solidFill>
                  <a:srgbClr val="152B3B"/>
                </a:solidFill>
                <a:latin typeface="Arial"/>
                <a:ea typeface="Arial"/>
                <a:cs typeface="Arial"/>
              </a:defRPr>
            </a:lvl2pPr>
            <a:lvl3pPr>
              <a:defRPr sz="2250" b="0">
                <a:solidFill>
                  <a:srgbClr val="152B3B"/>
                </a:solidFill>
                <a:latin typeface="Arial"/>
                <a:ea typeface="Arial"/>
                <a:cs typeface="Arial"/>
              </a:defRPr>
            </a:lvl3pPr>
            <a:lvl4pPr>
              <a:defRPr sz="2250" b="0">
                <a:solidFill>
                  <a:srgbClr val="152B3B"/>
                </a:solidFill>
                <a:latin typeface="Arial"/>
                <a:ea typeface="Arial"/>
                <a:cs typeface="Arial"/>
              </a:defRPr>
            </a:lvl4pPr>
            <a:lvl5pPr>
              <a:defRPr sz="2250" b="0">
                <a:solidFill>
                  <a:srgbClr val="152B3B"/>
                </a:solidFill>
                <a:latin typeface="Arial"/>
                <a:ea typeface="Arial"/>
                <a:cs typeface="Arial"/>
              </a:defRPr>
            </a:lvl5pPr>
            <a:lvl6pPr>
              <a:defRPr sz="2250" b="0">
                <a:solidFill>
                  <a:srgbClr val="152B3B"/>
                </a:solidFill>
                <a:latin typeface="Arial"/>
                <a:ea typeface="Arial"/>
                <a:cs typeface="Arial"/>
              </a:defRPr>
            </a:lvl6pPr>
            <a:lvl7pPr>
              <a:defRPr sz="2250" b="0">
                <a:solidFill>
                  <a:srgbClr val="152B3B"/>
                </a:solidFill>
                <a:latin typeface="Arial"/>
                <a:ea typeface="Arial"/>
                <a:cs typeface="Arial"/>
              </a:defRPr>
            </a:lvl7pPr>
            <a:lvl8pPr>
              <a:defRPr sz="2250" b="0">
                <a:solidFill>
                  <a:srgbClr val="152B3B"/>
                </a:solidFill>
                <a:latin typeface="Arial"/>
                <a:ea typeface="Arial"/>
                <a:cs typeface="Arial"/>
              </a:defRPr>
            </a:lvl8pPr>
            <a:lvl9pPr>
              <a:defRPr sz="2250" b="0">
                <a:solidFill>
                  <a:srgbClr val="152B3B"/>
                </a:solidFill>
                <a:latin typeface="Arial"/>
                <a:ea typeface="Arial"/>
                <a:cs typeface="Arial"/>
              </a:defRPr>
            </a:lvl9pPr>
          </a:lstStyle>
          <a:p xmlns:a="http://schemas.openxmlformats.org/drawingml/2006/main">
            <a:pPr>
              <a:defRPr sz="2250" b="0">
                <a:solidFill>
                  <a:srgbClr val="152B3B"/>
                </a:solidFill>
                <a:latin typeface="Arial"/>
                <a:ea typeface="Arial"/>
                <a:cs typeface="Arial"/>
              </a:defRPr>
            </a:pPr>
            <a:r>
              <a:rPr sz="2250" b="0">
                <a:solidFill>
                  <a:srgbClr val="152B3B"/>
                </a:solidFill>
                <a:latin typeface="Arial"/>
                <a:ea typeface="Arial"/>
                <a:cs typeface="Arial"/>
              </a:rPr>
              <a:t>Тест: 86 рецептур</a:t>
            </a:r>
          </a:p>
        </p:txBody>
      </p:sp>
      <p:sp>
        <p:nvSpPr>
          <p:cNvPr id="8" name="">
            <a:extLst xmlns:a="http://schemas.openxmlformats.org/drawingml/2006/main">
              <a:ext uri="{FF2B5EF4-FFF2-40B4-BE49-F238E27FC236}">
                <a16:creationId xmlns:a16="http://schemas.microsoft.com/office/drawing/2014/main" id="{1CE377BE-DC84-4AF8-8319-E553A022A15F}"/>
              </a:ext>
            </a:extLst>
          </p:cNvPr>
          <p:cNvSpPr>
            <a:spLocks xmlns:a="http://schemas.openxmlformats.org/drawingml/2006/main" noGrp="1"/>
          </p:cNvSpPr>
          <p:nvPr/>
        </p:nvSpPr>
        <p:spPr>
          <a:xfrm xmlns:a="http://schemas.openxmlformats.org/drawingml/2006/main">
            <a:off x="609600" y="36766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152B3B"/>
                </a:solidFill>
                <a:latin typeface="Arial"/>
                <a:ea typeface="Arial"/>
                <a:cs typeface="Arial"/>
              </a:defRPr>
            </a:defPPr>
            <a:lvl1pPr>
              <a:defRPr sz="2475" b="1">
                <a:solidFill>
                  <a:srgbClr val="152B3B"/>
                </a:solidFill>
                <a:latin typeface="Arial"/>
                <a:ea typeface="Arial"/>
                <a:cs typeface="Arial"/>
              </a:defRPr>
            </a:lvl1pPr>
            <a:lvl2pPr>
              <a:defRPr sz="2475" b="1">
                <a:solidFill>
                  <a:srgbClr val="152B3B"/>
                </a:solidFill>
                <a:latin typeface="Arial"/>
                <a:ea typeface="Arial"/>
                <a:cs typeface="Arial"/>
              </a:defRPr>
            </a:lvl2pPr>
            <a:lvl3pPr>
              <a:defRPr sz="2475" b="1">
                <a:solidFill>
                  <a:srgbClr val="152B3B"/>
                </a:solidFill>
                <a:latin typeface="Arial"/>
                <a:ea typeface="Arial"/>
                <a:cs typeface="Arial"/>
              </a:defRPr>
            </a:lvl3pPr>
            <a:lvl4pPr>
              <a:defRPr sz="2475" b="1">
                <a:solidFill>
                  <a:srgbClr val="152B3B"/>
                </a:solidFill>
                <a:latin typeface="Arial"/>
                <a:ea typeface="Arial"/>
                <a:cs typeface="Arial"/>
              </a:defRPr>
            </a:lvl4pPr>
            <a:lvl5pPr>
              <a:defRPr sz="2475" b="1">
                <a:solidFill>
                  <a:srgbClr val="152B3B"/>
                </a:solidFill>
                <a:latin typeface="Arial"/>
                <a:ea typeface="Arial"/>
                <a:cs typeface="Arial"/>
              </a:defRPr>
            </a:lvl5pPr>
            <a:lvl6pPr>
              <a:defRPr sz="2475" b="1">
                <a:solidFill>
                  <a:srgbClr val="152B3B"/>
                </a:solidFill>
                <a:latin typeface="Arial"/>
                <a:ea typeface="Arial"/>
                <a:cs typeface="Arial"/>
              </a:defRPr>
            </a:lvl6pPr>
            <a:lvl7pPr>
              <a:defRPr sz="2475" b="1">
                <a:solidFill>
                  <a:srgbClr val="152B3B"/>
                </a:solidFill>
                <a:latin typeface="Arial"/>
                <a:ea typeface="Arial"/>
                <a:cs typeface="Arial"/>
              </a:defRPr>
            </a:lvl7pPr>
            <a:lvl8pPr>
              <a:defRPr sz="2475" b="1">
                <a:solidFill>
                  <a:srgbClr val="152B3B"/>
                </a:solidFill>
                <a:latin typeface="Arial"/>
                <a:ea typeface="Arial"/>
                <a:cs typeface="Arial"/>
              </a:defRPr>
            </a:lvl8pPr>
            <a:lvl9pPr>
              <a:defRPr sz="2475" b="1">
                <a:solidFill>
                  <a:srgbClr val="152B3B"/>
                </a:solidFill>
                <a:latin typeface="Arial"/>
                <a:ea typeface="Arial"/>
                <a:cs typeface="Arial"/>
              </a:defRPr>
            </a:lvl9pPr>
          </a:lstStyle>
          <a:p xmlns:a="http://schemas.openxmlformats.org/drawingml/2006/main">
            <a:pPr>
              <a:defRPr sz="2475" b="1">
                <a:solidFill>
                  <a:srgbClr val="152B3B"/>
                </a:solidFill>
                <a:latin typeface="Arial"/>
                <a:ea typeface="Arial"/>
                <a:cs typeface="Arial"/>
              </a:defRPr>
            </a:pPr>
            <a:r>
              <a:rPr sz="2475" b="1">
                <a:solidFill>
                  <a:srgbClr val="152B3B"/>
                </a:solidFill>
                <a:latin typeface="Arial"/>
                <a:ea typeface="Arial"/>
                <a:cs typeface="Arial"/>
              </a:rPr>
              <a:t>Измерения одной рецептуры остаются вместе</a:t>
            </a:r>
          </a:p>
        </p:txBody>
      </p:sp>
      <p:sp>
        <p:nvSpPr>
          <p:cNvPr id="9" name="">
            <a:extLst xmlns:a="http://schemas.openxmlformats.org/drawingml/2006/main">
              <a:ext uri="{FF2B5EF4-FFF2-40B4-BE49-F238E27FC236}">
                <a16:creationId xmlns:a16="http://schemas.microsoft.com/office/drawing/2014/main" id="{365080D5-ED12-411A-BBF2-1666977303B0}"/>
              </a:ext>
            </a:extLst>
          </p:cNvPr>
          <p:cNvSpPr>
            <a:spLocks xmlns:a="http://schemas.openxmlformats.org/drawingml/2006/main" noGrp="1"/>
          </p:cNvSpPr>
          <p:nvPr/>
        </p:nvSpPr>
        <p:spPr>
          <a:xfrm xmlns:a="http://schemas.openxmlformats.org/drawingml/2006/main">
            <a:off x="609600" y="45148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52B3B"/>
                </a:solidFill>
                <a:latin typeface="Arial"/>
                <a:ea typeface="Arial"/>
                <a:cs typeface="Arial"/>
              </a:defRPr>
            </a:defPPr>
            <a:lvl1pPr>
              <a:defRPr sz="2100" b="0">
                <a:solidFill>
                  <a:srgbClr val="152B3B"/>
                </a:solidFill>
                <a:latin typeface="Arial"/>
                <a:ea typeface="Arial"/>
                <a:cs typeface="Arial"/>
              </a:defRPr>
            </a:lvl1pPr>
            <a:lvl2pPr>
              <a:defRPr sz="2100" b="0">
                <a:solidFill>
                  <a:srgbClr val="152B3B"/>
                </a:solidFill>
                <a:latin typeface="Arial"/>
                <a:ea typeface="Arial"/>
                <a:cs typeface="Arial"/>
              </a:defRPr>
            </a:lvl2pPr>
            <a:lvl3pPr>
              <a:defRPr sz="2100" b="0">
                <a:solidFill>
                  <a:srgbClr val="152B3B"/>
                </a:solidFill>
                <a:latin typeface="Arial"/>
                <a:ea typeface="Arial"/>
                <a:cs typeface="Arial"/>
              </a:defRPr>
            </a:lvl3pPr>
            <a:lvl4pPr>
              <a:defRPr sz="2100" b="0">
                <a:solidFill>
                  <a:srgbClr val="152B3B"/>
                </a:solidFill>
                <a:latin typeface="Arial"/>
                <a:ea typeface="Arial"/>
                <a:cs typeface="Arial"/>
              </a:defRPr>
            </a:lvl4pPr>
            <a:lvl5pPr>
              <a:defRPr sz="2100" b="0">
                <a:solidFill>
                  <a:srgbClr val="152B3B"/>
                </a:solidFill>
                <a:latin typeface="Arial"/>
                <a:ea typeface="Arial"/>
                <a:cs typeface="Arial"/>
              </a:defRPr>
            </a:lvl5pPr>
            <a:lvl6pPr>
              <a:defRPr sz="2100" b="0">
                <a:solidFill>
                  <a:srgbClr val="152B3B"/>
                </a:solidFill>
                <a:latin typeface="Arial"/>
                <a:ea typeface="Arial"/>
                <a:cs typeface="Arial"/>
              </a:defRPr>
            </a:lvl6pPr>
            <a:lvl7pPr>
              <a:defRPr sz="2100" b="0">
                <a:solidFill>
                  <a:srgbClr val="152B3B"/>
                </a:solidFill>
                <a:latin typeface="Arial"/>
                <a:ea typeface="Arial"/>
                <a:cs typeface="Arial"/>
              </a:defRPr>
            </a:lvl7pPr>
            <a:lvl8pPr>
              <a:defRPr sz="2100" b="0">
                <a:solidFill>
                  <a:srgbClr val="152B3B"/>
                </a:solidFill>
                <a:latin typeface="Arial"/>
                <a:ea typeface="Arial"/>
                <a:cs typeface="Arial"/>
              </a:defRPr>
            </a:lvl8pPr>
            <a:lvl9pPr>
              <a:defRPr sz="2100" b="0">
                <a:solidFill>
                  <a:srgbClr val="152B3B"/>
                </a:solidFill>
                <a:latin typeface="Arial"/>
                <a:ea typeface="Arial"/>
                <a:cs typeface="Arial"/>
              </a:defRPr>
            </a:lvl9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Настройка: 5 групповых фолдов внутри train.</a:t>
            </a:r>
          </a:p>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Тест используем для итоговой оценки и разбора ошибок.</a:t>
            </a:r>
          </a:p>
        </p:txBody>
      </p:sp>
      <p:sp>
        <p:nvSpPr>
          <p:cNvPr id="10" name="">
            <a:extLst xmlns:a="http://schemas.openxmlformats.org/drawingml/2006/main">
              <a:ext uri="{FF2B5EF4-FFF2-40B4-BE49-F238E27FC236}">
                <a16:creationId xmlns:a16="http://schemas.microsoft.com/office/drawing/2014/main" id="{5B295DF9-58B2-4CDD-A69A-704F3176F1AF}"/>
              </a:ext>
            </a:extLst>
          </p:cNvPr>
          <p:cNvSpPr>
            <a:spLocks xmlns:a="http://schemas.openxmlformats.org/drawingml/2006/main" noGrp="1"/>
          </p:cNvSpPr>
          <p:nvPr/>
        </p:nvSpPr>
        <p:spPr>
          <a:xfrm xmlns:a="http://schemas.openxmlformats.org/drawingml/2006/main">
            <a:off x="609600" y="6019800"/>
            <a:ext cx="10906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526776"/>
                </a:solidFill>
                <a:latin typeface="Arial"/>
                <a:ea typeface="Arial"/>
                <a:cs typeface="Arial"/>
              </a:defRPr>
            </a:defPPr>
            <a:lvl1pPr>
              <a:defRPr sz="1500" b="0">
                <a:solidFill>
                  <a:srgbClr val="526776"/>
                </a:solidFill>
                <a:latin typeface="Arial"/>
                <a:ea typeface="Arial"/>
                <a:cs typeface="Arial"/>
              </a:defRPr>
            </a:lvl1pPr>
            <a:lvl2pPr>
              <a:defRPr sz="1500" b="0">
                <a:solidFill>
                  <a:srgbClr val="526776"/>
                </a:solidFill>
                <a:latin typeface="Arial"/>
                <a:ea typeface="Arial"/>
                <a:cs typeface="Arial"/>
              </a:defRPr>
            </a:lvl2pPr>
            <a:lvl3pPr>
              <a:defRPr sz="1500" b="0">
                <a:solidFill>
                  <a:srgbClr val="526776"/>
                </a:solidFill>
                <a:latin typeface="Arial"/>
                <a:ea typeface="Arial"/>
                <a:cs typeface="Arial"/>
              </a:defRPr>
            </a:lvl3pPr>
            <a:lvl4pPr>
              <a:defRPr sz="1500" b="0">
                <a:solidFill>
                  <a:srgbClr val="526776"/>
                </a:solidFill>
                <a:latin typeface="Arial"/>
                <a:ea typeface="Arial"/>
                <a:cs typeface="Arial"/>
              </a:defRPr>
            </a:lvl4pPr>
            <a:lvl5pPr>
              <a:defRPr sz="1500" b="0">
                <a:solidFill>
                  <a:srgbClr val="526776"/>
                </a:solidFill>
                <a:latin typeface="Arial"/>
                <a:ea typeface="Arial"/>
                <a:cs typeface="Arial"/>
              </a:defRPr>
            </a:lvl5pPr>
            <a:lvl6pPr>
              <a:defRPr sz="1500" b="0">
                <a:solidFill>
                  <a:srgbClr val="526776"/>
                </a:solidFill>
                <a:latin typeface="Arial"/>
                <a:ea typeface="Arial"/>
                <a:cs typeface="Arial"/>
              </a:defRPr>
            </a:lvl6pPr>
            <a:lvl7pPr>
              <a:defRPr sz="1500" b="0">
                <a:solidFill>
                  <a:srgbClr val="526776"/>
                </a:solidFill>
                <a:latin typeface="Arial"/>
                <a:ea typeface="Arial"/>
                <a:cs typeface="Arial"/>
              </a:defRPr>
            </a:lvl7pPr>
            <a:lvl8pPr>
              <a:defRPr sz="1500" b="0">
                <a:solidFill>
                  <a:srgbClr val="526776"/>
                </a:solidFill>
                <a:latin typeface="Arial"/>
                <a:ea typeface="Arial"/>
                <a:cs typeface="Arial"/>
              </a:defRPr>
            </a:lvl8pPr>
            <a:lvl9pPr>
              <a:defRPr sz="1500" b="0">
                <a:solidFill>
                  <a:srgbClr val="526776"/>
                </a:solidFill>
                <a:latin typeface="Arial"/>
                <a:ea typeface="Arial"/>
                <a:cs typeface="Arial"/>
              </a:defRPr>
            </a:lvl9pPr>
          </a:lstStyle>
          <a:p xmlns:a="http://schemas.openxmlformats.org/drawingml/2006/main">
            <a:pPr>
              <a:defRPr sz="1500" b="0">
                <a:solidFill>
                  <a:srgbClr val="526776"/>
                </a:solidFill>
                <a:latin typeface="Arial"/>
                <a:ea typeface="Arial"/>
                <a:cs typeface="Arial"/>
              </a:defRPr>
            </a:pPr>
            <a:r>
              <a:rPr sz="1500" b="0">
                <a:solidFill>
                  <a:srgbClr val="526776"/>
                </a:solidFill>
                <a:latin typeface="Arial"/>
                <a:ea typeface="Arial"/>
                <a:cs typeface="Arial"/>
              </a:rPr>
              <a:t>20% групп в test, random_state = 42. Совпадений рецептур между train и test: 0.</a:t>
            </a:r>
          </a:p>
        </p:txBody>
      </p:sp>
    </p:spTree>
    <p:extLst>
      <p:ext uri="{BB962C8B-B14F-4D97-AF65-F5344CB8AC3E}">
        <p14:creationId xmlns:p14="http://schemas.microsoft.com/office/powerpoint/2010/main" val="169694685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9313F172-D6FA-46B0-8A35-CC5E394DE6E7}"/>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152B3B"/>
                </a:solidFill>
                <a:latin typeface="Arial"/>
                <a:ea typeface="Arial"/>
                <a:cs typeface="Arial"/>
              </a:defRPr>
            </a:defPPr>
            <a:lvl1pPr>
              <a:defRPr sz="2850" b="1">
                <a:solidFill>
                  <a:srgbClr val="152B3B"/>
                </a:solidFill>
                <a:latin typeface="Arial"/>
                <a:ea typeface="Arial"/>
                <a:cs typeface="Arial"/>
              </a:defRPr>
            </a:lvl1pPr>
            <a:lvl2pPr>
              <a:defRPr sz="2850" b="1">
                <a:solidFill>
                  <a:srgbClr val="152B3B"/>
                </a:solidFill>
                <a:latin typeface="Arial"/>
                <a:ea typeface="Arial"/>
                <a:cs typeface="Arial"/>
              </a:defRPr>
            </a:lvl2pPr>
            <a:lvl3pPr>
              <a:defRPr sz="2850" b="1">
                <a:solidFill>
                  <a:srgbClr val="152B3B"/>
                </a:solidFill>
                <a:latin typeface="Arial"/>
                <a:ea typeface="Arial"/>
                <a:cs typeface="Arial"/>
              </a:defRPr>
            </a:lvl3pPr>
            <a:lvl4pPr>
              <a:defRPr sz="2850" b="1">
                <a:solidFill>
                  <a:srgbClr val="152B3B"/>
                </a:solidFill>
                <a:latin typeface="Arial"/>
                <a:ea typeface="Arial"/>
                <a:cs typeface="Arial"/>
              </a:defRPr>
            </a:lvl4pPr>
            <a:lvl5pPr>
              <a:defRPr sz="2850" b="1">
                <a:solidFill>
                  <a:srgbClr val="152B3B"/>
                </a:solidFill>
                <a:latin typeface="Arial"/>
                <a:ea typeface="Arial"/>
                <a:cs typeface="Arial"/>
              </a:defRPr>
            </a:lvl5pPr>
            <a:lvl6pPr>
              <a:defRPr sz="2850" b="1">
                <a:solidFill>
                  <a:srgbClr val="152B3B"/>
                </a:solidFill>
                <a:latin typeface="Arial"/>
                <a:ea typeface="Arial"/>
                <a:cs typeface="Arial"/>
              </a:defRPr>
            </a:lvl6pPr>
            <a:lvl7pPr>
              <a:defRPr sz="2850" b="1">
                <a:solidFill>
                  <a:srgbClr val="152B3B"/>
                </a:solidFill>
                <a:latin typeface="Arial"/>
                <a:ea typeface="Arial"/>
                <a:cs typeface="Arial"/>
              </a:defRPr>
            </a:lvl7pPr>
            <a:lvl8pPr>
              <a:defRPr sz="2850" b="1">
                <a:solidFill>
                  <a:srgbClr val="152B3B"/>
                </a:solidFill>
                <a:latin typeface="Arial"/>
                <a:ea typeface="Arial"/>
                <a:cs typeface="Arial"/>
              </a:defRPr>
            </a:lvl8pPr>
            <a:lvl9pPr>
              <a:defRPr sz="2850" b="1">
                <a:solidFill>
                  <a:srgbClr val="152B3B"/>
                </a:solidFill>
                <a:latin typeface="Arial"/>
                <a:ea typeface="Arial"/>
                <a:cs typeface="Arial"/>
              </a:defRPr>
            </a:lvl9pPr>
          </a:lstStyle>
          <a:p xmlns:a="http://schemas.openxmlformats.org/drawingml/2006/main">
            <a:pPr>
              <a:defRPr sz="2850" b="1">
                <a:solidFill>
                  <a:srgbClr val="152B3B"/>
                </a:solidFill>
                <a:latin typeface="Arial"/>
                <a:ea typeface="Arial"/>
                <a:cs typeface="Arial"/>
              </a:defRPr>
            </a:pPr>
            <a:r>
              <a:rPr sz="2850" b="1">
                <a:solidFill>
                  <a:srgbClr val="152B3B"/>
                </a:solidFill>
                <a:latin typeface="Arial"/>
                <a:ea typeface="Arial"/>
                <a:cs typeface="Arial"/>
              </a:rPr>
              <a:t>Сравниваем среднее, регрессию и случайный лес</a:t>
            </a:r>
          </a:p>
        </p:txBody>
      </p:sp>
      <p:sp>
        <p:nvSpPr>
          <p:cNvPr id="3" name="folio">
            <a:extLst xmlns:a="http://schemas.openxmlformats.org/drawingml/2006/main">
              <a:ext uri="{FF2B5EF4-FFF2-40B4-BE49-F238E27FC236}">
                <a16:creationId xmlns:a16="http://schemas.microsoft.com/office/drawing/2014/main" id="{D15528B2-8BB2-4535-937B-E1616A313766}"/>
              </a:ext>
            </a:extLst>
          </p:cNvPr>
          <p:cNvSpPr>
            <a:spLocks xmlns:a="http://schemas.openxmlformats.org/drawingml/2006/main" noGrp="1"/>
          </p:cNvSpPr>
          <p:nvPr/>
        </p:nvSpPr>
        <p:spPr>
          <a:xfrm xmlns:a="http://schemas.openxmlformats.org/drawingml/2006/main">
            <a:off x="11353800" y="64389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6776"/>
                </a:solidFill>
                <a:latin typeface="Arial"/>
                <a:ea typeface="Arial"/>
                <a:cs typeface="Arial"/>
              </a:defRPr>
            </a:defPPr>
            <a:lvl1pPr>
              <a:defRPr sz="1200" b="0">
                <a:solidFill>
                  <a:srgbClr val="526776"/>
                </a:solidFill>
                <a:latin typeface="Arial"/>
                <a:ea typeface="Arial"/>
                <a:cs typeface="Arial"/>
              </a:defRPr>
            </a:lvl1pPr>
            <a:lvl2pPr>
              <a:defRPr sz="1200" b="0">
                <a:solidFill>
                  <a:srgbClr val="526776"/>
                </a:solidFill>
                <a:latin typeface="Arial"/>
                <a:ea typeface="Arial"/>
                <a:cs typeface="Arial"/>
              </a:defRPr>
            </a:lvl2pPr>
            <a:lvl3pPr>
              <a:defRPr sz="1200" b="0">
                <a:solidFill>
                  <a:srgbClr val="526776"/>
                </a:solidFill>
                <a:latin typeface="Arial"/>
                <a:ea typeface="Arial"/>
                <a:cs typeface="Arial"/>
              </a:defRPr>
            </a:lvl3pPr>
            <a:lvl4pPr>
              <a:defRPr sz="1200" b="0">
                <a:solidFill>
                  <a:srgbClr val="526776"/>
                </a:solidFill>
                <a:latin typeface="Arial"/>
                <a:ea typeface="Arial"/>
                <a:cs typeface="Arial"/>
              </a:defRPr>
            </a:lvl4pPr>
            <a:lvl5pPr>
              <a:defRPr sz="1200" b="0">
                <a:solidFill>
                  <a:srgbClr val="526776"/>
                </a:solidFill>
                <a:latin typeface="Arial"/>
                <a:ea typeface="Arial"/>
                <a:cs typeface="Arial"/>
              </a:defRPr>
            </a:lvl5pPr>
            <a:lvl6pPr>
              <a:defRPr sz="1200" b="0">
                <a:solidFill>
                  <a:srgbClr val="526776"/>
                </a:solidFill>
                <a:latin typeface="Arial"/>
                <a:ea typeface="Arial"/>
                <a:cs typeface="Arial"/>
              </a:defRPr>
            </a:lvl6pPr>
            <a:lvl7pPr>
              <a:defRPr sz="1200" b="0">
                <a:solidFill>
                  <a:srgbClr val="526776"/>
                </a:solidFill>
                <a:latin typeface="Arial"/>
                <a:ea typeface="Arial"/>
                <a:cs typeface="Arial"/>
              </a:defRPr>
            </a:lvl7pPr>
            <a:lvl8pPr>
              <a:defRPr sz="1200" b="0">
                <a:solidFill>
                  <a:srgbClr val="526776"/>
                </a:solidFill>
                <a:latin typeface="Arial"/>
                <a:ea typeface="Arial"/>
                <a:cs typeface="Arial"/>
              </a:defRPr>
            </a:lvl8pPr>
            <a:lvl9pPr>
              <a:defRPr sz="1200" b="0">
                <a:solidFill>
                  <a:srgbClr val="526776"/>
                </a:solidFill>
                <a:latin typeface="Arial"/>
                <a:ea typeface="Arial"/>
                <a:cs typeface="Arial"/>
              </a:defRPr>
            </a:lvl9pPr>
          </a:lstStyle>
          <a:p xmlns:a="http://schemas.openxmlformats.org/drawingml/2006/main">
            <a:pPr>
              <a:defRPr sz="1200" b="0">
                <a:solidFill>
                  <a:srgbClr val="526776"/>
                </a:solidFill>
                <a:latin typeface="Arial"/>
                <a:ea typeface="Arial"/>
                <a:cs typeface="Arial"/>
              </a:defRPr>
            </a:pPr>
            <a:r>
              <a:rPr sz="1200" b="0">
                <a:solidFill>
                  <a:srgbClr val="526776"/>
                </a:solidFill>
                <a:latin typeface="Arial"/>
                <a:ea typeface="Arial"/>
                <a:cs typeface="Arial"/>
              </a:rPr>
              <a:t>7</a:t>
            </a:r>
          </a:p>
        </p:txBody>
      </p:sp>
      <p:graphicFrame>
        <p:nvGraphicFramePr>
          <p:cNvPr id="4" name="">
            <a:extLst xmlns:a="http://schemas.openxmlformats.org/drawingml/2006/main">
              <a:ext uri="{FF2B5EF4-FFF2-40B4-BE49-F238E27FC236}">
                <a16:creationId xmlns:a16="http://schemas.microsoft.com/office/drawing/2014/main" id="{64EF8B60-F2C0-4C29-BB64-1C63C5B55362}"/>
              </a:ext>
            </a:extLst>
          </p:cNvPr>
          <p:cNvGraphicFramePr/>
          <p:nvPr/>
        </p:nvGraphicFramePr>
        <p:xfrm>
          <a:off xmlns:a="http://schemas.openxmlformats.org/drawingml/2006/main" x="609600" y="1562100"/>
          <a:ext xmlns:a="http://schemas.openxmlformats.org/drawingml/2006/main" cx="10972800" cy="2762250"/>
        </p:xfrm>
        <a:graphic xmlns:a="http://schemas.openxmlformats.org/drawingml/2006/main">
          <a:graphicData uri="http://schemas.openxmlformats.org/drawingml/2006/table">
            <a:tbl>
              <a:tblPr/>
              <a:tblGrid>
                <a:gridCol w="3381375"/>
                <a:gridCol w="7591425"/>
              </a:tblGrid>
              <a:tr h="690563">
                <a:tc>
                  <a:txBody>
                    <a:bodyPr lIns="114300" tIns="114300" rIns="114300" bIns="114300"/>
                    <a:lstStyle/>
                    <a:p>
                      <a:r>
                        <a:rPr sz="1950" b="1">
                          <a:solidFill>
                            <a:srgbClr val="FFFFFF"/>
                          </a:solidFill>
                          <a:latin typeface="Arial"/>
                          <a:ea typeface="Arial"/>
                          <a:cs typeface="Arial"/>
                        </a:rPr>
                        <a:t>Модель</a:t>
                      </a:r>
                    </a:p>
                  </a:txBody>
                  <a:tcPr marL="91440" marR="91440" marT="45720" marB="45720" anchor="ctr">
                    <a:lnL w="6668">
                      <a:solidFill>
                        <a:srgbClr val="DCE5E9"/>
                      </a:solidFill>
                      <a:prstDash val="solid"/>
                    </a:lnL>
                    <a:lnR w="6668">
                      <a:solidFill>
                        <a:srgbClr val="DCE5E9"/>
                      </a:solidFill>
                      <a:prstDash val="solid"/>
                    </a:lnR>
                    <a:lnT w="6668">
                      <a:solidFill>
                        <a:srgbClr val="DCE5E9"/>
                      </a:solidFill>
                      <a:prstDash val="solid"/>
                    </a:lnT>
                    <a:lnB w="6668">
                      <a:solidFill>
                        <a:srgbClr val="DCE5E9"/>
                      </a:solidFill>
                      <a:prstDash val="solid"/>
                    </a:lnB>
                    <a:solidFill>
                      <a:srgbClr val="152B3B"/>
                    </a:solidFill>
                  </a:tcPr>
                </a:tc>
                <a:tc>
                  <a:txBody>
                    <a:bodyPr lIns="114300" tIns="114300" rIns="114300" bIns="114300"/>
                    <a:lstStyle/>
                    <a:p>
                      <a:r>
                        <a:rPr sz="1950" b="1">
                          <a:solidFill>
                            <a:srgbClr val="FFFFFF"/>
                          </a:solidFill>
                          <a:latin typeface="Arial"/>
                          <a:ea typeface="Arial"/>
                          <a:cs typeface="Arial"/>
                        </a:rPr>
                        <a:t>Как строит прогноз</a:t>
                      </a:r>
                    </a:p>
                  </a:txBody>
                  <a:tcPr marL="91440" marR="91440" marT="45720" marB="45720" anchor="ctr">
                    <a:lnR w="6668">
                      <a:solidFill>
                        <a:srgbClr val="DCE5E9"/>
                      </a:solidFill>
                      <a:prstDash val="solid"/>
                    </a:lnR>
                    <a:lnT w="6668">
                      <a:solidFill>
                        <a:srgbClr val="DCE5E9"/>
                      </a:solidFill>
                      <a:prstDash val="solid"/>
                    </a:lnT>
                    <a:lnB w="6668">
                      <a:solidFill>
                        <a:srgbClr val="DCE5E9"/>
                      </a:solidFill>
                      <a:prstDash val="solid"/>
                    </a:lnB>
                    <a:solidFill>
                      <a:srgbClr val="152B3B"/>
                    </a:solidFill>
                  </a:tcPr>
                </a:tc>
              </a:tr>
              <a:tr h="690563">
                <a:tc>
                  <a:txBody>
                    <a:bodyPr lIns="114300" tIns="114300" rIns="114300" bIns="114300"/>
                    <a:lstStyle/>
                    <a:p>
                      <a:r>
                        <a:rPr sz="1950" b="0">
                          <a:solidFill>
                            <a:srgbClr val="152B3B"/>
                          </a:solidFill>
                          <a:latin typeface="Arial"/>
                          <a:ea typeface="Arial"/>
                          <a:cs typeface="Arial"/>
                        </a:rPr>
                        <a:t>Среднее train</a:t>
                      </a:r>
                    </a:p>
                  </a:txBody>
                  <a:tcPr marL="91440" marR="91440" marT="45720" marB="45720" anchor="ctr">
                    <a:lnL w="6668">
                      <a:solidFill>
                        <a:srgbClr val="DCE5E9"/>
                      </a:solidFill>
                      <a:prstDash val="solid"/>
                    </a:lnL>
                    <a:lnR w="6668">
                      <a:solidFill>
                        <a:srgbClr val="DCE5E9"/>
                      </a:solidFill>
                      <a:prstDash val="solid"/>
                    </a:lnR>
                    <a:lnB w="6668">
                      <a:solidFill>
                        <a:srgbClr val="DCE5E9"/>
                      </a:solidFill>
                      <a:prstDash val="solid"/>
                    </a:lnB>
                    <a:solidFill>
                      <a:srgbClr val="FFFFFF"/>
                    </a:solidFill>
                  </a:tcPr>
                </a:tc>
                <a:tc>
                  <a:txBody>
                    <a:bodyPr lIns="114300" tIns="114300" rIns="114300" bIns="114300"/>
                    <a:lstStyle/>
                    <a:p>
                      <a:r>
                        <a:rPr sz="1950" b="0">
                          <a:solidFill>
                            <a:srgbClr val="152B3B"/>
                          </a:solidFill>
                          <a:latin typeface="Arial"/>
                          <a:ea typeface="Arial"/>
                          <a:cs typeface="Arial"/>
                        </a:rPr>
                        <a:t>Одно число для всех образцов</a:t>
                      </a:r>
                    </a:p>
                  </a:txBody>
                  <a:tcPr marL="91440" marR="91440" marT="45720" marB="45720" anchor="ctr">
                    <a:lnR w="6668">
                      <a:solidFill>
                        <a:srgbClr val="DCE5E9"/>
                      </a:solidFill>
                      <a:prstDash val="solid"/>
                    </a:lnR>
                    <a:lnB w="6668">
                      <a:solidFill>
                        <a:srgbClr val="DCE5E9"/>
                      </a:solidFill>
                      <a:prstDash val="solid"/>
                    </a:lnB>
                    <a:solidFill>
                      <a:srgbClr val="FFFFFF"/>
                    </a:solidFill>
                  </a:tcPr>
                </a:tc>
              </a:tr>
              <a:tr h="690563">
                <a:tc>
                  <a:txBody>
                    <a:bodyPr lIns="114300" tIns="114300" rIns="114300" bIns="114300"/>
                    <a:lstStyle/>
                    <a:p>
                      <a:r>
                        <a:rPr sz="1950" b="0">
                          <a:solidFill>
                            <a:srgbClr val="152B3B"/>
                          </a:solidFill>
                          <a:latin typeface="Arial"/>
                          <a:ea typeface="Arial"/>
                          <a:cs typeface="Arial"/>
                        </a:rPr>
                        <a:t>Линейная регрессия</a:t>
                      </a:r>
                    </a:p>
                  </a:txBody>
                  <a:tcPr marL="91440" marR="91440" marT="45720" marB="45720" anchor="ctr">
                    <a:lnL w="6668">
                      <a:solidFill>
                        <a:srgbClr val="DCE5E9"/>
                      </a:solidFill>
                      <a:prstDash val="solid"/>
                    </a:lnL>
                    <a:lnR w="6668">
                      <a:solidFill>
                        <a:srgbClr val="DCE5E9"/>
                      </a:solidFill>
                      <a:prstDash val="solid"/>
                    </a:lnR>
                    <a:lnB w="6668">
                      <a:solidFill>
                        <a:srgbClr val="DCE5E9"/>
                      </a:solidFill>
                      <a:prstDash val="solid"/>
                    </a:lnB>
                    <a:solidFill>
                      <a:srgbClr val="F3F7F8"/>
                    </a:solidFill>
                  </a:tcPr>
                </a:tc>
                <a:tc>
                  <a:txBody>
                    <a:bodyPr lIns="114300" tIns="114300" rIns="114300" bIns="114300"/>
                    <a:lstStyle/>
                    <a:p>
                      <a:r>
                        <a:rPr sz="1950" b="0">
                          <a:solidFill>
                            <a:srgbClr val="152B3B"/>
                          </a:solidFill>
                          <a:latin typeface="Arial"/>
                          <a:ea typeface="Arial"/>
                          <a:cs typeface="Arial"/>
                        </a:rPr>
                        <a:t>Сумма взвешенных вкладов признаков</a:t>
                      </a:r>
                    </a:p>
                  </a:txBody>
                  <a:tcPr marL="91440" marR="91440" marT="45720" marB="45720" anchor="ctr">
                    <a:lnR w="6668">
                      <a:solidFill>
                        <a:srgbClr val="DCE5E9"/>
                      </a:solidFill>
                      <a:prstDash val="solid"/>
                    </a:lnR>
                    <a:lnB w="6668">
                      <a:solidFill>
                        <a:srgbClr val="DCE5E9"/>
                      </a:solidFill>
                      <a:prstDash val="solid"/>
                    </a:lnB>
                    <a:solidFill>
                      <a:srgbClr val="F3F7F8"/>
                    </a:solidFill>
                  </a:tcPr>
                </a:tc>
              </a:tr>
              <a:tr h="690563">
                <a:tc>
                  <a:txBody>
                    <a:bodyPr lIns="114300" tIns="114300" rIns="114300" bIns="114300"/>
                    <a:lstStyle/>
                    <a:p>
                      <a:r>
                        <a:rPr sz="1950" b="0">
                          <a:solidFill>
                            <a:srgbClr val="152B3B"/>
                          </a:solidFill>
                          <a:latin typeface="Arial"/>
                          <a:ea typeface="Arial"/>
                          <a:cs typeface="Arial"/>
                        </a:rPr>
                        <a:t>Случайный лес</a:t>
                      </a:r>
                    </a:p>
                  </a:txBody>
                  <a:tcPr marL="91440" marR="91440" marT="45720" marB="45720" anchor="ctr">
                    <a:lnL w="6668">
                      <a:solidFill>
                        <a:srgbClr val="DCE5E9"/>
                      </a:solidFill>
                      <a:prstDash val="solid"/>
                    </a:lnL>
                    <a:lnR w="6668">
                      <a:solidFill>
                        <a:srgbClr val="DCE5E9"/>
                      </a:solidFill>
                      <a:prstDash val="solid"/>
                    </a:lnR>
                    <a:lnB w="6668">
                      <a:solidFill>
                        <a:srgbClr val="DCE5E9"/>
                      </a:solidFill>
                      <a:prstDash val="solid"/>
                    </a:lnB>
                    <a:solidFill>
                      <a:srgbClr val="FFFFFF"/>
                    </a:solidFill>
                  </a:tcPr>
                </a:tc>
                <a:tc>
                  <a:txBody>
                    <a:bodyPr lIns="114300" tIns="114300" rIns="114300" bIns="114300"/>
                    <a:lstStyle/>
                    <a:p>
                      <a:r>
                        <a:rPr sz="1950" b="0">
                          <a:solidFill>
                            <a:srgbClr val="152B3B"/>
                          </a:solidFill>
                          <a:latin typeface="Arial"/>
                          <a:ea typeface="Arial"/>
                          <a:cs typeface="Arial"/>
                        </a:rPr>
                        <a:t>Средний прогноз 300 деревьев</a:t>
                      </a:r>
                    </a:p>
                  </a:txBody>
                  <a:tcPr marL="91440" marR="91440" marT="45720" marB="45720" anchor="ctr">
                    <a:lnR w="6668">
                      <a:solidFill>
                        <a:srgbClr val="DCE5E9"/>
                      </a:solidFill>
                      <a:prstDash val="solid"/>
                    </a:lnR>
                    <a:lnB w="6668">
                      <a:solidFill>
                        <a:srgbClr val="DCE5E9"/>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1BA39B1-5A97-48DF-95C9-0F8FF0E6FB20}"/>
              </a:ext>
            </a:extLst>
          </p:cNvPr>
          <p:cNvSpPr>
            <a:spLocks xmlns:a="http://schemas.openxmlformats.org/drawingml/2006/main" noGrp="1"/>
          </p:cNvSpPr>
          <p:nvPr/>
        </p:nvSpPr>
        <p:spPr>
          <a:xfrm xmlns:a="http://schemas.openxmlformats.org/drawingml/2006/main">
            <a:off x="609600" y="4714875"/>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167D8D"/>
                </a:solidFill>
                <a:latin typeface="Arial"/>
                <a:ea typeface="Arial"/>
                <a:cs typeface="Arial"/>
              </a:defRPr>
            </a:defPPr>
            <a:lvl1pPr>
              <a:defRPr sz="2325" b="1">
                <a:solidFill>
                  <a:srgbClr val="167D8D"/>
                </a:solidFill>
                <a:latin typeface="Arial"/>
                <a:ea typeface="Arial"/>
                <a:cs typeface="Arial"/>
              </a:defRPr>
            </a:lvl1pPr>
            <a:lvl2pPr>
              <a:defRPr sz="2325" b="1">
                <a:solidFill>
                  <a:srgbClr val="167D8D"/>
                </a:solidFill>
                <a:latin typeface="Arial"/>
                <a:ea typeface="Arial"/>
                <a:cs typeface="Arial"/>
              </a:defRPr>
            </a:lvl2pPr>
            <a:lvl3pPr>
              <a:defRPr sz="2325" b="1">
                <a:solidFill>
                  <a:srgbClr val="167D8D"/>
                </a:solidFill>
                <a:latin typeface="Arial"/>
                <a:ea typeface="Arial"/>
                <a:cs typeface="Arial"/>
              </a:defRPr>
            </a:lvl3pPr>
            <a:lvl4pPr>
              <a:defRPr sz="2325" b="1">
                <a:solidFill>
                  <a:srgbClr val="167D8D"/>
                </a:solidFill>
                <a:latin typeface="Arial"/>
                <a:ea typeface="Arial"/>
                <a:cs typeface="Arial"/>
              </a:defRPr>
            </a:lvl4pPr>
            <a:lvl5pPr>
              <a:defRPr sz="2325" b="1">
                <a:solidFill>
                  <a:srgbClr val="167D8D"/>
                </a:solidFill>
                <a:latin typeface="Arial"/>
                <a:ea typeface="Arial"/>
                <a:cs typeface="Arial"/>
              </a:defRPr>
            </a:lvl5pPr>
            <a:lvl6pPr>
              <a:defRPr sz="2325" b="1">
                <a:solidFill>
                  <a:srgbClr val="167D8D"/>
                </a:solidFill>
                <a:latin typeface="Arial"/>
                <a:ea typeface="Arial"/>
                <a:cs typeface="Arial"/>
              </a:defRPr>
            </a:lvl6pPr>
            <a:lvl7pPr>
              <a:defRPr sz="2325" b="1">
                <a:solidFill>
                  <a:srgbClr val="167D8D"/>
                </a:solidFill>
                <a:latin typeface="Arial"/>
                <a:ea typeface="Arial"/>
                <a:cs typeface="Arial"/>
              </a:defRPr>
            </a:lvl7pPr>
            <a:lvl8pPr>
              <a:defRPr sz="2325" b="1">
                <a:solidFill>
                  <a:srgbClr val="167D8D"/>
                </a:solidFill>
                <a:latin typeface="Arial"/>
                <a:ea typeface="Arial"/>
                <a:cs typeface="Arial"/>
              </a:defRPr>
            </a:lvl8pPr>
            <a:lvl9pPr>
              <a:defRPr sz="2325" b="1">
                <a:solidFill>
                  <a:srgbClr val="167D8D"/>
                </a:solidFill>
                <a:latin typeface="Arial"/>
                <a:ea typeface="Arial"/>
                <a:cs typeface="Arial"/>
              </a:defRPr>
            </a:lvl9pPr>
          </a:lstStyle>
          <a:p xmlns:a="http://schemas.openxmlformats.org/drawingml/2006/main">
            <a:pPr>
              <a:defRPr sz="2325" b="1">
                <a:solidFill>
                  <a:srgbClr val="167D8D"/>
                </a:solidFill>
                <a:latin typeface="Arial"/>
                <a:ea typeface="Arial"/>
                <a:cs typeface="Arial"/>
              </a:defRPr>
            </a:pPr>
            <a:r>
              <a:rPr sz="2325" b="1">
                <a:solidFill>
                  <a:srgbClr val="167D8D"/>
                </a:solidFill>
                <a:latin typeface="Arial"/>
                <a:ea typeface="Arial"/>
                <a:cs typeface="Arial"/>
              </a:rPr>
              <a:t>Для леса проверены 8 вариантов параметров</a:t>
            </a:r>
          </a:p>
        </p:txBody>
      </p:sp>
      <p:sp>
        <p:nvSpPr>
          <p:cNvPr id="6" name="">
            <a:extLst xmlns:a="http://schemas.openxmlformats.org/drawingml/2006/main">
              <a:ext uri="{FF2B5EF4-FFF2-40B4-BE49-F238E27FC236}">
                <a16:creationId xmlns:a16="http://schemas.microsoft.com/office/drawing/2014/main" id="{8E29E75C-E047-4AD5-861C-E76BC3CC41DE}"/>
              </a:ext>
            </a:extLst>
          </p:cNvPr>
          <p:cNvSpPr>
            <a:spLocks xmlns:a="http://schemas.openxmlformats.org/drawingml/2006/main" noGrp="1"/>
          </p:cNvSpPr>
          <p:nvPr/>
        </p:nvSpPr>
        <p:spPr>
          <a:xfrm xmlns:a="http://schemas.openxmlformats.org/drawingml/2006/main">
            <a:off x="609600" y="5362575"/>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152B3B"/>
                </a:solidFill>
                <a:latin typeface="Arial"/>
                <a:ea typeface="Arial"/>
                <a:cs typeface="Arial"/>
              </a:defRPr>
            </a:defPPr>
            <a:lvl1pPr>
              <a:defRPr sz="1950" b="0">
                <a:solidFill>
                  <a:srgbClr val="152B3B"/>
                </a:solidFill>
                <a:latin typeface="Arial"/>
                <a:ea typeface="Arial"/>
                <a:cs typeface="Arial"/>
              </a:defRPr>
            </a:lvl1pPr>
            <a:lvl2pPr>
              <a:defRPr sz="1950" b="0">
                <a:solidFill>
                  <a:srgbClr val="152B3B"/>
                </a:solidFill>
                <a:latin typeface="Arial"/>
                <a:ea typeface="Arial"/>
                <a:cs typeface="Arial"/>
              </a:defRPr>
            </a:lvl2pPr>
            <a:lvl3pPr>
              <a:defRPr sz="1950" b="0">
                <a:solidFill>
                  <a:srgbClr val="152B3B"/>
                </a:solidFill>
                <a:latin typeface="Arial"/>
                <a:ea typeface="Arial"/>
                <a:cs typeface="Arial"/>
              </a:defRPr>
            </a:lvl3pPr>
            <a:lvl4pPr>
              <a:defRPr sz="1950" b="0">
                <a:solidFill>
                  <a:srgbClr val="152B3B"/>
                </a:solidFill>
                <a:latin typeface="Arial"/>
                <a:ea typeface="Arial"/>
                <a:cs typeface="Arial"/>
              </a:defRPr>
            </a:lvl4pPr>
            <a:lvl5pPr>
              <a:defRPr sz="1950" b="0">
                <a:solidFill>
                  <a:srgbClr val="152B3B"/>
                </a:solidFill>
                <a:latin typeface="Arial"/>
                <a:ea typeface="Arial"/>
                <a:cs typeface="Arial"/>
              </a:defRPr>
            </a:lvl5pPr>
            <a:lvl6pPr>
              <a:defRPr sz="1950" b="0">
                <a:solidFill>
                  <a:srgbClr val="152B3B"/>
                </a:solidFill>
                <a:latin typeface="Arial"/>
                <a:ea typeface="Arial"/>
                <a:cs typeface="Arial"/>
              </a:defRPr>
            </a:lvl6pPr>
            <a:lvl7pPr>
              <a:defRPr sz="1950" b="0">
                <a:solidFill>
                  <a:srgbClr val="152B3B"/>
                </a:solidFill>
                <a:latin typeface="Arial"/>
                <a:ea typeface="Arial"/>
                <a:cs typeface="Arial"/>
              </a:defRPr>
            </a:lvl7pPr>
            <a:lvl8pPr>
              <a:defRPr sz="1950" b="0">
                <a:solidFill>
                  <a:srgbClr val="152B3B"/>
                </a:solidFill>
                <a:latin typeface="Arial"/>
                <a:ea typeface="Arial"/>
                <a:cs typeface="Arial"/>
              </a:defRPr>
            </a:lvl8pPr>
            <a:lvl9pPr>
              <a:defRPr sz="1950" b="0">
                <a:solidFill>
                  <a:srgbClr val="152B3B"/>
                </a:solidFill>
                <a:latin typeface="Arial"/>
                <a:ea typeface="Arial"/>
                <a:cs typeface="Arial"/>
              </a:defRPr>
            </a:lvl9pPr>
          </a:lstStyle>
          <a:p xmlns:a="http://schemas.openxmlformats.org/drawingml/2006/main">
            <a:pPr>
              <a:defRPr sz="1950" b="0">
                <a:solidFill>
                  <a:srgbClr val="152B3B"/>
                </a:solidFill>
                <a:latin typeface="Arial"/>
                <a:ea typeface="Arial"/>
                <a:cs typeface="Arial"/>
              </a:defRPr>
            </a:pPr>
            <a:r>
              <a:rPr sz="1950" b="0">
                <a:solidFill>
                  <a:srgbClr val="152B3B"/>
                </a:solidFill>
                <a:latin typeface="Arial"/>
                <a:ea typeface="Arial"/>
                <a:cs typeface="Arial"/>
              </a:rPr>
              <a:t>Выбор по RMSE: глубина 15, минимум 1 объект в листе,</a:t>
            </a:r>
          </a:p>
          <a:p xmlns:a="http://schemas.openxmlformats.org/drawingml/2006/main">
            <a:pPr>
              <a:defRPr sz="1950" b="0">
                <a:solidFill>
                  <a:srgbClr val="152B3B"/>
                </a:solidFill>
                <a:latin typeface="Arial"/>
                <a:ea typeface="Arial"/>
                <a:cs typeface="Arial"/>
              </a:defRPr>
            </a:pPr>
            <a:r>
              <a:rPr sz="1950" b="0">
                <a:solidFill>
                  <a:srgbClr val="152B3B"/>
                </a:solidFill>
                <a:latin typeface="Arial"/>
                <a:ea typeface="Arial"/>
                <a:cs typeface="Arial"/>
              </a:rPr>
              <a:t>доля признаков 0,8. Тест в настройке не участвует.</a:t>
            </a:r>
          </a:p>
        </p:txBody>
      </p:sp>
    </p:spTree>
    <p:extLst>
      <p:ext uri="{BB962C8B-B14F-4D97-AF65-F5344CB8AC3E}">
        <p14:creationId xmlns:p14="http://schemas.microsoft.com/office/powerpoint/2010/main" val="196222790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AB4FE37E-3577-49DA-8DC4-E3052C1902AD}"/>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152B3B"/>
                </a:solidFill>
                <a:latin typeface="Arial"/>
                <a:ea typeface="Arial"/>
                <a:cs typeface="Arial"/>
              </a:defRPr>
            </a:defPPr>
            <a:lvl1pPr>
              <a:defRPr sz="2850" b="1">
                <a:solidFill>
                  <a:srgbClr val="152B3B"/>
                </a:solidFill>
                <a:latin typeface="Arial"/>
                <a:ea typeface="Arial"/>
                <a:cs typeface="Arial"/>
              </a:defRPr>
            </a:lvl1pPr>
            <a:lvl2pPr>
              <a:defRPr sz="2850" b="1">
                <a:solidFill>
                  <a:srgbClr val="152B3B"/>
                </a:solidFill>
                <a:latin typeface="Arial"/>
                <a:ea typeface="Arial"/>
                <a:cs typeface="Arial"/>
              </a:defRPr>
            </a:lvl2pPr>
            <a:lvl3pPr>
              <a:defRPr sz="2850" b="1">
                <a:solidFill>
                  <a:srgbClr val="152B3B"/>
                </a:solidFill>
                <a:latin typeface="Arial"/>
                <a:ea typeface="Arial"/>
                <a:cs typeface="Arial"/>
              </a:defRPr>
            </a:lvl3pPr>
            <a:lvl4pPr>
              <a:defRPr sz="2850" b="1">
                <a:solidFill>
                  <a:srgbClr val="152B3B"/>
                </a:solidFill>
                <a:latin typeface="Arial"/>
                <a:ea typeface="Arial"/>
                <a:cs typeface="Arial"/>
              </a:defRPr>
            </a:lvl4pPr>
            <a:lvl5pPr>
              <a:defRPr sz="2850" b="1">
                <a:solidFill>
                  <a:srgbClr val="152B3B"/>
                </a:solidFill>
                <a:latin typeface="Arial"/>
                <a:ea typeface="Arial"/>
                <a:cs typeface="Arial"/>
              </a:defRPr>
            </a:lvl5pPr>
            <a:lvl6pPr>
              <a:defRPr sz="2850" b="1">
                <a:solidFill>
                  <a:srgbClr val="152B3B"/>
                </a:solidFill>
                <a:latin typeface="Arial"/>
                <a:ea typeface="Arial"/>
                <a:cs typeface="Arial"/>
              </a:defRPr>
            </a:lvl6pPr>
            <a:lvl7pPr>
              <a:defRPr sz="2850" b="1">
                <a:solidFill>
                  <a:srgbClr val="152B3B"/>
                </a:solidFill>
                <a:latin typeface="Arial"/>
                <a:ea typeface="Arial"/>
                <a:cs typeface="Arial"/>
              </a:defRPr>
            </a:lvl7pPr>
            <a:lvl8pPr>
              <a:defRPr sz="2850" b="1">
                <a:solidFill>
                  <a:srgbClr val="152B3B"/>
                </a:solidFill>
                <a:latin typeface="Arial"/>
                <a:ea typeface="Arial"/>
                <a:cs typeface="Arial"/>
              </a:defRPr>
            </a:lvl8pPr>
            <a:lvl9pPr>
              <a:defRPr sz="2850" b="1">
                <a:solidFill>
                  <a:srgbClr val="152B3B"/>
                </a:solidFill>
                <a:latin typeface="Arial"/>
                <a:ea typeface="Arial"/>
                <a:cs typeface="Arial"/>
              </a:defRPr>
            </a:lvl9pPr>
          </a:lstStyle>
          <a:p xmlns:a="http://schemas.openxmlformats.org/drawingml/2006/main">
            <a:pPr>
              <a:defRPr sz="2850" b="1">
                <a:solidFill>
                  <a:srgbClr val="152B3B"/>
                </a:solidFill>
                <a:latin typeface="Arial"/>
                <a:ea typeface="Arial"/>
                <a:cs typeface="Arial"/>
              </a:defRPr>
            </a:pPr>
            <a:r>
              <a:rPr sz="2850" b="1">
                <a:solidFill>
                  <a:srgbClr val="152B3B"/>
                </a:solidFill>
                <a:latin typeface="Arial"/>
                <a:ea typeface="Arial"/>
                <a:cs typeface="Arial"/>
              </a:rPr>
              <a:t>Случайный лес точнее на независимом тесте</a:t>
            </a:r>
          </a:p>
        </p:txBody>
      </p:sp>
      <p:sp>
        <p:nvSpPr>
          <p:cNvPr id="3" name="folio">
            <a:extLst xmlns:a="http://schemas.openxmlformats.org/drawingml/2006/main">
              <a:ext uri="{FF2B5EF4-FFF2-40B4-BE49-F238E27FC236}">
                <a16:creationId xmlns:a16="http://schemas.microsoft.com/office/drawing/2014/main" id="{3E9A1EBC-598E-4296-8ED3-E5812B6F2118}"/>
              </a:ext>
            </a:extLst>
          </p:cNvPr>
          <p:cNvSpPr>
            <a:spLocks xmlns:a="http://schemas.openxmlformats.org/drawingml/2006/main" noGrp="1"/>
          </p:cNvSpPr>
          <p:nvPr/>
        </p:nvSpPr>
        <p:spPr>
          <a:xfrm xmlns:a="http://schemas.openxmlformats.org/drawingml/2006/main">
            <a:off x="11353800" y="64389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6776"/>
                </a:solidFill>
                <a:latin typeface="Arial"/>
                <a:ea typeface="Arial"/>
                <a:cs typeface="Arial"/>
              </a:defRPr>
            </a:defPPr>
            <a:lvl1pPr>
              <a:defRPr sz="1200" b="0">
                <a:solidFill>
                  <a:srgbClr val="526776"/>
                </a:solidFill>
                <a:latin typeface="Arial"/>
                <a:ea typeface="Arial"/>
                <a:cs typeface="Arial"/>
              </a:defRPr>
            </a:lvl1pPr>
            <a:lvl2pPr>
              <a:defRPr sz="1200" b="0">
                <a:solidFill>
                  <a:srgbClr val="526776"/>
                </a:solidFill>
                <a:latin typeface="Arial"/>
                <a:ea typeface="Arial"/>
                <a:cs typeface="Arial"/>
              </a:defRPr>
            </a:lvl2pPr>
            <a:lvl3pPr>
              <a:defRPr sz="1200" b="0">
                <a:solidFill>
                  <a:srgbClr val="526776"/>
                </a:solidFill>
                <a:latin typeface="Arial"/>
                <a:ea typeface="Arial"/>
                <a:cs typeface="Arial"/>
              </a:defRPr>
            </a:lvl3pPr>
            <a:lvl4pPr>
              <a:defRPr sz="1200" b="0">
                <a:solidFill>
                  <a:srgbClr val="526776"/>
                </a:solidFill>
                <a:latin typeface="Arial"/>
                <a:ea typeface="Arial"/>
                <a:cs typeface="Arial"/>
              </a:defRPr>
            </a:lvl4pPr>
            <a:lvl5pPr>
              <a:defRPr sz="1200" b="0">
                <a:solidFill>
                  <a:srgbClr val="526776"/>
                </a:solidFill>
                <a:latin typeface="Arial"/>
                <a:ea typeface="Arial"/>
                <a:cs typeface="Arial"/>
              </a:defRPr>
            </a:lvl5pPr>
            <a:lvl6pPr>
              <a:defRPr sz="1200" b="0">
                <a:solidFill>
                  <a:srgbClr val="526776"/>
                </a:solidFill>
                <a:latin typeface="Arial"/>
                <a:ea typeface="Arial"/>
                <a:cs typeface="Arial"/>
              </a:defRPr>
            </a:lvl6pPr>
            <a:lvl7pPr>
              <a:defRPr sz="1200" b="0">
                <a:solidFill>
                  <a:srgbClr val="526776"/>
                </a:solidFill>
                <a:latin typeface="Arial"/>
                <a:ea typeface="Arial"/>
                <a:cs typeface="Arial"/>
              </a:defRPr>
            </a:lvl7pPr>
            <a:lvl8pPr>
              <a:defRPr sz="1200" b="0">
                <a:solidFill>
                  <a:srgbClr val="526776"/>
                </a:solidFill>
                <a:latin typeface="Arial"/>
                <a:ea typeface="Arial"/>
                <a:cs typeface="Arial"/>
              </a:defRPr>
            </a:lvl8pPr>
            <a:lvl9pPr>
              <a:defRPr sz="1200" b="0">
                <a:solidFill>
                  <a:srgbClr val="526776"/>
                </a:solidFill>
                <a:latin typeface="Arial"/>
                <a:ea typeface="Arial"/>
                <a:cs typeface="Arial"/>
              </a:defRPr>
            </a:lvl9pPr>
          </a:lstStyle>
          <a:p xmlns:a="http://schemas.openxmlformats.org/drawingml/2006/main">
            <a:pPr>
              <a:defRPr sz="1200" b="0">
                <a:solidFill>
                  <a:srgbClr val="526776"/>
                </a:solidFill>
                <a:latin typeface="Arial"/>
                <a:ea typeface="Arial"/>
                <a:cs typeface="Arial"/>
              </a:defRPr>
            </a:pPr>
            <a:r>
              <a:rPr sz="1200" b="0">
                <a:solidFill>
                  <a:srgbClr val="526776"/>
                </a:solidFill>
                <a:latin typeface="Arial"/>
                <a:ea typeface="Arial"/>
                <a:cs typeface="Arial"/>
              </a:rPr>
              <a:t>8</a:t>
            </a:r>
          </a:p>
        </p:txBody>
      </p:sp>
      <p:graphicFrame>
        <p:nvGraphicFramePr>
          <p:cNvPr id="4" name="">
            <a:extLst xmlns:a="http://schemas.openxmlformats.org/drawingml/2006/main">
              <a:ext uri="{FF2B5EF4-FFF2-40B4-BE49-F238E27FC236}">
                <a16:creationId xmlns:a16="http://schemas.microsoft.com/office/drawing/2014/main" id="{C3A46A79-C64F-4967-AB20-5A1838BD6CB3}"/>
              </a:ext>
            </a:extLst>
          </p:cNvPr>
          <p:cNvGraphicFramePr/>
          <p:nvPr/>
        </p:nvGraphicFramePr>
        <p:xfrm>
          <a:off xmlns:a="http://schemas.openxmlformats.org/drawingml/2006/main" x="609600" y="1581150"/>
          <a:ext xmlns:a="http://schemas.openxmlformats.org/drawingml/2006/main" cx="10972800" cy="2400300"/>
        </p:xfrm>
        <a:graphic xmlns:a="http://schemas.openxmlformats.org/drawingml/2006/main">
          <a:graphicData uri="http://schemas.openxmlformats.org/drawingml/2006/table">
            <a:tbl>
              <a:tblPr/>
              <a:tblGrid>
                <a:gridCol w="4572000"/>
                <a:gridCol w="2133600"/>
                <a:gridCol w="2133600"/>
                <a:gridCol w="2133600"/>
              </a:tblGrid>
              <a:tr h="600075">
                <a:tc>
                  <a:txBody>
                    <a:bodyPr lIns="114300" tIns="114300" rIns="114300" bIns="114300"/>
                    <a:lstStyle/>
                    <a:p>
                      <a:r>
                        <a:rPr sz="1950" b="1">
                          <a:solidFill>
                            <a:srgbClr val="FFFFFF"/>
                          </a:solidFill>
                          <a:latin typeface="Arial"/>
                          <a:ea typeface="Arial"/>
                          <a:cs typeface="Arial"/>
                        </a:rPr>
                        <a:t>Модель</a:t>
                      </a:r>
                    </a:p>
                  </a:txBody>
                  <a:tcPr marL="91440" marR="91440" marT="45720" marB="45720" anchor="ctr">
                    <a:lnL w="6668">
                      <a:solidFill>
                        <a:srgbClr val="DCE5E9"/>
                      </a:solidFill>
                      <a:prstDash val="solid"/>
                    </a:lnL>
                    <a:lnR w="6668">
                      <a:solidFill>
                        <a:srgbClr val="DCE5E9"/>
                      </a:solidFill>
                      <a:prstDash val="solid"/>
                    </a:lnR>
                    <a:lnT w="6668">
                      <a:solidFill>
                        <a:srgbClr val="DCE5E9"/>
                      </a:solidFill>
                      <a:prstDash val="solid"/>
                    </a:lnT>
                    <a:lnB w="6668">
                      <a:solidFill>
                        <a:srgbClr val="DCE5E9"/>
                      </a:solidFill>
                      <a:prstDash val="solid"/>
                    </a:lnB>
                    <a:solidFill>
                      <a:srgbClr val="152B3B"/>
                    </a:solidFill>
                  </a:tcPr>
                </a:tc>
                <a:tc>
                  <a:txBody>
                    <a:bodyPr lIns="114300" tIns="114300" rIns="114300" bIns="114300"/>
                    <a:lstStyle/>
                    <a:p>
                      <a:r>
                        <a:rPr sz="1950" b="1">
                          <a:solidFill>
                            <a:srgbClr val="FFFFFF"/>
                          </a:solidFill>
                          <a:latin typeface="Arial"/>
                          <a:ea typeface="Arial"/>
                          <a:cs typeface="Arial"/>
                        </a:rPr>
                        <a:t>MAE, МПа</a:t>
                      </a:r>
                    </a:p>
                  </a:txBody>
                  <a:tcPr marL="91440" marR="91440" marT="45720" marB="45720" anchor="ctr">
                    <a:lnR w="6668">
                      <a:solidFill>
                        <a:srgbClr val="DCE5E9"/>
                      </a:solidFill>
                      <a:prstDash val="solid"/>
                    </a:lnR>
                    <a:lnT w="6668">
                      <a:solidFill>
                        <a:srgbClr val="DCE5E9"/>
                      </a:solidFill>
                      <a:prstDash val="solid"/>
                    </a:lnT>
                    <a:lnB w="6668">
                      <a:solidFill>
                        <a:srgbClr val="DCE5E9"/>
                      </a:solidFill>
                      <a:prstDash val="solid"/>
                    </a:lnB>
                    <a:solidFill>
                      <a:srgbClr val="152B3B"/>
                    </a:solidFill>
                  </a:tcPr>
                </a:tc>
                <a:tc>
                  <a:txBody>
                    <a:bodyPr lIns="114300" tIns="114300" rIns="114300" bIns="114300"/>
                    <a:lstStyle/>
                    <a:p>
                      <a:r>
                        <a:rPr sz="1950" b="1">
                          <a:solidFill>
                            <a:srgbClr val="FFFFFF"/>
                          </a:solidFill>
                          <a:latin typeface="Arial"/>
                          <a:ea typeface="Arial"/>
                          <a:cs typeface="Arial"/>
                        </a:rPr>
                        <a:t>RMSE, МПа</a:t>
                      </a:r>
                    </a:p>
                  </a:txBody>
                  <a:tcPr marL="91440" marR="91440" marT="45720" marB="45720" anchor="ctr">
                    <a:lnR w="6668">
                      <a:solidFill>
                        <a:srgbClr val="DCE5E9"/>
                      </a:solidFill>
                      <a:prstDash val="solid"/>
                    </a:lnR>
                    <a:lnT w="6668">
                      <a:solidFill>
                        <a:srgbClr val="DCE5E9"/>
                      </a:solidFill>
                      <a:prstDash val="solid"/>
                    </a:lnT>
                    <a:lnB w="6668">
                      <a:solidFill>
                        <a:srgbClr val="DCE5E9"/>
                      </a:solidFill>
                      <a:prstDash val="solid"/>
                    </a:lnB>
                    <a:solidFill>
                      <a:srgbClr val="152B3B"/>
                    </a:solidFill>
                  </a:tcPr>
                </a:tc>
                <a:tc>
                  <a:txBody>
                    <a:bodyPr lIns="114300" tIns="114300" rIns="114300" bIns="114300"/>
                    <a:lstStyle/>
                    <a:p>
                      <a:r>
                        <a:rPr sz="1950" b="1">
                          <a:solidFill>
                            <a:srgbClr val="FFFFFF"/>
                          </a:solidFill>
                          <a:latin typeface="Arial"/>
                          <a:ea typeface="Arial"/>
                          <a:cs typeface="Arial"/>
                        </a:rPr>
                        <a:t>R²</a:t>
                      </a:r>
                    </a:p>
                  </a:txBody>
                  <a:tcPr marL="91440" marR="91440" marT="45720" marB="45720" anchor="ctr">
                    <a:lnR w="6668">
                      <a:solidFill>
                        <a:srgbClr val="DCE5E9"/>
                      </a:solidFill>
                      <a:prstDash val="solid"/>
                    </a:lnR>
                    <a:lnT w="6668">
                      <a:solidFill>
                        <a:srgbClr val="DCE5E9"/>
                      </a:solidFill>
                      <a:prstDash val="solid"/>
                    </a:lnT>
                    <a:lnB w="6668">
                      <a:solidFill>
                        <a:srgbClr val="DCE5E9"/>
                      </a:solidFill>
                      <a:prstDash val="solid"/>
                    </a:lnB>
                    <a:solidFill>
                      <a:srgbClr val="152B3B"/>
                    </a:solidFill>
                  </a:tcPr>
                </a:tc>
              </a:tr>
              <a:tr h="600075">
                <a:tc>
                  <a:txBody>
                    <a:bodyPr lIns="114300" tIns="114300" rIns="114300" bIns="114300"/>
                    <a:lstStyle/>
                    <a:p>
                      <a:r>
                        <a:rPr sz="1950" b="0">
                          <a:solidFill>
                            <a:srgbClr val="152B3B"/>
                          </a:solidFill>
                          <a:latin typeface="Arial"/>
                          <a:ea typeface="Arial"/>
                          <a:cs typeface="Arial"/>
                        </a:rPr>
                        <a:t>Среднее</a:t>
                      </a:r>
                    </a:p>
                  </a:txBody>
                  <a:tcPr marL="91440" marR="91440" marT="45720" marB="45720" anchor="ctr">
                    <a:lnL w="6668">
                      <a:solidFill>
                        <a:srgbClr val="DCE5E9"/>
                      </a:solidFill>
                      <a:prstDash val="solid"/>
                    </a:lnL>
                    <a:lnR w="6668">
                      <a:solidFill>
                        <a:srgbClr val="DCE5E9"/>
                      </a:solidFill>
                      <a:prstDash val="solid"/>
                    </a:lnR>
                    <a:lnB w="6668">
                      <a:solidFill>
                        <a:srgbClr val="DCE5E9"/>
                      </a:solidFill>
                      <a:prstDash val="solid"/>
                    </a:lnB>
                    <a:solidFill>
                      <a:srgbClr val="FFFFFF"/>
                    </a:solidFill>
                  </a:tcPr>
                </a:tc>
                <a:tc>
                  <a:txBody>
                    <a:bodyPr lIns="114300" tIns="114300" rIns="114300" bIns="114300"/>
                    <a:lstStyle/>
                    <a:p>
                      <a:r>
                        <a:rPr sz="1950" b="0">
                          <a:solidFill>
                            <a:srgbClr val="152B3B"/>
                          </a:solidFill>
                          <a:latin typeface="Arial"/>
                          <a:ea typeface="Arial"/>
                          <a:cs typeface="Arial"/>
                        </a:rPr>
                        <a:t>14,48</a:t>
                      </a:r>
                    </a:p>
                  </a:txBody>
                  <a:tcPr marL="91440" marR="91440" marT="45720" marB="45720" anchor="ctr">
                    <a:lnR w="6668">
                      <a:solidFill>
                        <a:srgbClr val="DCE5E9"/>
                      </a:solidFill>
                      <a:prstDash val="solid"/>
                    </a:lnR>
                    <a:lnB w="6668">
                      <a:solidFill>
                        <a:srgbClr val="DCE5E9"/>
                      </a:solidFill>
                      <a:prstDash val="solid"/>
                    </a:lnB>
                    <a:solidFill>
                      <a:srgbClr val="FFFFFF"/>
                    </a:solidFill>
                  </a:tcPr>
                </a:tc>
                <a:tc>
                  <a:txBody>
                    <a:bodyPr lIns="114300" tIns="114300" rIns="114300" bIns="114300"/>
                    <a:lstStyle/>
                    <a:p>
                      <a:r>
                        <a:rPr sz="1950" b="0">
                          <a:solidFill>
                            <a:srgbClr val="152B3B"/>
                          </a:solidFill>
                          <a:latin typeface="Arial"/>
                          <a:ea typeface="Arial"/>
                          <a:cs typeface="Arial"/>
                        </a:rPr>
                        <a:t>18,02</a:t>
                      </a:r>
                    </a:p>
                  </a:txBody>
                  <a:tcPr marL="91440" marR="91440" marT="45720" marB="45720" anchor="ctr">
                    <a:lnR w="6668">
                      <a:solidFill>
                        <a:srgbClr val="DCE5E9"/>
                      </a:solidFill>
                      <a:prstDash val="solid"/>
                    </a:lnR>
                    <a:lnB w="6668">
                      <a:solidFill>
                        <a:srgbClr val="DCE5E9"/>
                      </a:solidFill>
                      <a:prstDash val="solid"/>
                    </a:lnB>
                    <a:solidFill>
                      <a:srgbClr val="FFFFFF"/>
                    </a:solidFill>
                  </a:tcPr>
                </a:tc>
                <a:tc>
                  <a:txBody>
                    <a:bodyPr lIns="114300" tIns="114300" rIns="114300" bIns="114300"/>
                    <a:lstStyle/>
                    <a:p>
                      <a:r>
                        <a:rPr sz="1950" b="0">
                          <a:solidFill>
                            <a:srgbClr val="152B3B"/>
                          </a:solidFill>
                          <a:latin typeface="Arial"/>
                          <a:ea typeface="Arial"/>
                          <a:cs typeface="Arial"/>
                        </a:rPr>
                        <a:t>-0,006</a:t>
                      </a:r>
                    </a:p>
                  </a:txBody>
                  <a:tcPr marL="91440" marR="91440" marT="45720" marB="45720" anchor="ctr">
                    <a:lnR w="6668">
                      <a:solidFill>
                        <a:srgbClr val="DCE5E9"/>
                      </a:solidFill>
                      <a:prstDash val="solid"/>
                    </a:lnR>
                    <a:lnB w="6668">
                      <a:solidFill>
                        <a:srgbClr val="DCE5E9"/>
                      </a:solidFill>
                      <a:prstDash val="solid"/>
                    </a:lnB>
                    <a:solidFill>
                      <a:srgbClr val="FFFFFF"/>
                    </a:solidFill>
                  </a:tcPr>
                </a:tc>
              </a:tr>
              <a:tr h="600075">
                <a:tc>
                  <a:txBody>
                    <a:bodyPr lIns="114300" tIns="114300" rIns="114300" bIns="114300"/>
                    <a:lstStyle/>
                    <a:p>
                      <a:r>
                        <a:rPr sz="1950" b="0">
                          <a:solidFill>
                            <a:srgbClr val="152B3B"/>
                          </a:solidFill>
                          <a:latin typeface="Arial"/>
                          <a:ea typeface="Arial"/>
                          <a:cs typeface="Arial"/>
                        </a:rPr>
                        <a:t>Линейная регрессия</a:t>
                      </a:r>
                    </a:p>
                  </a:txBody>
                  <a:tcPr marL="91440" marR="91440" marT="45720" marB="45720" anchor="ctr">
                    <a:lnL w="6668">
                      <a:solidFill>
                        <a:srgbClr val="DCE5E9"/>
                      </a:solidFill>
                      <a:prstDash val="solid"/>
                    </a:lnL>
                    <a:lnR w="6668">
                      <a:solidFill>
                        <a:srgbClr val="DCE5E9"/>
                      </a:solidFill>
                      <a:prstDash val="solid"/>
                    </a:lnR>
                    <a:lnB w="6668">
                      <a:solidFill>
                        <a:srgbClr val="DCE5E9"/>
                      </a:solidFill>
                      <a:prstDash val="solid"/>
                    </a:lnB>
                    <a:solidFill>
                      <a:srgbClr val="F3F7F8"/>
                    </a:solidFill>
                  </a:tcPr>
                </a:tc>
                <a:tc>
                  <a:txBody>
                    <a:bodyPr lIns="114300" tIns="114300" rIns="114300" bIns="114300"/>
                    <a:lstStyle/>
                    <a:p>
                      <a:r>
                        <a:rPr sz="1950" b="0">
                          <a:solidFill>
                            <a:srgbClr val="152B3B"/>
                          </a:solidFill>
                          <a:latin typeface="Arial"/>
                          <a:ea typeface="Arial"/>
                          <a:cs typeface="Arial"/>
                        </a:rPr>
                        <a:t>8,68</a:t>
                      </a:r>
                    </a:p>
                  </a:txBody>
                  <a:tcPr marL="91440" marR="91440" marT="45720" marB="45720" anchor="ctr">
                    <a:lnR w="6668">
                      <a:solidFill>
                        <a:srgbClr val="DCE5E9"/>
                      </a:solidFill>
                      <a:prstDash val="solid"/>
                    </a:lnR>
                    <a:lnB w="6668">
                      <a:solidFill>
                        <a:srgbClr val="DCE5E9"/>
                      </a:solidFill>
                      <a:prstDash val="solid"/>
                    </a:lnB>
                    <a:solidFill>
                      <a:srgbClr val="F3F7F8"/>
                    </a:solidFill>
                  </a:tcPr>
                </a:tc>
                <a:tc>
                  <a:txBody>
                    <a:bodyPr lIns="114300" tIns="114300" rIns="114300" bIns="114300"/>
                    <a:lstStyle/>
                    <a:p>
                      <a:r>
                        <a:rPr sz="1950" b="0">
                          <a:solidFill>
                            <a:srgbClr val="152B3B"/>
                          </a:solidFill>
                          <a:latin typeface="Arial"/>
                          <a:ea typeface="Arial"/>
                          <a:cs typeface="Arial"/>
                        </a:rPr>
                        <a:t>10,79</a:t>
                      </a:r>
                    </a:p>
                  </a:txBody>
                  <a:tcPr marL="91440" marR="91440" marT="45720" marB="45720" anchor="ctr">
                    <a:lnR w="6668">
                      <a:solidFill>
                        <a:srgbClr val="DCE5E9"/>
                      </a:solidFill>
                      <a:prstDash val="solid"/>
                    </a:lnR>
                    <a:lnB w="6668">
                      <a:solidFill>
                        <a:srgbClr val="DCE5E9"/>
                      </a:solidFill>
                      <a:prstDash val="solid"/>
                    </a:lnB>
                    <a:solidFill>
                      <a:srgbClr val="F3F7F8"/>
                    </a:solidFill>
                  </a:tcPr>
                </a:tc>
                <a:tc>
                  <a:txBody>
                    <a:bodyPr lIns="114300" tIns="114300" rIns="114300" bIns="114300"/>
                    <a:lstStyle/>
                    <a:p>
                      <a:r>
                        <a:rPr sz="1950" b="0">
                          <a:solidFill>
                            <a:srgbClr val="152B3B"/>
                          </a:solidFill>
                          <a:latin typeface="Arial"/>
                          <a:ea typeface="Arial"/>
                          <a:cs typeface="Arial"/>
                        </a:rPr>
                        <a:t>0,639</a:t>
                      </a:r>
                    </a:p>
                  </a:txBody>
                  <a:tcPr marL="91440" marR="91440" marT="45720" marB="45720" anchor="ctr">
                    <a:lnR w="6668">
                      <a:solidFill>
                        <a:srgbClr val="DCE5E9"/>
                      </a:solidFill>
                      <a:prstDash val="solid"/>
                    </a:lnR>
                    <a:lnB w="6668">
                      <a:solidFill>
                        <a:srgbClr val="DCE5E9"/>
                      </a:solidFill>
                      <a:prstDash val="solid"/>
                    </a:lnB>
                    <a:solidFill>
                      <a:srgbClr val="F3F7F8"/>
                    </a:solidFill>
                  </a:tcPr>
                </a:tc>
              </a:tr>
              <a:tr h="600075">
                <a:tc>
                  <a:txBody>
                    <a:bodyPr lIns="114300" tIns="114300" rIns="114300" bIns="114300"/>
                    <a:lstStyle/>
                    <a:p>
                      <a:r>
                        <a:rPr sz="1950" b="0">
                          <a:solidFill>
                            <a:srgbClr val="152B3B"/>
                          </a:solidFill>
                          <a:latin typeface="Arial"/>
                          <a:ea typeface="Arial"/>
                          <a:cs typeface="Arial"/>
                        </a:rPr>
                        <a:t>Случайный лес</a:t>
                      </a:r>
                    </a:p>
                  </a:txBody>
                  <a:tcPr marL="91440" marR="91440" marT="45720" marB="45720" anchor="ctr">
                    <a:lnL w="6668">
                      <a:solidFill>
                        <a:srgbClr val="DCE5E9"/>
                      </a:solidFill>
                      <a:prstDash val="solid"/>
                    </a:lnL>
                    <a:lnR w="6668">
                      <a:solidFill>
                        <a:srgbClr val="DCE5E9"/>
                      </a:solidFill>
                      <a:prstDash val="solid"/>
                    </a:lnR>
                    <a:lnB w="6668">
                      <a:solidFill>
                        <a:srgbClr val="DCE5E9"/>
                      </a:solidFill>
                      <a:prstDash val="solid"/>
                    </a:lnB>
                    <a:solidFill>
                      <a:srgbClr val="FFFFFF"/>
                    </a:solidFill>
                  </a:tcPr>
                </a:tc>
                <a:tc>
                  <a:txBody>
                    <a:bodyPr lIns="114300" tIns="114300" rIns="114300" bIns="114300"/>
                    <a:lstStyle/>
                    <a:p>
                      <a:r>
                        <a:rPr sz="1950" b="0">
                          <a:solidFill>
                            <a:srgbClr val="152B3B"/>
                          </a:solidFill>
                          <a:latin typeface="Arial"/>
                          <a:ea typeface="Arial"/>
                          <a:cs typeface="Arial"/>
                        </a:rPr>
                        <a:t>4,62</a:t>
                      </a:r>
                    </a:p>
                  </a:txBody>
                  <a:tcPr marL="91440" marR="91440" marT="45720" marB="45720" anchor="ctr">
                    <a:lnR w="6668">
                      <a:solidFill>
                        <a:srgbClr val="DCE5E9"/>
                      </a:solidFill>
                      <a:prstDash val="solid"/>
                    </a:lnR>
                    <a:lnB w="6668">
                      <a:solidFill>
                        <a:srgbClr val="DCE5E9"/>
                      </a:solidFill>
                      <a:prstDash val="solid"/>
                    </a:lnB>
                    <a:solidFill>
                      <a:srgbClr val="FFFFFF"/>
                    </a:solidFill>
                  </a:tcPr>
                </a:tc>
                <a:tc>
                  <a:txBody>
                    <a:bodyPr lIns="114300" tIns="114300" rIns="114300" bIns="114300"/>
                    <a:lstStyle/>
                    <a:p>
                      <a:r>
                        <a:rPr sz="1950" b="0">
                          <a:solidFill>
                            <a:srgbClr val="152B3B"/>
                          </a:solidFill>
                          <a:latin typeface="Arial"/>
                          <a:ea typeface="Arial"/>
                          <a:cs typeface="Arial"/>
                        </a:rPr>
                        <a:t>6,60</a:t>
                      </a:r>
                    </a:p>
                  </a:txBody>
                  <a:tcPr marL="91440" marR="91440" marT="45720" marB="45720" anchor="ctr">
                    <a:lnR w="6668">
                      <a:solidFill>
                        <a:srgbClr val="DCE5E9"/>
                      </a:solidFill>
                      <a:prstDash val="solid"/>
                    </a:lnR>
                    <a:lnB w="6668">
                      <a:solidFill>
                        <a:srgbClr val="DCE5E9"/>
                      </a:solidFill>
                      <a:prstDash val="solid"/>
                    </a:lnB>
                    <a:solidFill>
                      <a:srgbClr val="FFFFFF"/>
                    </a:solidFill>
                  </a:tcPr>
                </a:tc>
                <a:tc>
                  <a:txBody>
                    <a:bodyPr lIns="114300" tIns="114300" rIns="114300" bIns="114300"/>
                    <a:lstStyle/>
                    <a:p>
                      <a:r>
                        <a:rPr sz="1950" b="0">
                          <a:solidFill>
                            <a:srgbClr val="152B3B"/>
                          </a:solidFill>
                          <a:latin typeface="Arial"/>
                          <a:ea typeface="Arial"/>
                          <a:cs typeface="Arial"/>
                        </a:rPr>
                        <a:t>0,865</a:t>
                      </a:r>
                    </a:p>
                  </a:txBody>
                  <a:tcPr marL="91440" marR="91440" marT="45720" marB="45720" anchor="ctr">
                    <a:lnR w="6668">
                      <a:solidFill>
                        <a:srgbClr val="DCE5E9"/>
                      </a:solidFill>
                      <a:prstDash val="solid"/>
                    </a:lnR>
                    <a:lnB w="6668">
                      <a:solidFill>
                        <a:srgbClr val="DCE5E9"/>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D73AD8B-CF26-4368-BC62-5B12E1BEEC09}"/>
              </a:ext>
            </a:extLst>
          </p:cNvPr>
          <p:cNvSpPr>
            <a:spLocks xmlns:a="http://schemas.openxmlformats.org/drawingml/2006/main" noGrp="1"/>
          </p:cNvSpPr>
          <p:nvPr/>
        </p:nvSpPr>
        <p:spPr>
          <a:xfrm xmlns:a="http://schemas.openxmlformats.org/drawingml/2006/main">
            <a:off x="609600" y="44386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00" b="1">
                <a:solidFill>
                  <a:srgbClr val="167D8D"/>
                </a:solidFill>
                <a:latin typeface="Arial"/>
                <a:ea typeface="Arial"/>
                <a:cs typeface="Arial"/>
              </a:defRPr>
            </a:defPPr>
            <a:lvl1pPr>
              <a:defRPr sz="3600" b="1">
                <a:solidFill>
                  <a:srgbClr val="167D8D"/>
                </a:solidFill>
                <a:latin typeface="Arial"/>
                <a:ea typeface="Arial"/>
                <a:cs typeface="Arial"/>
              </a:defRPr>
            </a:lvl1pPr>
            <a:lvl2pPr>
              <a:defRPr sz="3600" b="1">
                <a:solidFill>
                  <a:srgbClr val="167D8D"/>
                </a:solidFill>
                <a:latin typeface="Arial"/>
                <a:ea typeface="Arial"/>
                <a:cs typeface="Arial"/>
              </a:defRPr>
            </a:lvl2pPr>
            <a:lvl3pPr>
              <a:defRPr sz="3600" b="1">
                <a:solidFill>
                  <a:srgbClr val="167D8D"/>
                </a:solidFill>
                <a:latin typeface="Arial"/>
                <a:ea typeface="Arial"/>
                <a:cs typeface="Arial"/>
              </a:defRPr>
            </a:lvl3pPr>
            <a:lvl4pPr>
              <a:defRPr sz="3600" b="1">
                <a:solidFill>
                  <a:srgbClr val="167D8D"/>
                </a:solidFill>
                <a:latin typeface="Arial"/>
                <a:ea typeface="Arial"/>
                <a:cs typeface="Arial"/>
              </a:defRPr>
            </a:lvl4pPr>
            <a:lvl5pPr>
              <a:defRPr sz="3600" b="1">
                <a:solidFill>
                  <a:srgbClr val="167D8D"/>
                </a:solidFill>
                <a:latin typeface="Arial"/>
                <a:ea typeface="Arial"/>
                <a:cs typeface="Arial"/>
              </a:defRPr>
            </a:lvl5pPr>
            <a:lvl6pPr>
              <a:defRPr sz="3600" b="1">
                <a:solidFill>
                  <a:srgbClr val="167D8D"/>
                </a:solidFill>
                <a:latin typeface="Arial"/>
                <a:ea typeface="Arial"/>
                <a:cs typeface="Arial"/>
              </a:defRPr>
            </a:lvl6pPr>
            <a:lvl7pPr>
              <a:defRPr sz="3600" b="1">
                <a:solidFill>
                  <a:srgbClr val="167D8D"/>
                </a:solidFill>
                <a:latin typeface="Arial"/>
                <a:ea typeface="Arial"/>
                <a:cs typeface="Arial"/>
              </a:defRPr>
            </a:lvl7pPr>
            <a:lvl8pPr>
              <a:defRPr sz="3600" b="1">
                <a:solidFill>
                  <a:srgbClr val="167D8D"/>
                </a:solidFill>
                <a:latin typeface="Arial"/>
                <a:ea typeface="Arial"/>
                <a:cs typeface="Arial"/>
              </a:defRPr>
            </a:lvl8pPr>
            <a:lvl9pPr>
              <a:defRPr sz="3600" b="1">
                <a:solidFill>
                  <a:srgbClr val="167D8D"/>
                </a:solidFill>
                <a:latin typeface="Arial"/>
                <a:ea typeface="Arial"/>
                <a:cs typeface="Arial"/>
              </a:defRPr>
            </a:lvl9pPr>
          </a:lstStyle>
          <a:p xmlns:a="http://schemas.openxmlformats.org/drawingml/2006/main">
            <a:pPr>
              <a:defRPr sz="3600" b="1">
                <a:solidFill>
                  <a:srgbClr val="167D8D"/>
                </a:solidFill>
                <a:latin typeface="Arial"/>
                <a:ea typeface="Arial"/>
                <a:cs typeface="Arial"/>
              </a:defRPr>
            </a:pPr>
            <a:r>
              <a:rPr sz="3600" b="1">
                <a:solidFill>
                  <a:srgbClr val="167D8D"/>
                </a:solidFill>
                <a:latin typeface="Arial"/>
                <a:ea typeface="Arial"/>
                <a:cs typeface="Arial"/>
              </a:rPr>
              <a:t>RMSE ниже на 38,8%</a:t>
            </a:r>
          </a:p>
        </p:txBody>
      </p:sp>
      <p:sp>
        <p:nvSpPr>
          <p:cNvPr id="6" name="">
            <a:extLst xmlns:a="http://schemas.openxmlformats.org/drawingml/2006/main">
              <a:ext uri="{FF2B5EF4-FFF2-40B4-BE49-F238E27FC236}">
                <a16:creationId xmlns:a16="http://schemas.microsoft.com/office/drawing/2014/main" id="{7681C4F4-BC8E-4187-8282-7EAD208491EE}"/>
              </a:ext>
            </a:extLst>
          </p:cNvPr>
          <p:cNvSpPr>
            <a:spLocks xmlns:a="http://schemas.openxmlformats.org/drawingml/2006/main" noGrp="1"/>
          </p:cNvSpPr>
          <p:nvPr/>
        </p:nvSpPr>
        <p:spPr>
          <a:xfrm xmlns:a="http://schemas.openxmlformats.org/drawingml/2006/main">
            <a:off x="609600" y="5334000"/>
            <a:ext cx="1090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52B3B"/>
                </a:solidFill>
                <a:latin typeface="Arial"/>
                <a:ea typeface="Arial"/>
                <a:cs typeface="Arial"/>
              </a:defRPr>
            </a:defPPr>
            <a:lvl1pPr>
              <a:defRPr sz="2025" b="0">
                <a:solidFill>
                  <a:srgbClr val="152B3B"/>
                </a:solidFill>
                <a:latin typeface="Arial"/>
                <a:ea typeface="Arial"/>
                <a:cs typeface="Arial"/>
              </a:defRPr>
            </a:lvl1pPr>
            <a:lvl2pPr>
              <a:defRPr sz="2025" b="0">
                <a:solidFill>
                  <a:srgbClr val="152B3B"/>
                </a:solidFill>
                <a:latin typeface="Arial"/>
                <a:ea typeface="Arial"/>
                <a:cs typeface="Arial"/>
              </a:defRPr>
            </a:lvl2pPr>
            <a:lvl3pPr>
              <a:defRPr sz="2025" b="0">
                <a:solidFill>
                  <a:srgbClr val="152B3B"/>
                </a:solidFill>
                <a:latin typeface="Arial"/>
                <a:ea typeface="Arial"/>
                <a:cs typeface="Arial"/>
              </a:defRPr>
            </a:lvl3pPr>
            <a:lvl4pPr>
              <a:defRPr sz="2025" b="0">
                <a:solidFill>
                  <a:srgbClr val="152B3B"/>
                </a:solidFill>
                <a:latin typeface="Arial"/>
                <a:ea typeface="Arial"/>
                <a:cs typeface="Arial"/>
              </a:defRPr>
            </a:lvl4pPr>
            <a:lvl5pPr>
              <a:defRPr sz="2025" b="0">
                <a:solidFill>
                  <a:srgbClr val="152B3B"/>
                </a:solidFill>
                <a:latin typeface="Arial"/>
                <a:ea typeface="Arial"/>
                <a:cs typeface="Arial"/>
              </a:defRPr>
            </a:lvl5pPr>
            <a:lvl6pPr>
              <a:defRPr sz="2025" b="0">
                <a:solidFill>
                  <a:srgbClr val="152B3B"/>
                </a:solidFill>
                <a:latin typeface="Arial"/>
                <a:ea typeface="Arial"/>
                <a:cs typeface="Arial"/>
              </a:defRPr>
            </a:lvl6pPr>
            <a:lvl7pPr>
              <a:defRPr sz="2025" b="0">
                <a:solidFill>
                  <a:srgbClr val="152B3B"/>
                </a:solidFill>
                <a:latin typeface="Arial"/>
                <a:ea typeface="Arial"/>
                <a:cs typeface="Arial"/>
              </a:defRPr>
            </a:lvl7pPr>
            <a:lvl8pPr>
              <a:defRPr sz="2025" b="0">
                <a:solidFill>
                  <a:srgbClr val="152B3B"/>
                </a:solidFill>
                <a:latin typeface="Arial"/>
                <a:ea typeface="Arial"/>
                <a:cs typeface="Arial"/>
              </a:defRPr>
            </a:lvl8pPr>
            <a:lvl9pPr>
              <a:defRPr sz="2025" b="0">
                <a:solidFill>
                  <a:srgbClr val="152B3B"/>
                </a:solidFill>
                <a:latin typeface="Arial"/>
                <a:ea typeface="Arial"/>
                <a:cs typeface="Arial"/>
              </a:defRPr>
            </a:lvl9pPr>
          </a:lstStyle>
          <a:p xmlns:a="http://schemas.openxmlformats.org/drawingml/2006/main">
            <a:pPr>
              <a:defRPr sz="2025" b="0">
                <a:solidFill>
                  <a:srgbClr val="152B3B"/>
                </a:solidFill>
                <a:latin typeface="Arial"/>
                <a:ea typeface="Arial"/>
                <a:cs typeface="Arial"/>
              </a:defRPr>
            </a:pPr>
            <a:r>
              <a:rPr sz="2025" b="0">
                <a:solidFill>
                  <a:srgbClr val="152B3B"/>
                </a:solidFill>
                <a:latin typeface="Arial"/>
                <a:ea typeface="Arial"/>
                <a:cs typeface="Arial"/>
              </a:rPr>
              <a:t>CV RMSE: регрессия 10,33 ± 0,72 МПа, лес 5,96 ± 0,84 МПа</a:t>
            </a:r>
          </a:p>
        </p:txBody>
      </p:sp>
      <p:sp>
        <p:nvSpPr>
          <p:cNvPr id="7" name="">
            <a:extLst xmlns:a="http://schemas.openxmlformats.org/drawingml/2006/main">
              <a:ext uri="{FF2B5EF4-FFF2-40B4-BE49-F238E27FC236}">
                <a16:creationId xmlns:a16="http://schemas.microsoft.com/office/drawing/2014/main" id="{79FAE335-2B0B-4E29-BE07-6F5292881293}"/>
              </a:ext>
            </a:extLst>
          </p:cNvPr>
          <p:cNvSpPr>
            <a:spLocks xmlns:a="http://schemas.openxmlformats.org/drawingml/2006/main" noGrp="1"/>
          </p:cNvSpPr>
          <p:nvPr/>
        </p:nvSpPr>
        <p:spPr>
          <a:xfrm xmlns:a="http://schemas.openxmlformats.org/drawingml/2006/main">
            <a:off x="609600" y="6048375"/>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526776"/>
                </a:solidFill>
                <a:latin typeface="Arial"/>
                <a:ea typeface="Arial"/>
                <a:cs typeface="Arial"/>
              </a:defRPr>
            </a:defPPr>
            <a:lvl1pPr>
              <a:defRPr sz="1500" b="0">
                <a:solidFill>
                  <a:srgbClr val="526776"/>
                </a:solidFill>
                <a:latin typeface="Arial"/>
                <a:ea typeface="Arial"/>
                <a:cs typeface="Arial"/>
              </a:defRPr>
            </a:lvl1pPr>
            <a:lvl2pPr>
              <a:defRPr sz="1500" b="0">
                <a:solidFill>
                  <a:srgbClr val="526776"/>
                </a:solidFill>
                <a:latin typeface="Arial"/>
                <a:ea typeface="Arial"/>
                <a:cs typeface="Arial"/>
              </a:defRPr>
            </a:lvl2pPr>
            <a:lvl3pPr>
              <a:defRPr sz="1500" b="0">
                <a:solidFill>
                  <a:srgbClr val="526776"/>
                </a:solidFill>
                <a:latin typeface="Arial"/>
                <a:ea typeface="Arial"/>
                <a:cs typeface="Arial"/>
              </a:defRPr>
            </a:lvl3pPr>
            <a:lvl4pPr>
              <a:defRPr sz="1500" b="0">
                <a:solidFill>
                  <a:srgbClr val="526776"/>
                </a:solidFill>
                <a:latin typeface="Arial"/>
                <a:ea typeface="Arial"/>
                <a:cs typeface="Arial"/>
              </a:defRPr>
            </a:lvl4pPr>
            <a:lvl5pPr>
              <a:defRPr sz="1500" b="0">
                <a:solidFill>
                  <a:srgbClr val="526776"/>
                </a:solidFill>
                <a:latin typeface="Arial"/>
                <a:ea typeface="Arial"/>
                <a:cs typeface="Arial"/>
              </a:defRPr>
            </a:lvl5pPr>
            <a:lvl6pPr>
              <a:defRPr sz="1500" b="0">
                <a:solidFill>
                  <a:srgbClr val="526776"/>
                </a:solidFill>
                <a:latin typeface="Arial"/>
                <a:ea typeface="Arial"/>
                <a:cs typeface="Arial"/>
              </a:defRPr>
            </a:lvl6pPr>
            <a:lvl7pPr>
              <a:defRPr sz="1500" b="0">
                <a:solidFill>
                  <a:srgbClr val="526776"/>
                </a:solidFill>
                <a:latin typeface="Arial"/>
                <a:ea typeface="Arial"/>
                <a:cs typeface="Arial"/>
              </a:defRPr>
            </a:lvl7pPr>
            <a:lvl8pPr>
              <a:defRPr sz="1500" b="0">
                <a:solidFill>
                  <a:srgbClr val="526776"/>
                </a:solidFill>
                <a:latin typeface="Arial"/>
                <a:ea typeface="Arial"/>
                <a:cs typeface="Arial"/>
              </a:defRPr>
            </a:lvl8pPr>
            <a:lvl9pPr>
              <a:defRPr sz="1500" b="0">
                <a:solidFill>
                  <a:srgbClr val="526776"/>
                </a:solidFill>
                <a:latin typeface="Arial"/>
                <a:ea typeface="Arial"/>
                <a:cs typeface="Arial"/>
              </a:defRPr>
            </a:lvl9pPr>
          </a:lstStyle>
          <a:p xmlns:a="http://schemas.openxmlformats.org/drawingml/2006/main">
            <a:pPr>
              <a:defRPr sz="1500" b="0">
                <a:solidFill>
                  <a:srgbClr val="526776"/>
                </a:solidFill>
                <a:latin typeface="Arial"/>
                <a:ea typeface="Arial"/>
                <a:cs typeface="Arial"/>
              </a:defRPr>
            </a:pPr>
            <a:r>
              <a:rPr sz="1500" b="0">
                <a:solidFill>
                  <a:srgbClr val="526776"/>
                </a:solidFill>
                <a:latin typeface="Arial"/>
                <a:ea typeface="Arial"/>
                <a:cs typeface="Arial"/>
              </a:rPr>
              <a:t>MAE: средний промах. RMSE: сильнее учитывает крупные ошибки. R²: ближе к 1 лучше.</a:t>
            </a:r>
          </a:p>
        </p:txBody>
      </p:sp>
    </p:spTree>
    <p:extLst>
      <p:ext uri="{BB962C8B-B14F-4D97-AF65-F5344CB8AC3E}">
        <p14:creationId xmlns:p14="http://schemas.microsoft.com/office/powerpoint/2010/main" val="115913540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2FE76205-A458-43B1-ADC2-5BC1AE222F9D}"/>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152B3B"/>
                </a:solidFill>
                <a:latin typeface="Arial"/>
                <a:ea typeface="Arial"/>
                <a:cs typeface="Arial"/>
              </a:defRPr>
            </a:defPPr>
            <a:lvl1pPr>
              <a:defRPr sz="2850" b="1">
                <a:solidFill>
                  <a:srgbClr val="152B3B"/>
                </a:solidFill>
                <a:latin typeface="Arial"/>
                <a:ea typeface="Arial"/>
                <a:cs typeface="Arial"/>
              </a:defRPr>
            </a:lvl1pPr>
            <a:lvl2pPr>
              <a:defRPr sz="2850" b="1">
                <a:solidFill>
                  <a:srgbClr val="152B3B"/>
                </a:solidFill>
                <a:latin typeface="Arial"/>
                <a:ea typeface="Arial"/>
                <a:cs typeface="Arial"/>
              </a:defRPr>
            </a:lvl2pPr>
            <a:lvl3pPr>
              <a:defRPr sz="2850" b="1">
                <a:solidFill>
                  <a:srgbClr val="152B3B"/>
                </a:solidFill>
                <a:latin typeface="Arial"/>
                <a:ea typeface="Arial"/>
                <a:cs typeface="Arial"/>
              </a:defRPr>
            </a:lvl3pPr>
            <a:lvl4pPr>
              <a:defRPr sz="2850" b="1">
                <a:solidFill>
                  <a:srgbClr val="152B3B"/>
                </a:solidFill>
                <a:latin typeface="Arial"/>
                <a:ea typeface="Arial"/>
                <a:cs typeface="Arial"/>
              </a:defRPr>
            </a:lvl4pPr>
            <a:lvl5pPr>
              <a:defRPr sz="2850" b="1">
                <a:solidFill>
                  <a:srgbClr val="152B3B"/>
                </a:solidFill>
                <a:latin typeface="Arial"/>
                <a:ea typeface="Arial"/>
                <a:cs typeface="Arial"/>
              </a:defRPr>
            </a:lvl5pPr>
            <a:lvl6pPr>
              <a:defRPr sz="2850" b="1">
                <a:solidFill>
                  <a:srgbClr val="152B3B"/>
                </a:solidFill>
                <a:latin typeface="Arial"/>
                <a:ea typeface="Arial"/>
                <a:cs typeface="Arial"/>
              </a:defRPr>
            </a:lvl6pPr>
            <a:lvl7pPr>
              <a:defRPr sz="2850" b="1">
                <a:solidFill>
                  <a:srgbClr val="152B3B"/>
                </a:solidFill>
                <a:latin typeface="Arial"/>
                <a:ea typeface="Arial"/>
                <a:cs typeface="Arial"/>
              </a:defRPr>
            </a:lvl7pPr>
            <a:lvl8pPr>
              <a:defRPr sz="2850" b="1">
                <a:solidFill>
                  <a:srgbClr val="152B3B"/>
                </a:solidFill>
                <a:latin typeface="Arial"/>
                <a:ea typeface="Arial"/>
                <a:cs typeface="Arial"/>
              </a:defRPr>
            </a:lvl8pPr>
            <a:lvl9pPr>
              <a:defRPr sz="2850" b="1">
                <a:solidFill>
                  <a:srgbClr val="152B3B"/>
                </a:solidFill>
                <a:latin typeface="Arial"/>
                <a:ea typeface="Arial"/>
                <a:cs typeface="Arial"/>
              </a:defRPr>
            </a:lvl9pPr>
          </a:lstStyle>
          <a:p xmlns:a="http://schemas.openxmlformats.org/drawingml/2006/main">
            <a:pPr>
              <a:defRPr sz="2850" b="1">
                <a:solidFill>
                  <a:srgbClr val="152B3B"/>
                </a:solidFill>
                <a:latin typeface="Arial"/>
                <a:ea typeface="Arial"/>
                <a:cs typeface="Arial"/>
              </a:defRPr>
            </a:pPr>
            <a:r>
              <a:rPr sz="2850" b="1">
                <a:solidFill>
                  <a:srgbClr val="152B3B"/>
                </a:solidFill>
                <a:latin typeface="Arial"/>
                <a:ea typeface="Arial"/>
                <a:cs typeface="Arial"/>
              </a:rPr>
              <a:t>Прогнозы леса ближе к фактическим значениям</a:t>
            </a:r>
          </a:p>
        </p:txBody>
      </p:sp>
      <p:sp>
        <p:nvSpPr>
          <p:cNvPr id="3" name="folio">
            <a:extLst xmlns:a="http://schemas.openxmlformats.org/drawingml/2006/main">
              <a:ext uri="{FF2B5EF4-FFF2-40B4-BE49-F238E27FC236}">
                <a16:creationId xmlns:a16="http://schemas.microsoft.com/office/drawing/2014/main" id="{D7D064B7-7294-455C-B135-5E37600113BF}"/>
              </a:ext>
            </a:extLst>
          </p:cNvPr>
          <p:cNvSpPr>
            <a:spLocks xmlns:a="http://schemas.openxmlformats.org/drawingml/2006/main" noGrp="1"/>
          </p:cNvSpPr>
          <p:nvPr/>
        </p:nvSpPr>
        <p:spPr>
          <a:xfrm xmlns:a="http://schemas.openxmlformats.org/drawingml/2006/main">
            <a:off x="11353800" y="64389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6776"/>
                </a:solidFill>
                <a:latin typeface="Arial"/>
                <a:ea typeface="Arial"/>
                <a:cs typeface="Arial"/>
              </a:defRPr>
            </a:defPPr>
            <a:lvl1pPr>
              <a:defRPr sz="1200" b="0">
                <a:solidFill>
                  <a:srgbClr val="526776"/>
                </a:solidFill>
                <a:latin typeface="Arial"/>
                <a:ea typeface="Arial"/>
                <a:cs typeface="Arial"/>
              </a:defRPr>
            </a:lvl1pPr>
            <a:lvl2pPr>
              <a:defRPr sz="1200" b="0">
                <a:solidFill>
                  <a:srgbClr val="526776"/>
                </a:solidFill>
                <a:latin typeface="Arial"/>
                <a:ea typeface="Arial"/>
                <a:cs typeface="Arial"/>
              </a:defRPr>
            </a:lvl2pPr>
            <a:lvl3pPr>
              <a:defRPr sz="1200" b="0">
                <a:solidFill>
                  <a:srgbClr val="526776"/>
                </a:solidFill>
                <a:latin typeface="Arial"/>
                <a:ea typeface="Arial"/>
                <a:cs typeface="Arial"/>
              </a:defRPr>
            </a:lvl3pPr>
            <a:lvl4pPr>
              <a:defRPr sz="1200" b="0">
                <a:solidFill>
                  <a:srgbClr val="526776"/>
                </a:solidFill>
                <a:latin typeface="Arial"/>
                <a:ea typeface="Arial"/>
                <a:cs typeface="Arial"/>
              </a:defRPr>
            </a:lvl4pPr>
            <a:lvl5pPr>
              <a:defRPr sz="1200" b="0">
                <a:solidFill>
                  <a:srgbClr val="526776"/>
                </a:solidFill>
                <a:latin typeface="Arial"/>
                <a:ea typeface="Arial"/>
                <a:cs typeface="Arial"/>
              </a:defRPr>
            </a:lvl5pPr>
            <a:lvl6pPr>
              <a:defRPr sz="1200" b="0">
                <a:solidFill>
                  <a:srgbClr val="526776"/>
                </a:solidFill>
                <a:latin typeface="Arial"/>
                <a:ea typeface="Arial"/>
                <a:cs typeface="Arial"/>
              </a:defRPr>
            </a:lvl6pPr>
            <a:lvl7pPr>
              <a:defRPr sz="1200" b="0">
                <a:solidFill>
                  <a:srgbClr val="526776"/>
                </a:solidFill>
                <a:latin typeface="Arial"/>
                <a:ea typeface="Arial"/>
                <a:cs typeface="Arial"/>
              </a:defRPr>
            </a:lvl7pPr>
            <a:lvl8pPr>
              <a:defRPr sz="1200" b="0">
                <a:solidFill>
                  <a:srgbClr val="526776"/>
                </a:solidFill>
                <a:latin typeface="Arial"/>
                <a:ea typeface="Arial"/>
                <a:cs typeface="Arial"/>
              </a:defRPr>
            </a:lvl8pPr>
            <a:lvl9pPr>
              <a:defRPr sz="1200" b="0">
                <a:solidFill>
                  <a:srgbClr val="526776"/>
                </a:solidFill>
                <a:latin typeface="Arial"/>
                <a:ea typeface="Arial"/>
                <a:cs typeface="Arial"/>
              </a:defRPr>
            </a:lvl9pPr>
          </a:lstStyle>
          <a:p xmlns:a="http://schemas.openxmlformats.org/drawingml/2006/main">
            <a:pPr>
              <a:defRPr sz="1200" b="0">
                <a:solidFill>
                  <a:srgbClr val="526776"/>
                </a:solidFill>
                <a:latin typeface="Arial"/>
                <a:ea typeface="Arial"/>
                <a:cs typeface="Arial"/>
              </a:defRPr>
            </a:pPr>
            <a:r>
              <a:rPr sz="1200" b="0">
                <a:solidFill>
                  <a:srgbClr val="526776"/>
                </a:solidFill>
                <a:latin typeface="Arial"/>
                <a:ea typeface="Arial"/>
                <a:cs typeface="Arial"/>
              </a:rPr>
              <a:t>9</a:t>
            </a:r>
          </a:p>
        </p:txBody>
      </p:sp>
      <p:pic>
        <p:nvPicPr>
          <p:cNvPr id="4" name="">
            <a:extLst xmlns:a="http://schemas.openxmlformats.org/drawingml/2006/main">
              <a:ext uri="{FF2B5EF4-FFF2-40B4-BE49-F238E27FC236}">
                <a16:creationId xmlns:a16="http://schemas.microsoft.com/office/drawing/2014/main" id="{2DB61564-2050-45A9-869F-38D6331A5077}"/>
              </a:ext>
            </a:extLst>
          </p:cNvPr>
          <p:cNvPicPr>
            <a:picLocks xmlns:a="http://schemas.openxmlformats.org/drawingml/2006/main" noChangeAspect="1"/>
          </p:cNvPicPr>
          <p:nvPr/>
        </p:nvPicPr>
        <p:blipFill>
          <a:blip xmlns:r="http://schemas.openxmlformats.org/officeDocument/2006/relationships" xmlns:a="http://schemas.openxmlformats.org/drawingml/2006/main" r:embed="R409f1303d4a84ddf"/>
          <a:stretch xmlns:a="http://schemas.openxmlformats.org/drawingml/2006/main"/>
        </p:blipFill>
        <p:spPr>
          <a:xfrm xmlns:a="http://schemas.openxmlformats.org/drawingml/2006/main">
            <a:off x="1196763" y="1333500"/>
            <a:ext cx="9798474" cy="45243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EA2DF8B-8D65-46F9-BC1E-1D9DE775DC94}"/>
              </a:ext>
            </a:extLst>
          </p:cNvPr>
          <p:cNvSpPr>
            <a:spLocks xmlns:a="http://schemas.openxmlformats.org/drawingml/2006/main" noGrp="1"/>
          </p:cNvSpPr>
          <p:nvPr/>
        </p:nvSpPr>
        <p:spPr>
          <a:xfrm xmlns:a="http://schemas.openxmlformats.org/drawingml/2006/main">
            <a:off x="609600" y="60007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526776"/>
                </a:solidFill>
                <a:latin typeface="Arial"/>
                <a:ea typeface="Arial"/>
                <a:cs typeface="Arial"/>
              </a:defRPr>
            </a:defPPr>
            <a:lvl1pPr>
              <a:defRPr sz="1725" b="0">
                <a:solidFill>
                  <a:srgbClr val="526776"/>
                </a:solidFill>
                <a:latin typeface="Arial"/>
                <a:ea typeface="Arial"/>
                <a:cs typeface="Arial"/>
              </a:defRPr>
            </a:lvl1pPr>
            <a:lvl2pPr>
              <a:defRPr sz="1725" b="0">
                <a:solidFill>
                  <a:srgbClr val="526776"/>
                </a:solidFill>
                <a:latin typeface="Arial"/>
                <a:ea typeface="Arial"/>
                <a:cs typeface="Arial"/>
              </a:defRPr>
            </a:lvl2pPr>
            <a:lvl3pPr>
              <a:defRPr sz="1725" b="0">
                <a:solidFill>
                  <a:srgbClr val="526776"/>
                </a:solidFill>
                <a:latin typeface="Arial"/>
                <a:ea typeface="Arial"/>
                <a:cs typeface="Arial"/>
              </a:defRPr>
            </a:lvl3pPr>
            <a:lvl4pPr>
              <a:defRPr sz="1725" b="0">
                <a:solidFill>
                  <a:srgbClr val="526776"/>
                </a:solidFill>
                <a:latin typeface="Arial"/>
                <a:ea typeface="Arial"/>
                <a:cs typeface="Arial"/>
              </a:defRPr>
            </a:lvl4pPr>
            <a:lvl5pPr>
              <a:defRPr sz="1725" b="0">
                <a:solidFill>
                  <a:srgbClr val="526776"/>
                </a:solidFill>
                <a:latin typeface="Arial"/>
                <a:ea typeface="Arial"/>
                <a:cs typeface="Arial"/>
              </a:defRPr>
            </a:lvl5pPr>
            <a:lvl6pPr>
              <a:defRPr sz="1725" b="0">
                <a:solidFill>
                  <a:srgbClr val="526776"/>
                </a:solidFill>
                <a:latin typeface="Arial"/>
                <a:ea typeface="Arial"/>
                <a:cs typeface="Arial"/>
              </a:defRPr>
            </a:lvl6pPr>
            <a:lvl7pPr>
              <a:defRPr sz="1725" b="0">
                <a:solidFill>
                  <a:srgbClr val="526776"/>
                </a:solidFill>
                <a:latin typeface="Arial"/>
                <a:ea typeface="Arial"/>
                <a:cs typeface="Arial"/>
              </a:defRPr>
            </a:lvl7pPr>
            <a:lvl8pPr>
              <a:defRPr sz="1725" b="0">
                <a:solidFill>
                  <a:srgbClr val="526776"/>
                </a:solidFill>
                <a:latin typeface="Arial"/>
                <a:ea typeface="Arial"/>
                <a:cs typeface="Arial"/>
              </a:defRPr>
            </a:lvl8pPr>
            <a:lvl9pPr>
              <a:defRPr sz="1725" b="0">
                <a:solidFill>
                  <a:srgbClr val="526776"/>
                </a:solidFill>
                <a:latin typeface="Arial"/>
                <a:ea typeface="Arial"/>
                <a:cs typeface="Arial"/>
              </a:defRPr>
            </a:lvl9pPr>
          </a:lstStyle>
          <a:p xmlns:a="http://schemas.openxmlformats.org/drawingml/2006/main">
            <a:pPr>
              <a:defRPr sz="1725" b="0">
                <a:solidFill>
                  <a:srgbClr val="526776"/>
                </a:solidFill>
                <a:latin typeface="Arial"/>
                <a:ea typeface="Arial"/>
                <a:cs typeface="Arial"/>
              </a:defRPr>
            </a:pPr>
            <a:r>
              <a:rPr sz="1725" b="0">
                <a:solidFill>
                  <a:srgbClr val="526776"/>
                </a:solidFill>
                <a:latin typeface="Arial"/>
                <a:ea typeface="Arial"/>
                <a:cs typeface="Arial"/>
              </a:rPr>
              <a:t>Пунктирная линия показывает идеальное совпадение прогноза и факта</a:t>
            </a:r>
          </a:p>
        </p:txBody>
      </p:sp>
    </p:spTree>
    <p:extLst>
      <p:ext uri="{BB962C8B-B14F-4D97-AF65-F5344CB8AC3E}">
        <p14:creationId xmlns:p14="http://schemas.microsoft.com/office/powerpoint/2010/main" val="100729628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B5656387-C4AE-48C1-8D35-007BE76EE423}"/>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152B3B"/>
                </a:solidFill>
                <a:latin typeface="Arial"/>
                <a:ea typeface="Arial"/>
                <a:cs typeface="Arial"/>
              </a:defRPr>
            </a:defPPr>
            <a:lvl1pPr>
              <a:defRPr sz="2850" b="1">
                <a:solidFill>
                  <a:srgbClr val="152B3B"/>
                </a:solidFill>
                <a:latin typeface="Arial"/>
                <a:ea typeface="Arial"/>
                <a:cs typeface="Arial"/>
              </a:defRPr>
            </a:lvl1pPr>
            <a:lvl2pPr>
              <a:defRPr sz="2850" b="1">
                <a:solidFill>
                  <a:srgbClr val="152B3B"/>
                </a:solidFill>
                <a:latin typeface="Arial"/>
                <a:ea typeface="Arial"/>
                <a:cs typeface="Arial"/>
              </a:defRPr>
            </a:lvl2pPr>
            <a:lvl3pPr>
              <a:defRPr sz="2850" b="1">
                <a:solidFill>
                  <a:srgbClr val="152B3B"/>
                </a:solidFill>
                <a:latin typeface="Arial"/>
                <a:ea typeface="Arial"/>
                <a:cs typeface="Arial"/>
              </a:defRPr>
            </a:lvl3pPr>
            <a:lvl4pPr>
              <a:defRPr sz="2850" b="1">
                <a:solidFill>
                  <a:srgbClr val="152B3B"/>
                </a:solidFill>
                <a:latin typeface="Arial"/>
                <a:ea typeface="Arial"/>
                <a:cs typeface="Arial"/>
              </a:defRPr>
            </a:lvl4pPr>
            <a:lvl5pPr>
              <a:defRPr sz="2850" b="1">
                <a:solidFill>
                  <a:srgbClr val="152B3B"/>
                </a:solidFill>
                <a:latin typeface="Arial"/>
                <a:ea typeface="Arial"/>
                <a:cs typeface="Arial"/>
              </a:defRPr>
            </a:lvl5pPr>
            <a:lvl6pPr>
              <a:defRPr sz="2850" b="1">
                <a:solidFill>
                  <a:srgbClr val="152B3B"/>
                </a:solidFill>
                <a:latin typeface="Arial"/>
                <a:ea typeface="Arial"/>
                <a:cs typeface="Arial"/>
              </a:defRPr>
            </a:lvl6pPr>
            <a:lvl7pPr>
              <a:defRPr sz="2850" b="1">
                <a:solidFill>
                  <a:srgbClr val="152B3B"/>
                </a:solidFill>
                <a:latin typeface="Arial"/>
                <a:ea typeface="Arial"/>
                <a:cs typeface="Arial"/>
              </a:defRPr>
            </a:lvl7pPr>
            <a:lvl8pPr>
              <a:defRPr sz="2850" b="1">
                <a:solidFill>
                  <a:srgbClr val="152B3B"/>
                </a:solidFill>
                <a:latin typeface="Arial"/>
                <a:ea typeface="Arial"/>
                <a:cs typeface="Arial"/>
              </a:defRPr>
            </a:lvl8pPr>
            <a:lvl9pPr>
              <a:defRPr sz="2850" b="1">
                <a:solidFill>
                  <a:srgbClr val="152B3B"/>
                </a:solidFill>
                <a:latin typeface="Arial"/>
                <a:ea typeface="Arial"/>
                <a:cs typeface="Arial"/>
              </a:defRPr>
            </a:lvl9pPr>
          </a:lstStyle>
          <a:p xmlns:a="http://schemas.openxmlformats.org/drawingml/2006/main">
            <a:pPr>
              <a:defRPr sz="2850" b="1">
                <a:solidFill>
                  <a:srgbClr val="152B3B"/>
                </a:solidFill>
                <a:latin typeface="Arial"/>
                <a:ea typeface="Arial"/>
                <a:cs typeface="Arial"/>
              </a:defRPr>
            </a:pPr>
            <a:r>
              <a:rPr sz="2850" b="1">
                <a:solidFill>
                  <a:srgbClr val="152B3B"/>
                </a:solidFill>
                <a:latin typeface="Arial"/>
                <a:ea typeface="Arial"/>
                <a:cs typeface="Arial"/>
              </a:rPr>
              <a:t>Крупнейшие промахи связаны с высокой прочностью</a:t>
            </a:r>
          </a:p>
        </p:txBody>
      </p:sp>
      <p:sp>
        <p:nvSpPr>
          <p:cNvPr id="3" name="folio">
            <a:extLst xmlns:a="http://schemas.openxmlformats.org/drawingml/2006/main">
              <a:ext uri="{FF2B5EF4-FFF2-40B4-BE49-F238E27FC236}">
                <a16:creationId xmlns:a16="http://schemas.microsoft.com/office/drawing/2014/main" id="{3B264120-3B52-4FF7-9B2A-35D106B706E6}"/>
              </a:ext>
            </a:extLst>
          </p:cNvPr>
          <p:cNvSpPr>
            <a:spLocks xmlns:a="http://schemas.openxmlformats.org/drawingml/2006/main" noGrp="1"/>
          </p:cNvSpPr>
          <p:nvPr/>
        </p:nvSpPr>
        <p:spPr>
          <a:xfrm xmlns:a="http://schemas.openxmlformats.org/drawingml/2006/main">
            <a:off x="11353800" y="64389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6776"/>
                </a:solidFill>
                <a:latin typeface="Arial"/>
                <a:ea typeface="Arial"/>
                <a:cs typeface="Arial"/>
              </a:defRPr>
            </a:defPPr>
            <a:lvl1pPr>
              <a:defRPr sz="1200" b="0">
                <a:solidFill>
                  <a:srgbClr val="526776"/>
                </a:solidFill>
                <a:latin typeface="Arial"/>
                <a:ea typeface="Arial"/>
                <a:cs typeface="Arial"/>
              </a:defRPr>
            </a:lvl1pPr>
            <a:lvl2pPr>
              <a:defRPr sz="1200" b="0">
                <a:solidFill>
                  <a:srgbClr val="526776"/>
                </a:solidFill>
                <a:latin typeface="Arial"/>
                <a:ea typeface="Arial"/>
                <a:cs typeface="Arial"/>
              </a:defRPr>
            </a:lvl2pPr>
            <a:lvl3pPr>
              <a:defRPr sz="1200" b="0">
                <a:solidFill>
                  <a:srgbClr val="526776"/>
                </a:solidFill>
                <a:latin typeface="Arial"/>
                <a:ea typeface="Arial"/>
                <a:cs typeface="Arial"/>
              </a:defRPr>
            </a:lvl3pPr>
            <a:lvl4pPr>
              <a:defRPr sz="1200" b="0">
                <a:solidFill>
                  <a:srgbClr val="526776"/>
                </a:solidFill>
                <a:latin typeface="Arial"/>
                <a:ea typeface="Arial"/>
                <a:cs typeface="Arial"/>
              </a:defRPr>
            </a:lvl4pPr>
            <a:lvl5pPr>
              <a:defRPr sz="1200" b="0">
                <a:solidFill>
                  <a:srgbClr val="526776"/>
                </a:solidFill>
                <a:latin typeface="Arial"/>
                <a:ea typeface="Arial"/>
                <a:cs typeface="Arial"/>
              </a:defRPr>
            </a:lvl5pPr>
            <a:lvl6pPr>
              <a:defRPr sz="1200" b="0">
                <a:solidFill>
                  <a:srgbClr val="526776"/>
                </a:solidFill>
                <a:latin typeface="Arial"/>
                <a:ea typeface="Arial"/>
                <a:cs typeface="Arial"/>
              </a:defRPr>
            </a:lvl6pPr>
            <a:lvl7pPr>
              <a:defRPr sz="1200" b="0">
                <a:solidFill>
                  <a:srgbClr val="526776"/>
                </a:solidFill>
                <a:latin typeface="Arial"/>
                <a:ea typeface="Arial"/>
                <a:cs typeface="Arial"/>
              </a:defRPr>
            </a:lvl7pPr>
            <a:lvl8pPr>
              <a:defRPr sz="1200" b="0">
                <a:solidFill>
                  <a:srgbClr val="526776"/>
                </a:solidFill>
                <a:latin typeface="Arial"/>
                <a:ea typeface="Arial"/>
                <a:cs typeface="Arial"/>
              </a:defRPr>
            </a:lvl8pPr>
            <a:lvl9pPr>
              <a:defRPr sz="1200" b="0">
                <a:solidFill>
                  <a:srgbClr val="526776"/>
                </a:solidFill>
                <a:latin typeface="Arial"/>
                <a:ea typeface="Arial"/>
                <a:cs typeface="Arial"/>
              </a:defRPr>
            </a:lvl9pPr>
          </a:lstStyle>
          <a:p xmlns:a="http://schemas.openxmlformats.org/drawingml/2006/main">
            <a:pPr>
              <a:defRPr sz="1200" b="0">
                <a:solidFill>
                  <a:srgbClr val="526776"/>
                </a:solidFill>
                <a:latin typeface="Arial"/>
                <a:ea typeface="Arial"/>
                <a:cs typeface="Arial"/>
              </a:defRPr>
            </a:pPr>
            <a:r>
              <a:rPr sz="1200" b="0">
                <a:solidFill>
                  <a:srgbClr val="526776"/>
                </a:solidFill>
                <a:latin typeface="Arial"/>
                <a:ea typeface="Arial"/>
                <a:cs typeface="Arial"/>
              </a:rPr>
              <a:t>10</a:t>
            </a:r>
          </a:p>
        </p:txBody>
      </p:sp>
      <p:pic>
        <p:nvPicPr>
          <p:cNvPr id="4" name="">
            <a:extLst xmlns:a="http://schemas.openxmlformats.org/drawingml/2006/main">
              <a:ext uri="{FF2B5EF4-FFF2-40B4-BE49-F238E27FC236}">
                <a16:creationId xmlns:a16="http://schemas.microsoft.com/office/drawing/2014/main" id="{EB55D21D-D8D1-4E15-B5D7-1C001A3564C2}"/>
              </a:ext>
            </a:extLst>
          </p:cNvPr>
          <p:cNvPicPr>
            <a:picLocks xmlns:a="http://schemas.openxmlformats.org/drawingml/2006/main" noChangeAspect="1"/>
          </p:cNvPicPr>
          <p:nvPr/>
        </p:nvPicPr>
        <p:blipFill>
          <a:blip xmlns:r="http://schemas.openxmlformats.org/officeDocument/2006/relationships" xmlns:a="http://schemas.openxmlformats.org/drawingml/2006/main" r:embed="R7a8d548b41e64045"/>
          <a:stretch xmlns:a="http://schemas.openxmlformats.org/drawingml/2006/main"/>
        </p:blipFill>
        <p:spPr>
          <a:xfrm xmlns:a="http://schemas.openxmlformats.org/drawingml/2006/main">
            <a:off x="584666" y="1333500"/>
            <a:ext cx="11022669" cy="42195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87F8BB9-B9C1-433B-97DE-D84BBC63FFA5}"/>
              </a:ext>
            </a:extLst>
          </p:cNvPr>
          <p:cNvSpPr>
            <a:spLocks xmlns:a="http://schemas.openxmlformats.org/drawingml/2006/main" noGrp="1"/>
          </p:cNvSpPr>
          <p:nvPr/>
        </p:nvSpPr>
        <p:spPr>
          <a:xfrm xmlns:a="http://schemas.openxmlformats.org/drawingml/2006/main">
            <a:off x="609600" y="580072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67D8D"/>
                </a:solidFill>
                <a:latin typeface="Arial"/>
                <a:ea typeface="Arial"/>
                <a:cs typeface="Arial"/>
              </a:defRPr>
            </a:defPPr>
            <a:lvl1pPr>
              <a:defRPr sz="2175" b="1">
                <a:solidFill>
                  <a:srgbClr val="167D8D"/>
                </a:solidFill>
                <a:latin typeface="Arial"/>
                <a:ea typeface="Arial"/>
                <a:cs typeface="Arial"/>
              </a:defRPr>
            </a:lvl1pPr>
            <a:lvl2pPr>
              <a:defRPr sz="2175" b="1">
                <a:solidFill>
                  <a:srgbClr val="167D8D"/>
                </a:solidFill>
                <a:latin typeface="Arial"/>
                <a:ea typeface="Arial"/>
                <a:cs typeface="Arial"/>
              </a:defRPr>
            </a:lvl2pPr>
            <a:lvl3pPr>
              <a:defRPr sz="2175" b="1">
                <a:solidFill>
                  <a:srgbClr val="167D8D"/>
                </a:solidFill>
                <a:latin typeface="Arial"/>
                <a:ea typeface="Arial"/>
                <a:cs typeface="Arial"/>
              </a:defRPr>
            </a:lvl3pPr>
            <a:lvl4pPr>
              <a:defRPr sz="2175" b="1">
                <a:solidFill>
                  <a:srgbClr val="167D8D"/>
                </a:solidFill>
                <a:latin typeface="Arial"/>
                <a:ea typeface="Arial"/>
                <a:cs typeface="Arial"/>
              </a:defRPr>
            </a:lvl4pPr>
            <a:lvl5pPr>
              <a:defRPr sz="2175" b="1">
                <a:solidFill>
                  <a:srgbClr val="167D8D"/>
                </a:solidFill>
                <a:latin typeface="Arial"/>
                <a:ea typeface="Arial"/>
                <a:cs typeface="Arial"/>
              </a:defRPr>
            </a:lvl5pPr>
            <a:lvl6pPr>
              <a:defRPr sz="2175" b="1">
                <a:solidFill>
                  <a:srgbClr val="167D8D"/>
                </a:solidFill>
                <a:latin typeface="Arial"/>
                <a:ea typeface="Arial"/>
                <a:cs typeface="Arial"/>
              </a:defRPr>
            </a:lvl6pPr>
            <a:lvl7pPr>
              <a:defRPr sz="2175" b="1">
                <a:solidFill>
                  <a:srgbClr val="167D8D"/>
                </a:solidFill>
                <a:latin typeface="Arial"/>
                <a:ea typeface="Arial"/>
                <a:cs typeface="Arial"/>
              </a:defRPr>
            </a:lvl7pPr>
            <a:lvl8pPr>
              <a:defRPr sz="2175" b="1">
                <a:solidFill>
                  <a:srgbClr val="167D8D"/>
                </a:solidFill>
                <a:latin typeface="Arial"/>
                <a:ea typeface="Arial"/>
                <a:cs typeface="Arial"/>
              </a:defRPr>
            </a:lvl8pPr>
            <a:lvl9pPr>
              <a:defRPr sz="2175" b="1">
                <a:solidFill>
                  <a:srgbClr val="167D8D"/>
                </a:solidFill>
                <a:latin typeface="Arial"/>
                <a:ea typeface="Arial"/>
                <a:cs typeface="Arial"/>
              </a:defRPr>
            </a:lvl9pPr>
          </a:lstStyle>
          <a:p xmlns:a="http://schemas.openxmlformats.org/drawingml/2006/main">
            <a:pPr>
              <a:defRPr sz="2175" b="1">
                <a:solidFill>
                  <a:srgbClr val="167D8D"/>
                </a:solidFill>
                <a:latin typeface="Arial"/>
                <a:ea typeface="Arial"/>
                <a:cs typeface="Arial"/>
              </a:defRPr>
            </a:pPr>
            <a:r>
              <a:rPr sz="2175" b="1">
                <a:solidFill>
                  <a:srgbClr val="167D8D"/>
                </a:solidFill>
                <a:latin typeface="Arial"/>
                <a:ea typeface="Arial"/>
                <a:cs typeface="Arial"/>
              </a:rPr>
              <a:t>Для 23 образцов от 60 МПа средняя ошибка леса: −9,76 МПа</a:t>
            </a:r>
          </a:p>
        </p:txBody>
      </p:sp>
    </p:spTree>
    <p:extLst>
      <p:ext uri="{BB962C8B-B14F-4D97-AF65-F5344CB8AC3E}">
        <p14:creationId xmlns:p14="http://schemas.microsoft.com/office/powerpoint/2010/main" val="99907008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A0D777BC-B374-4538-B95A-B81ACC43B3A2}"/>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152B3B"/>
                </a:solidFill>
                <a:latin typeface="Arial"/>
                <a:ea typeface="Arial"/>
                <a:cs typeface="Arial"/>
              </a:defRPr>
            </a:defPPr>
            <a:lvl1pPr>
              <a:defRPr sz="2850" b="1">
                <a:solidFill>
                  <a:srgbClr val="152B3B"/>
                </a:solidFill>
                <a:latin typeface="Arial"/>
                <a:ea typeface="Arial"/>
                <a:cs typeface="Arial"/>
              </a:defRPr>
            </a:lvl1pPr>
            <a:lvl2pPr>
              <a:defRPr sz="2850" b="1">
                <a:solidFill>
                  <a:srgbClr val="152B3B"/>
                </a:solidFill>
                <a:latin typeface="Arial"/>
                <a:ea typeface="Arial"/>
                <a:cs typeface="Arial"/>
              </a:defRPr>
            </a:lvl2pPr>
            <a:lvl3pPr>
              <a:defRPr sz="2850" b="1">
                <a:solidFill>
                  <a:srgbClr val="152B3B"/>
                </a:solidFill>
                <a:latin typeface="Arial"/>
                <a:ea typeface="Arial"/>
                <a:cs typeface="Arial"/>
              </a:defRPr>
            </a:lvl3pPr>
            <a:lvl4pPr>
              <a:defRPr sz="2850" b="1">
                <a:solidFill>
                  <a:srgbClr val="152B3B"/>
                </a:solidFill>
                <a:latin typeface="Arial"/>
                <a:ea typeface="Arial"/>
                <a:cs typeface="Arial"/>
              </a:defRPr>
            </a:lvl4pPr>
            <a:lvl5pPr>
              <a:defRPr sz="2850" b="1">
                <a:solidFill>
                  <a:srgbClr val="152B3B"/>
                </a:solidFill>
                <a:latin typeface="Arial"/>
                <a:ea typeface="Arial"/>
                <a:cs typeface="Arial"/>
              </a:defRPr>
            </a:lvl5pPr>
            <a:lvl6pPr>
              <a:defRPr sz="2850" b="1">
                <a:solidFill>
                  <a:srgbClr val="152B3B"/>
                </a:solidFill>
                <a:latin typeface="Arial"/>
                <a:ea typeface="Arial"/>
                <a:cs typeface="Arial"/>
              </a:defRPr>
            </a:lvl6pPr>
            <a:lvl7pPr>
              <a:defRPr sz="2850" b="1">
                <a:solidFill>
                  <a:srgbClr val="152B3B"/>
                </a:solidFill>
                <a:latin typeface="Arial"/>
                <a:ea typeface="Arial"/>
                <a:cs typeface="Arial"/>
              </a:defRPr>
            </a:lvl7pPr>
            <a:lvl8pPr>
              <a:defRPr sz="2850" b="1">
                <a:solidFill>
                  <a:srgbClr val="152B3B"/>
                </a:solidFill>
                <a:latin typeface="Arial"/>
                <a:ea typeface="Arial"/>
                <a:cs typeface="Arial"/>
              </a:defRPr>
            </a:lvl8pPr>
            <a:lvl9pPr>
              <a:defRPr sz="2850" b="1">
                <a:solidFill>
                  <a:srgbClr val="152B3B"/>
                </a:solidFill>
                <a:latin typeface="Arial"/>
                <a:ea typeface="Arial"/>
                <a:cs typeface="Arial"/>
              </a:defRPr>
            </a:lvl9pPr>
          </a:lstStyle>
          <a:p xmlns:a="http://schemas.openxmlformats.org/drawingml/2006/main">
            <a:pPr>
              <a:defRPr sz="2850" b="1">
                <a:solidFill>
                  <a:srgbClr val="152B3B"/>
                </a:solidFill>
                <a:latin typeface="Arial"/>
                <a:ea typeface="Arial"/>
                <a:cs typeface="Arial"/>
              </a:defRPr>
            </a:pPr>
            <a:r>
              <a:rPr sz="2850" b="1">
                <a:solidFill>
                  <a:srgbClr val="152B3B"/>
                </a:solidFill>
                <a:latin typeface="Arial"/>
                <a:ea typeface="Arial"/>
                <a:cs typeface="Arial"/>
              </a:rPr>
              <a:t>Лес выигрывает во всех четырёх возрастных группах</a:t>
            </a:r>
          </a:p>
        </p:txBody>
      </p:sp>
      <p:sp>
        <p:nvSpPr>
          <p:cNvPr id="3" name="folio">
            <a:extLst xmlns:a="http://schemas.openxmlformats.org/drawingml/2006/main">
              <a:ext uri="{FF2B5EF4-FFF2-40B4-BE49-F238E27FC236}">
                <a16:creationId xmlns:a16="http://schemas.microsoft.com/office/drawing/2014/main" id="{E21C6D79-50D7-4CB0-9FBF-478EBE107748}"/>
              </a:ext>
            </a:extLst>
          </p:cNvPr>
          <p:cNvSpPr>
            <a:spLocks xmlns:a="http://schemas.openxmlformats.org/drawingml/2006/main" noGrp="1"/>
          </p:cNvSpPr>
          <p:nvPr/>
        </p:nvSpPr>
        <p:spPr>
          <a:xfrm xmlns:a="http://schemas.openxmlformats.org/drawingml/2006/main">
            <a:off x="11353800" y="64389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6776"/>
                </a:solidFill>
                <a:latin typeface="Arial"/>
                <a:ea typeface="Arial"/>
                <a:cs typeface="Arial"/>
              </a:defRPr>
            </a:defPPr>
            <a:lvl1pPr>
              <a:defRPr sz="1200" b="0">
                <a:solidFill>
                  <a:srgbClr val="526776"/>
                </a:solidFill>
                <a:latin typeface="Arial"/>
                <a:ea typeface="Arial"/>
                <a:cs typeface="Arial"/>
              </a:defRPr>
            </a:lvl1pPr>
            <a:lvl2pPr>
              <a:defRPr sz="1200" b="0">
                <a:solidFill>
                  <a:srgbClr val="526776"/>
                </a:solidFill>
                <a:latin typeface="Arial"/>
                <a:ea typeface="Arial"/>
                <a:cs typeface="Arial"/>
              </a:defRPr>
            </a:lvl2pPr>
            <a:lvl3pPr>
              <a:defRPr sz="1200" b="0">
                <a:solidFill>
                  <a:srgbClr val="526776"/>
                </a:solidFill>
                <a:latin typeface="Arial"/>
                <a:ea typeface="Arial"/>
                <a:cs typeface="Arial"/>
              </a:defRPr>
            </a:lvl3pPr>
            <a:lvl4pPr>
              <a:defRPr sz="1200" b="0">
                <a:solidFill>
                  <a:srgbClr val="526776"/>
                </a:solidFill>
                <a:latin typeface="Arial"/>
                <a:ea typeface="Arial"/>
                <a:cs typeface="Arial"/>
              </a:defRPr>
            </a:lvl4pPr>
            <a:lvl5pPr>
              <a:defRPr sz="1200" b="0">
                <a:solidFill>
                  <a:srgbClr val="526776"/>
                </a:solidFill>
                <a:latin typeface="Arial"/>
                <a:ea typeface="Arial"/>
                <a:cs typeface="Arial"/>
              </a:defRPr>
            </a:lvl5pPr>
            <a:lvl6pPr>
              <a:defRPr sz="1200" b="0">
                <a:solidFill>
                  <a:srgbClr val="526776"/>
                </a:solidFill>
                <a:latin typeface="Arial"/>
                <a:ea typeface="Arial"/>
                <a:cs typeface="Arial"/>
              </a:defRPr>
            </a:lvl6pPr>
            <a:lvl7pPr>
              <a:defRPr sz="1200" b="0">
                <a:solidFill>
                  <a:srgbClr val="526776"/>
                </a:solidFill>
                <a:latin typeface="Arial"/>
                <a:ea typeface="Arial"/>
                <a:cs typeface="Arial"/>
              </a:defRPr>
            </a:lvl7pPr>
            <a:lvl8pPr>
              <a:defRPr sz="1200" b="0">
                <a:solidFill>
                  <a:srgbClr val="526776"/>
                </a:solidFill>
                <a:latin typeface="Arial"/>
                <a:ea typeface="Arial"/>
                <a:cs typeface="Arial"/>
              </a:defRPr>
            </a:lvl8pPr>
            <a:lvl9pPr>
              <a:defRPr sz="1200" b="0">
                <a:solidFill>
                  <a:srgbClr val="526776"/>
                </a:solidFill>
                <a:latin typeface="Arial"/>
                <a:ea typeface="Arial"/>
                <a:cs typeface="Arial"/>
              </a:defRPr>
            </a:lvl9pPr>
          </a:lstStyle>
          <a:p xmlns:a="http://schemas.openxmlformats.org/drawingml/2006/main">
            <a:pPr>
              <a:defRPr sz="1200" b="0">
                <a:solidFill>
                  <a:srgbClr val="526776"/>
                </a:solidFill>
                <a:latin typeface="Arial"/>
                <a:ea typeface="Arial"/>
                <a:cs typeface="Arial"/>
              </a:defRPr>
            </a:pPr>
            <a:r>
              <a:rPr sz="1200" b="0">
                <a:solidFill>
                  <a:srgbClr val="526776"/>
                </a:solidFill>
                <a:latin typeface="Arial"/>
                <a:ea typeface="Arial"/>
                <a:cs typeface="Arial"/>
              </a:rPr>
              <a:t>11</a:t>
            </a:r>
          </a:p>
        </p:txBody>
      </p:sp>
      <p:pic>
        <p:nvPicPr>
          <p:cNvPr id="4" name="">
            <a:extLst xmlns:a="http://schemas.openxmlformats.org/drawingml/2006/main">
              <a:ext uri="{FF2B5EF4-FFF2-40B4-BE49-F238E27FC236}">
                <a16:creationId xmlns:a16="http://schemas.microsoft.com/office/drawing/2014/main" id="{CA4DB7D8-A09B-4431-99C6-2676F879C23B}"/>
              </a:ext>
            </a:extLst>
          </p:cNvPr>
          <p:cNvPicPr>
            <a:picLocks xmlns:a="http://schemas.openxmlformats.org/drawingml/2006/main" noChangeAspect="1"/>
          </p:cNvPicPr>
          <p:nvPr/>
        </p:nvPicPr>
        <p:blipFill>
          <a:blip xmlns:r="http://schemas.openxmlformats.org/officeDocument/2006/relationships" xmlns:a="http://schemas.openxmlformats.org/drawingml/2006/main" r:embed="R85b3646903b8403d"/>
          <a:stretch xmlns:a="http://schemas.openxmlformats.org/drawingml/2006/main"/>
        </p:blipFill>
        <p:spPr>
          <a:xfrm xmlns:a="http://schemas.openxmlformats.org/drawingml/2006/main">
            <a:off x="1772668" y="1371600"/>
            <a:ext cx="8599039" cy="44291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B6DD631-977B-4735-98D2-3C41F644AA1F}"/>
              </a:ext>
            </a:extLst>
          </p:cNvPr>
          <p:cNvSpPr>
            <a:spLocks xmlns:a="http://schemas.openxmlformats.org/drawingml/2006/main" noGrp="1"/>
          </p:cNvSpPr>
          <p:nvPr/>
        </p:nvSpPr>
        <p:spPr>
          <a:xfrm xmlns:a="http://schemas.openxmlformats.org/drawingml/2006/main">
            <a:off x="609600" y="59721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167D8D"/>
                </a:solidFill>
                <a:latin typeface="Arial"/>
                <a:ea typeface="Arial"/>
                <a:cs typeface="Arial"/>
              </a:defRPr>
            </a:defPPr>
            <a:lvl1pPr>
              <a:defRPr sz="1950" b="1">
                <a:solidFill>
                  <a:srgbClr val="167D8D"/>
                </a:solidFill>
                <a:latin typeface="Arial"/>
                <a:ea typeface="Arial"/>
                <a:cs typeface="Arial"/>
              </a:defRPr>
            </a:lvl1pPr>
            <a:lvl2pPr>
              <a:defRPr sz="1950" b="1">
                <a:solidFill>
                  <a:srgbClr val="167D8D"/>
                </a:solidFill>
                <a:latin typeface="Arial"/>
                <a:ea typeface="Arial"/>
                <a:cs typeface="Arial"/>
              </a:defRPr>
            </a:lvl2pPr>
            <a:lvl3pPr>
              <a:defRPr sz="1950" b="1">
                <a:solidFill>
                  <a:srgbClr val="167D8D"/>
                </a:solidFill>
                <a:latin typeface="Arial"/>
                <a:ea typeface="Arial"/>
                <a:cs typeface="Arial"/>
              </a:defRPr>
            </a:lvl3pPr>
            <a:lvl4pPr>
              <a:defRPr sz="1950" b="1">
                <a:solidFill>
                  <a:srgbClr val="167D8D"/>
                </a:solidFill>
                <a:latin typeface="Arial"/>
                <a:ea typeface="Arial"/>
                <a:cs typeface="Arial"/>
              </a:defRPr>
            </a:lvl4pPr>
            <a:lvl5pPr>
              <a:defRPr sz="1950" b="1">
                <a:solidFill>
                  <a:srgbClr val="167D8D"/>
                </a:solidFill>
                <a:latin typeface="Arial"/>
                <a:ea typeface="Arial"/>
                <a:cs typeface="Arial"/>
              </a:defRPr>
            </a:lvl5pPr>
            <a:lvl6pPr>
              <a:defRPr sz="1950" b="1">
                <a:solidFill>
                  <a:srgbClr val="167D8D"/>
                </a:solidFill>
                <a:latin typeface="Arial"/>
                <a:ea typeface="Arial"/>
                <a:cs typeface="Arial"/>
              </a:defRPr>
            </a:lvl6pPr>
            <a:lvl7pPr>
              <a:defRPr sz="1950" b="1">
                <a:solidFill>
                  <a:srgbClr val="167D8D"/>
                </a:solidFill>
                <a:latin typeface="Arial"/>
                <a:ea typeface="Arial"/>
                <a:cs typeface="Arial"/>
              </a:defRPr>
            </a:lvl7pPr>
            <a:lvl8pPr>
              <a:defRPr sz="1950" b="1">
                <a:solidFill>
                  <a:srgbClr val="167D8D"/>
                </a:solidFill>
                <a:latin typeface="Arial"/>
                <a:ea typeface="Arial"/>
                <a:cs typeface="Arial"/>
              </a:defRPr>
            </a:lvl8pPr>
            <a:lvl9pPr>
              <a:defRPr sz="1950" b="1">
                <a:solidFill>
                  <a:srgbClr val="167D8D"/>
                </a:solidFill>
                <a:latin typeface="Arial"/>
                <a:ea typeface="Arial"/>
                <a:cs typeface="Arial"/>
              </a:defRPr>
            </a:lvl9pPr>
          </a:lstStyle>
          <a:p xmlns:a="http://schemas.openxmlformats.org/drawingml/2006/main">
            <a:pPr>
              <a:defRPr sz="1950" b="1">
                <a:solidFill>
                  <a:srgbClr val="167D8D"/>
                </a:solidFill>
                <a:latin typeface="Arial"/>
                <a:ea typeface="Arial"/>
                <a:cs typeface="Arial"/>
              </a:defRPr>
            </a:pPr>
            <a:r>
              <a:rPr sz="1950" b="1">
                <a:solidFill>
                  <a:srgbClr val="167D8D"/>
                </a:solidFill>
                <a:latin typeface="Arial"/>
                <a:ea typeface="Arial"/>
                <a:cs typeface="Arial"/>
              </a:rPr>
              <a:t>В группе 29–90 суток MAE леса достигает 6,07 МПа, n = 31</a:t>
            </a:r>
          </a:p>
        </p:txBody>
      </p:sp>
    </p:spTree>
    <p:extLst>
      <p:ext uri="{BB962C8B-B14F-4D97-AF65-F5344CB8AC3E}">
        <p14:creationId xmlns:p14="http://schemas.microsoft.com/office/powerpoint/2010/main" val="128637531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3D840AFA-C6DC-4C6E-AAFB-12BDD5158E62}"/>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152B3B"/>
                </a:solidFill>
                <a:latin typeface="Arial"/>
                <a:ea typeface="Arial"/>
                <a:cs typeface="Arial"/>
              </a:defRPr>
            </a:defPPr>
            <a:lvl1pPr>
              <a:defRPr sz="2850" b="1">
                <a:solidFill>
                  <a:srgbClr val="152B3B"/>
                </a:solidFill>
                <a:latin typeface="Arial"/>
                <a:ea typeface="Arial"/>
                <a:cs typeface="Arial"/>
              </a:defRPr>
            </a:lvl1pPr>
            <a:lvl2pPr>
              <a:defRPr sz="2850" b="1">
                <a:solidFill>
                  <a:srgbClr val="152B3B"/>
                </a:solidFill>
                <a:latin typeface="Arial"/>
                <a:ea typeface="Arial"/>
                <a:cs typeface="Arial"/>
              </a:defRPr>
            </a:lvl2pPr>
            <a:lvl3pPr>
              <a:defRPr sz="2850" b="1">
                <a:solidFill>
                  <a:srgbClr val="152B3B"/>
                </a:solidFill>
                <a:latin typeface="Arial"/>
                <a:ea typeface="Arial"/>
                <a:cs typeface="Arial"/>
              </a:defRPr>
            </a:lvl3pPr>
            <a:lvl4pPr>
              <a:defRPr sz="2850" b="1">
                <a:solidFill>
                  <a:srgbClr val="152B3B"/>
                </a:solidFill>
                <a:latin typeface="Arial"/>
                <a:ea typeface="Arial"/>
                <a:cs typeface="Arial"/>
              </a:defRPr>
            </a:lvl4pPr>
            <a:lvl5pPr>
              <a:defRPr sz="2850" b="1">
                <a:solidFill>
                  <a:srgbClr val="152B3B"/>
                </a:solidFill>
                <a:latin typeface="Arial"/>
                <a:ea typeface="Arial"/>
                <a:cs typeface="Arial"/>
              </a:defRPr>
            </a:lvl5pPr>
            <a:lvl6pPr>
              <a:defRPr sz="2850" b="1">
                <a:solidFill>
                  <a:srgbClr val="152B3B"/>
                </a:solidFill>
                <a:latin typeface="Arial"/>
                <a:ea typeface="Arial"/>
                <a:cs typeface="Arial"/>
              </a:defRPr>
            </a:lvl6pPr>
            <a:lvl7pPr>
              <a:defRPr sz="2850" b="1">
                <a:solidFill>
                  <a:srgbClr val="152B3B"/>
                </a:solidFill>
                <a:latin typeface="Arial"/>
                <a:ea typeface="Arial"/>
                <a:cs typeface="Arial"/>
              </a:defRPr>
            </a:lvl7pPr>
            <a:lvl8pPr>
              <a:defRPr sz="2850" b="1">
                <a:solidFill>
                  <a:srgbClr val="152B3B"/>
                </a:solidFill>
                <a:latin typeface="Arial"/>
                <a:ea typeface="Arial"/>
                <a:cs typeface="Arial"/>
              </a:defRPr>
            </a:lvl8pPr>
            <a:lvl9pPr>
              <a:defRPr sz="2850" b="1">
                <a:solidFill>
                  <a:srgbClr val="152B3B"/>
                </a:solidFill>
                <a:latin typeface="Arial"/>
                <a:ea typeface="Arial"/>
                <a:cs typeface="Arial"/>
              </a:defRPr>
            </a:lvl9pPr>
          </a:lstStyle>
          <a:p xmlns:a="http://schemas.openxmlformats.org/drawingml/2006/main">
            <a:pPr>
              <a:defRPr sz="2850" b="1">
                <a:solidFill>
                  <a:srgbClr val="152B3B"/>
                </a:solidFill>
                <a:latin typeface="Arial"/>
                <a:ea typeface="Arial"/>
                <a:cs typeface="Arial"/>
              </a:defRPr>
            </a:pPr>
            <a:r>
              <a:rPr sz="2850" b="1">
                <a:solidFill>
                  <a:srgbClr val="152B3B"/>
                </a:solidFill>
                <a:latin typeface="Arial"/>
                <a:ea typeface="Arial"/>
                <a:cs typeface="Arial"/>
              </a:rPr>
              <a:t>Пять крупнейших ошибок леса: прогноз ниже факта</a:t>
            </a:r>
          </a:p>
        </p:txBody>
      </p:sp>
      <p:sp>
        <p:nvSpPr>
          <p:cNvPr id="3" name="folio">
            <a:extLst xmlns:a="http://schemas.openxmlformats.org/drawingml/2006/main">
              <a:ext uri="{FF2B5EF4-FFF2-40B4-BE49-F238E27FC236}">
                <a16:creationId xmlns:a16="http://schemas.microsoft.com/office/drawing/2014/main" id="{CB33A81C-E473-4200-B684-852F18BFF83A}"/>
              </a:ext>
            </a:extLst>
          </p:cNvPr>
          <p:cNvSpPr>
            <a:spLocks xmlns:a="http://schemas.openxmlformats.org/drawingml/2006/main" noGrp="1"/>
          </p:cNvSpPr>
          <p:nvPr/>
        </p:nvSpPr>
        <p:spPr>
          <a:xfrm xmlns:a="http://schemas.openxmlformats.org/drawingml/2006/main">
            <a:off x="11353800" y="64389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6776"/>
                </a:solidFill>
                <a:latin typeface="Arial"/>
                <a:ea typeface="Arial"/>
                <a:cs typeface="Arial"/>
              </a:defRPr>
            </a:defPPr>
            <a:lvl1pPr>
              <a:defRPr sz="1200" b="0">
                <a:solidFill>
                  <a:srgbClr val="526776"/>
                </a:solidFill>
                <a:latin typeface="Arial"/>
                <a:ea typeface="Arial"/>
                <a:cs typeface="Arial"/>
              </a:defRPr>
            </a:lvl1pPr>
            <a:lvl2pPr>
              <a:defRPr sz="1200" b="0">
                <a:solidFill>
                  <a:srgbClr val="526776"/>
                </a:solidFill>
                <a:latin typeface="Arial"/>
                <a:ea typeface="Arial"/>
                <a:cs typeface="Arial"/>
              </a:defRPr>
            </a:lvl2pPr>
            <a:lvl3pPr>
              <a:defRPr sz="1200" b="0">
                <a:solidFill>
                  <a:srgbClr val="526776"/>
                </a:solidFill>
                <a:latin typeface="Arial"/>
                <a:ea typeface="Arial"/>
                <a:cs typeface="Arial"/>
              </a:defRPr>
            </a:lvl3pPr>
            <a:lvl4pPr>
              <a:defRPr sz="1200" b="0">
                <a:solidFill>
                  <a:srgbClr val="526776"/>
                </a:solidFill>
                <a:latin typeface="Arial"/>
                <a:ea typeface="Arial"/>
                <a:cs typeface="Arial"/>
              </a:defRPr>
            </a:lvl4pPr>
            <a:lvl5pPr>
              <a:defRPr sz="1200" b="0">
                <a:solidFill>
                  <a:srgbClr val="526776"/>
                </a:solidFill>
                <a:latin typeface="Arial"/>
                <a:ea typeface="Arial"/>
                <a:cs typeface="Arial"/>
              </a:defRPr>
            </a:lvl5pPr>
            <a:lvl6pPr>
              <a:defRPr sz="1200" b="0">
                <a:solidFill>
                  <a:srgbClr val="526776"/>
                </a:solidFill>
                <a:latin typeface="Arial"/>
                <a:ea typeface="Arial"/>
                <a:cs typeface="Arial"/>
              </a:defRPr>
            </a:lvl6pPr>
            <a:lvl7pPr>
              <a:defRPr sz="1200" b="0">
                <a:solidFill>
                  <a:srgbClr val="526776"/>
                </a:solidFill>
                <a:latin typeface="Arial"/>
                <a:ea typeface="Arial"/>
                <a:cs typeface="Arial"/>
              </a:defRPr>
            </a:lvl7pPr>
            <a:lvl8pPr>
              <a:defRPr sz="1200" b="0">
                <a:solidFill>
                  <a:srgbClr val="526776"/>
                </a:solidFill>
                <a:latin typeface="Arial"/>
                <a:ea typeface="Arial"/>
                <a:cs typeface="Arial"/>
              </a:defRPr>
            </a:lvl8pPr>
            <a:lvl9pPr>
              <a:defRPr sz="1200" b="0">
                <a:solidFill>
                  <a:srgbClr val="526776"/>
                </a:solidFill>
                <a:latin typeface="Arial"/>
                <a:ea typeface="Arial"/>
                <a:cs typeface="Arial"/>
              </a:defRPr>
            </a:lvl9pPr>
          </a:lstStyle>
          <a:p xmlns:a="http://schemas.openxmlformats.org/drawingml/2006/main">
            <a:pPr>
              <a:defRPr sz="1200" b="0">
                <a:solidFill>
                  <a:srgbClr val="526776"/>
                </a:solidFill>
                <a:latin typeface="Arial"/>
                <a:ea typeface="Arial"/>
                <a:cs typeface="Arial"/>
              </a:defRPr>
            </a:pPr>
            <a:r>
              <a:rPr sz="1200" b="0">
                <a:solidFill>
                  <a:srgbClr val="526776"/>
                </a:solidFill>
                <a:latin typeface="Arial"/>
                <a:ea typeface="Arial"/>
                <a:cs typeface="Arial"/>
              </a:rPr>
              <a:t>12</a:t>
            </a:r>
          </a:p>
        </p:txBody>
      </p:sp>
      <p:pic>
        <p:nvPicPr>
          <p:cNvPr id="4" name="">
            <a:extLst xmlns:a="http://schemas.openxmlformats.org/drawingml/2006/main">
              <a:ext uri="{FF2B5EF4-FFF2-40B4-BE49-F238E27FC236}">
                <a16:creationId xmlns:a16="http://schemas.microsoft.com/office/drawing/2014/main" id="{9EE9833B-74D8-4500-B26F-2CB18B83405D}"/>
              </a:ext>
            </a:extLst>
          </p:cNvPr>
          <p:cNvPicPr>
            <a:picLocks xmlns:a="http://schemas.openxmlformats.org/drawingml/2006/main" noChangeAspect="1"/>
          </p:cNvPicPr>
          <p:nvPr/>
        </p:nvPicPr>
        <p:blipFill>
          <a:blip xmlns:r="http://schemas.openxmlformats.org/officeDocument/2006/relationships" xmlns:a="http://schemas.openxmlformats.org/drawingml/2006/main" r:embed="R3e0a082d9a7348c8"/>
          <a:stretch xmlns:a="http://schemas.openxmlformats.org/drawingml/2006/main"/>
        </p:blipFill>
        <p:spPr>
          <a:xfrm xmlns:a="http://schemas.openxmlformats.org/drawingml/2006/main">
            <a:off x="1758147" y="1352550"/>
            <a:ext cx="8675706" cy="44196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62262D2-5004-41B5-A839-9B7AB439D6E3}"/>
              </a:ext>
            </a:extLst>
          </p:cNvPr>
          <p:cNvSpPr>
            <a:spLocks xmlns:a="http://schemas.openxmlformats.org/drawingml/2006/main" noGrp="1"/>
          </p:cNvSpPr>
          <p:nvPr/>
        </p:nvSpPr>
        <p:spPr>
          <a:xfrm xmlns:a="http://schemas.openxmlformats.org/drawingml/2006/main">
            <a:off x="609600" y="595312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167D8D"/>
                </a:solidFill>
                <a:latin typeface="Arial"/>
                <a:ea typeface="Arial"/>
                <a:cs typeface="Arial"/>
              </a:defRPr>
            </a:defPPr>
            <a:lvl1pPr>
              <a:defRPr sz="1950" b="1">
                <a:solidFill>
                  <a:srgbClr val="167D8D"/>
                </a:solidFill>
                <a:latin typeface="Arial"/>
                <a:ea typeface="Arial"/>
                <a:cs typeface="Arial"/>
              </a:defRPr>
            </a:lvl1pPr>
            <a:lvl2pPr>
              <a:defRPr sz="1950" b="1">
                <a:solidFill>
                  <a:srgbClr val="167D8D"/>
                </a:solidFill>
                <a:latin typeface="Arial"/>
                <a:ea typeface="Arial"/>
                <a:cs typeface="Arial"/>
              </a:defRPr>
            </a:lvl2pPr>
            <a:lvl3pPr>
              <a:defRPr sz="1950" b="1">
                <a:solidFill>
                  <a:srgbClr val="167D8D"/>
                </a:solidFill>
                <a:latin typeface="Arial"/>
                <a:ea typeface="Arial"/>
                <a:cs typeface="Arial"/>
              </a:defRPr>
            </a:lvl3pPr>
            <a:lvl4pPr>
              <a:defRPr sz="1950" b="1">
                <a:solidFill>
                  <a:srgbClr val="167D8D"/>
                </a:solidFill>
                <a:latin typeface="Arial"/>
                <a:ea typeface="Arial"/>
                <a:cs typeface="Arial"/>
              </a:defRPr>
            </a:lvl4pPr>
            <a:lvl5pPr>
              <a:defRPr sz="1950" b="1">
                <a:solidFill>
                  <a:srgbClr val="167D8D"/>
                </a:solidFill>
                <a:latin typeface="Arial"/>
                <a:ea typeface="Arial"/>
                <a:cs typeface="Arial"/>
              </a:defRPr>
            </a:lvl5pPr>
            <a:lvl6pPr>
              <a:defRPr sz="1950" b="1">
                <a:solidFill>
                  <a:srgbClr val="167D8D"/>
                </a:solidFill>
                <a:latin typeface="Arial"/>
                <a:ea typeface="Arial"/>
                <a:cs typeface="Arial"/>
              </a:defRPr>
            </a:lvl6pPr>
            <a:lvl7pPr>
              <a:defRPr sz="1950" b="1">
                <a:solidFill>
                  <a:srgbClr val="167D8D"/>
                </a:solidFill>
                <a:latin typeface="Arial"/>
                <a:ea typeface="Arial"/>
                <a:cs typeface="Arial"/>
              </a:defRPr>
            </a:lvl7pPr>
            <a:lvl8pPr>
              <a:defRPr sz="1950" b="1">
                <a:solidFill>
                  <a:srgbClr val="167D8D"/>
                </a:solidFill>
                <a:latin typeface="Arial"/>
                <a:ea typeface="Arial"/>
                <a:cs typeface="Arial"/>
              </a:defRPr>
            </a:lvl8pPr>
            <a:lvl9pPr>
              <a:defRPr sz="1950" b="1">
                <a:solidFill>
                  <a:srgbClr val="167D8D"/>
                </a:solidFill>
                <a:latin typeface="Arial"/>
                <a:ea typeface="Arial"/>
                <a:cs typeface="Arial"/>
              </a:defRPr>
            </a:lvl9pPr>
          </a:lstStyle>
          <a:p xmlns:a="http://schemas.openxmlformats.org/drawingml/2006/main">
            <a:pPr>
              <a:defRPr sz="1950" b="1">
                <a:solidFill>
                  <a:srgbClr val="167D8D"/>
                </a:solidFill>
                <a:latin typeface="Arial"/>
                <a:ea typeface="Arial"/>
                <a:cs typeface="Arial"/>
              </a:defRPr>
            </a:pPr>
            <a:r>
              <a:rPr sz="1950" b="1">
                <a:solidFill>
                  <a:srgbClr val="167D8D"/>
                </a:solidFill>
                <a:latin typeface="Arial"/>
                <a:ea typeface="Arial"/>
                <a:cs typeface="Arial"/>
              </a:rPr>
              <a:t>Строка 382: факт 81,75 МПа, лес 54,53 МПа, ошибка −27,22 МПа</a:t>
            </a:r>
          </a:p>
        </p:txBody>
      </p:sp>
    </p:spTree>
    <p:extLst>
      <p:ext uri="{BB962C8B-B14F-4D97-AF65-F5344CB8AC3E}">
        <p14:creationId xmlns:p14="http://schemas.microsoft.com/office/powerpoint/2010/main" val="198424396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437DDB3D-C61B-4BCB-AB6F-FDAD3BEC4DC0}"/>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152B3B"/>
                </a:solidFill>
                <a:latin typeface="Arial"/>
                <a:ea typeface="Arial"/>
                <a:cs typeface="Arial"/>
              </a:defRPr>
            </a:defPPr>
            <a:lvl1pPr>
              <a:defRPr sz="2850" b="1">
                <a:solidFill>
                  <a:srgbClr val="152B3B"/>
                </a:solidFill>
                <a:latin typeface="Arial"/>
                <a:ea typeface="Arial"/>
                <a:cs typeface="Arial"/>
              </a:defRPr>
            </a:lvl1pPr>
            <a:lvl2pPr>
              <a:defRPr sz="2850" b="1">
                <a:solidFill>
                  <a:srgbClr val="152B3B"/>
                </a:solidFill>
                <a:latin typeface="Arial"/>
                <a:ea typeface="Arial"/>
                <a:cs typeface="Arial"/>
              </a:defRPr>
            </a:lvl2pPr>
            <a:lvl3pPr>
              <a:defRPr sz="2850" b="1">
                <a:solidFill>
                  <a:srgbClr val="152B3B"/>
                </a:solidFill>
                <a:latin typeface="Arial"/>
                <a:ea typeface="Arial"/>
                <a:cs typeface="Arial"/>
              </a:defRPr>
            </a:lvl3pPr>
            <a:lvl4pPr>
              <a:defRPr sz="2850" b="1">
                <a:solidFill>
                  <a:srgbClr val="152B3B"/>
                </a:solidFill>
                <a:latin typeface="Arial"/>
                <a:ea typeface="Arial"/>
                <a:cs typeface="Arial"/>
              </a:defRPr>
            </a:lvl4pPr>
            <a:lvl5pPr>
              <a:defRPr sz="2850" b="1">
                <a:solidFill>
                  <a:srgbClr val="152B3B"/>
                </a:solidFill>
                <a:latin typeface="Arial"/>
                <a:ea typeface="Arial"/>
                <a:cs typeface="Arial"/>
              </a:defRPr>
            </a:lvl5pPr>
            <a:lvl6pPr>
              <a:defRPr sz="2850" b="1">
                <a:solidFill>
                  <a:srgbClr val="152B3B"/>
                </a:solidFill>
                <a:latin typeface="Arial"/>
                <a:ea typeface="Arial"/>
                <a:cs typeface="Arial"/>
              </a:defRPr>
            </a:lvl6pPr>
            <a:lvl7pPr>
              <a:defRPr sz="2850" b="1">
                <a:solidFill>
                  <a:srgbClr val="152B3B"/>
                </a:solidFill>
                <a:latin typeface="Arial"/>
                <a:ea typeface="Arial"/>
                <a:cs typeface="Arial"/>
              </a:defRPr>
            </a:lvl7pPr>
            <a:lvl8pPr>
              <a:defRPr sz="2850" b="1">
                <a:solidFill>
                  <a:srgbClr val="152B3B"/>
                </a:solidFill>
                <a:latin typeface="Arial"/>
                <a:ea typeface="Arial"/>
                <a:cs typeface="Arial"/>
              </a:defRPr>
            </a:lvl8pPr>
            <a:lvl9pPr>
              <a:defRPr sz="2850" b="1">
                <a:solidFill>
                  <a:srgbClr val="152B3B"/>
                </a:solidFill>
                <a:latin typeface="Arial"/>
                <a:ea typeface="Arial"/>
                <a:cs typeface="Arial"/>
              </a:defRPr>
            </a:lvl9pPr>
          </a:lstStyle>
          <a:p xmlns:a="http://schemas.openxmlformats.org/drawingml/2006/main">
            <a:pPr>
              <a:defRPr sz="2850" b="1">
                <a:solidFill>
                  <a:srgbClr val="152B3B"/>
                </a:solidFill>
                <a:latin typeface="Arial"/>
                <a:ea typeface="Arial"/>
                <a:cs typeface="Arial"/>
              </a:defRPr>
            </a:pPr>
            <a:r>
              <a:rPr sz="2850" b="1">
                <a:solidFill>
                  <a:srgbClr val="152B3B"/>
                </a:solidFill>
                <a:latin typeface="Arial"/>
                <a:ea typeface="Arial"/>
                <a:cs typeface="Arial"/>
              </a:rPr>
              <a:t>Три случая показывают ограничения обеих моделей</a:t>
            </a:r>
          </a:p>
        </p:txBody>
      </p:sp>
      <p:sp>
        <p:nvSpPr>
          <p:cNvPr id="3" name="folio">
            <a:extLst xmlns:a="http://schemas.openxmlformats.org/drawingml/2006/main">
              <a:ext uri="{FF2B5EF4-FFF2-40B4-BE49-F238E27FC236}">
                <a16:creationId xmlns:a16="http://schemas.microsoft.com/office/drawing/2014/main" id="{E0F55724-0DF9-43EC-9A41-F195EA7636F4}"/>
              </a:ext>
            </a:extLst>
          </p:cNvPr>
          <p:cNvSpPr>
            <a:spLocks xmlns:a="http://schemas.openxmlformats.org/drawingml/2006/main" noGrp="1"/>
          </p:cNvSpPr>
          <p:nvPr/>
        </p:nvSpPr>
        <p:spPr>
          <a:xfrm xmlns:a="http://schemas.openxmlformats.org/drawingml/2006/main">
            <a:off x="11353800" y="64389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6776"/>
                </a:solidFill>
                <a:latin typeface="Arial"/>
                <a:ea typeface="Arial"/>
                <a:cs typeface="Arial"/>
              </a:defRPr>
            </a:defPPr>
            <a:lvl1pPr>
              <a:defRPr sz="1200" b="0">
                <a:solidFill>
                  <a:srgbClr val="526776"/>
                </a:solidFill>
                <a:latin typeface="Arial"/>
                <a:ea typeface="Arial"/>
                <a:cs typeface="Arial"/>
              </a:defRPr>
            </a:lvl1pPr>
            <a:lvl2pPr>
              <a:defRPr sz="1200" b="0">
                <a:solidFill>
                  <a:srgbClr val="526776"/>
                </a:solidFill>
                <a:latin typeface="Arial"/>
                <a:ea typeface="Arial"/>
                <a:cs typeface="Arial"/>
              </a:defRPr>
            </a:lvl2pPr>
            <a:lvl3pPr>
              <a:defRPr sz="1200" b="0">
                <a:solidFill>
                  <a:srgbClr val="526776"/>
                </a:solidFill>
                <a:latin typeface="Arial"/>
                <a:ea typeface="Arial"/>
                <a:cs typeface="Arial"/>
              </a:defRPr>
            </a:lvl3pPr>
            <a:lvl4pPr>
              <a:defRPr sz="1200" b="0">
                <a:solidFill>
                  <a:srgbClr val="526776"/>
                </a:solidFill>
                <a:latin typeface="Arial"/>
                <a:ea typeface="Arial"/>
                <a:cs typeface="Arial"/>
              </a:defRPr>
            </a:lvl4pPr>
            <a:lvl5pPr>
              <a:defRPr sz="1200" b="0">
                <a:solidFill>
                  <a:srgbClr val="526776"/>
                </a:solidFill>
                <a:latin typeface="Arial"/>
                <a:ea typeface="Arial"/>
                <a:cs typeface="Arial"/>
              </a:defRPr>
            </a:lvl5pPr>
            <a:lvl6pPr>
              <a:defRPr sz="1200" b="0">
                <a:solidFill>
                  <a:srgbClr val="526776"/>
                </a:solidFill>
                <a:latin typeface="Arial"/>
                <a:ea typeface="Arial"/>
                <a:cs typeface="Arial"/>
              </a:defRPr>
            </a:lvl6pPr>
            <a:lvl7pPr>
              <a:defRPr sz="1200" b="0">
                <a:solidFill>
                  <a:srgbClr val="526776"/>
                </a:solidFill>
                <a:latin typeface="Arial"/>
                <a:ea typeface="Arial"/>
                <a:cs typeface="Arial"/>
              </a:defRPr>
            </a:lvl7pPr>
            <a:lvl8pPr>
              <a:defRPr sz="1200" b="0">
                <a:solidFill>
                  <a:srgbClr val="526776"/>
                </a:solidFill>
                <a:latin typeface="Arial"/>
                <a:ea typeface="Arial"/>
                <a:cs typeface="Arial"/>
              </a:defRPr>
            </a:lvl8pPr>
            <a:lvl9pPr>
              <a:defRPr sz="1200" b="0">
                <a:solidFill>
                  <a:srgbClr val="526776"/>
                </a:solidFill>
                <a:latin typeface="Arial"/>
                <a:ea typeface="Arial"/>
                <a:cs typeface="Arial"/>
              </a:defRPr>
            </a:lvl9pPr>
          </a:lstStyle>
          <a:p xmlns:a="http://schemas.openxmlformats.org/drawingml/2006/main">
            <a:pPr>
              <a:defRPr sz="1200" b="0">
                <a:solidFill>
                  <a:srgbClr val="526776"/>
                </a:solidFill>
                <a:latin typeface="Arial"/>
                <a:ea typeface="Arial"/>
                <a:cs typeface="Arial"/>
              </a:defRPr>
            </a:pPr>
            <a:r>
              <a:rPr sz="1200" b="0">
                <a:solidFill>
                  <a:srgbClr val="526776"/>
                </a:solidFill>
                <a:latin typeface="Arial"/>
                <a:ea typeface="Arial"/>
                <a:cs typeface="Arial"/>
              </a:rPr>
              <a:t>13</a:t>
            </a:r>
          </a:p>
        </p:txBody>
      </p:sp>
      <p:graphicFrame>
        <p:nvGraphicFramePr>
          <p:cNvPr id="4" name="">
            <a:extLst xmlns:a="http://schemas.openxmlformats.org/drawingml/2006/main">
              <a:ext uri="{FF2B5EF4-FFF2-40B4-BE49-F238E27FC236}">
                <a16:creationId xmlns:a16="http://schemas.microsoft.com/office/drawing/2014/main" id="{175C44F8-E0BC-4B5D-A0AA-2A9D90EF5FCA}"/>
              </a:ext>
            </a:extLst>
          </p:cNvPr>
          <p:cNvGraphicFramePr/>
          <p:nvPr/>
        </p:nvGraphicFramePr>
        <p:xfrm>
          <a:off xmlns:a="http://schemas.openxmlformats.org/drawingml/2006/main" x="609600" y="1476375"/>
          <a:ext xmlns:a="http://schemas.openxmlformats.org/drawingml/2006/main" cx="10972800" cy="2190750"/>
        </p:xfrm>
        <a:graphic xmlns:a="http://schemas.openxmlformats.org/drawingml/2006/main">
          <a:graphicData uri="http://schemas.openxmlformats.org/drawingml/2006/table">
            <a:tbl>
              <a:tblPr/>
              <a:tblGrid>
                <a:gridCol w="1524000"/>
                <a:gridCol w="2095500"/>
                <a:gridCol w="2571750"/>
                <a:gridCol w="2095500"/>
                <a:gridCol w="2686050"/>
              </a:tblGrid>
              <a:tr h="547688">
                <a:tc>
                  <a:txBody>
                    <a:bodyPr lIns="114300" tIns="114300" rIns="114300" bIns="114300"/>
                    <a:lstStyle/>
                    <a:p>
                      <a:r>
                        <a:rPr sz="1800" b="1">
                          <a:solidFill>
                            <a:srgbClr val="FFFFFF"/>
                          </a:solidFill>
                          <a:latin typeface="Arial"/>
                          <a:ea typeface="Arial"/>
                          <a:cs typeface="Arial"/>
                        </a:rPr>
                        <a:t>Строка</a:t>
                      </a:r>
                    </a:p>
                  </a:txBody>
                  <a:tcPr marL="91440" marR="91440" marT="45720" marB="45720" anchor="ctr">
                    <a:lnL w="6668">
                      <a:solidFill>
                        <a:srgbClr val="DCE5E9"/>
                      </a:solidFill>
                      <a:prstDash val="solid"/>
                    </a:lnL>
                    <a:lnR w="6668">
                      <a:solidFill>
                        <a:srgbClr val="DCE5E9"/>
                      </a:solidFill>
                      <a:prstDash val="solid"/>
                    </a:lnR>
                    <a:lnT w="6668">
                      <a:solidFill>
                        <a:srgbClr val="DCE5E9"/>
                      </a:solidFill>
                      <a:prstDash val="solid"/>
                    </a:lnT>
                    <a:lnB w="6668">
                      <a:solidFill>
                        <a:srgbClr val="DCE5E9"/>
                      </a:solidFill>
                      <a:prstDash val="solid"/>
                    </a:lnB>
                    <a:solidFill>
                      <a:srgbClr val="152B3B"/>
                    </a:solidFill>
                  </a:tcPr>
                </a:tc>
                <a:tc>
                  <a:txBody>
                    <a:bodyPr lIns="114300" tIns="114300" rIns="114300" bIns="114300"/>
                    <a:lstStyle/>
                    <a:p>
                      <a:r>
                        <a:rPr sz="1800" b="1">
                          <a:solidFill>
                            <a:srgbClr val="FFFFFF"/>
                          </a:solidFill>
                          <a:latin typeface="Arial"/>
                          <a:ea typeface="Arial"/>
                          <a:cs typeface="Arial"/>
                        </a:rPr>
                        <a:t>Факт</a:t>
                      </a:r>
                    </a:p>
                  </a:txBody>
                  <a:tcPr marL="91440" marR="91440" marT="45720" marB="45720" anchor="ctr">
                    <a:lnR w="6668">
                      <a:solidFill>
                        <a:srgbClr val="DCE5E9"/>
                      </a:solidFill>
                      <a:prstDash val="solid"/>
                    </a:lnR>
                    <a:lnT w="6668">
                      <a:solidFill>
                        <a:srgbClr val="DCE5E9"/>
                      </a:solidFill>
                      <a:prstDash val="solid"/>
                    </a:lnT>
                    <a:lnB w="6668">
                      <a:solidFill>
                        <a:srgbClr val="DCE5E9"/>
                      </a:solidFill>
                      <a:prstDash val="solid"/>
                    </a:lnB>
                    <a:solidFill>
                      <a:srgbClr val="152B3B"/>
                    </a:solidFill>
                  </a:tcPr>
                </a:tc>
                <a:tc>
                  <a:txBody>
                    <a:bodyPr lIns="114300" tIns="114300" rIns="114300" bIns="114300"/>
                    <a:lstStyle/>
                    <a:p>
                      <a:r>
                        <a:rPr sz="1800" b="1">
                          <a:solidFill>
                            <a:srgbClr val="FFFFFF"/>
                          </a:solidFill>
                          <a:latin typeface="Arial"/>
                          <a:ea typeface="Arial"/>
                          <a:cs typeface="Arial"/>
                        </a:rPr>
                        <a:t>Регрессия</a:t>
                      </a:r>
                    </a:p>
                  </a:txBody>
                  <a:tcPr marL="91440" marR="91440" marT="45720" marB="45720" anchor="ctr">
                    <a:lnR w="6668">
                      <a:solidFill>
                        <a:srgbClr val="DCE5E9"/>
                      </a:solidFill>
                      <a:prstDash val="solid"/>
                    </a:lnR>
                    <a:lnT w="6668">
                      <a:solidFill>
                        <a:srgbClr val="DCE5E9"/>
                      </a:solidFill>
                      <a:prstDash val="solid"/>
                    </a:lnT>
                    <a:lnB w="6668">
                      <a:solidFill>
                        <a:srgbClr val="DCE5E9"/>
                      </a:solidFill>
                      <a:prstDash val="solid"/>
                    </a:lnB>
                    <a:solidFill>
                      <a:srgbClr val="152B3B"/>
                    </a:solidFill>
                  </a:tcPr>
                </a:tc>
                <a:tc>
                  <a:txBody>
                    <a:bodyPr lIns="114300" tIns="114300" rIns="114300" bIns="114300"/>
                    <a:lstStyle/>
                    <a:p>
                      <a:r>
                        <a:rPr sz="1800" b="1">
                          <a:solidFill>
                            <a:srgbClr val="FFFFFF"/>
                          </a:solidFill>
                          <a:latin typeface="Arial"/>
                          <a:ea typeface="Arial"/>
                          <a:cs typeface="Arial"/>
                        </a:rPr>
                        <a:t>Лес</a:t>
                      </a:r>
                    </a:p>
                  </a:txBody>
                  <a:tcPr marL="91440" marR="91440" marT="45720" marB="45720" anchor="ctr">
                    <a:lnR w="6668">
                      <a:solidFill>
                        <a:srgbClr val="DCE5E9"/>
                      </a:solidFill>
                      <a:prstDash val="solid"/>
                    </a:lnR>
                    <a:lnT w="6668">
                      <a:solidFill>
                        <a:srgbClr val="DCE5E9"/>
                      </a:solidFill>
                      <a:prstDash val="solid"/>
                    </a:lnT>
                    <a:lnB w="6668">
                      <a:solidFill>
                        <a:srgbClr val="DCE5E9"/>
                      </a:solidFill>
                      <a:prstDash val="solid"/>
                    </a:lnB>
                    <a:solidFill>
                      <a:srgbClr val="152B3B"/>
                    </a:solidFill>
                  </a:tcPr>
                </a:tc>
                <a:tc>
                  <a:txBody>
                    <a:bodyPr lIns="114300" tIns="114300" rIns="114300" bIns="114300"/>
                    <a:lstStyle/>
                    <a:p>
                      <a:r>
                        <a:rPr sz="1800" b="1">
                          <a:solidFill>
                            <a:srgbClr val="FFFFFF"/>
                          </a:solidFill>
                          <a:latin typeface="Arial"/>
                          <a:ea typeface="Arial"/>
                          <a:cs typeface="Arial"/>
                        </a:rPr>
                        <a:t>Ошибка леса</a:t>
                      </a:r>
                    </a:p>
                  </a:txBody>
                  <a:tcPr marL="91440" marR="91440" marT="45720" marB="45720" anchor="ctr">
                    <a:lnR w="6668">
                      <a:solidFill>
                        <a:srgbClr val="DCE5E9"/>
                      </a:solidFill>
                      <a:prstDash val="solid"/>
                    </a:lnR>
                    <a:lnT w="6668">
                      <a:solidFill>
                        <a:srgbClr val="DCE5E9"/>
                      </a:solidFill>
                      <a:prstDash val="solid"/>
                    </a:lnT>
                    <a:lnB w="6668">
                      <a:solidFill>
                        <a:srgbClr val="DCE5E9"/>
                      </a:solidFill>
                      <a:prstDash val="solid"/>
                    </a:lnB>
                    <a:solidFill>
                      <a:srgbClr val="152B3B"/>
                    </a:solidFill>
                  </a:tcPr>
                </a:tc>
              </a:tr>
              <a:tr h="547688">
                <a:tc>
                  <a:txBody>
                    <a:bodyPr lIns="114300" tIns="114300" rIns="114300" bIns="114300"/>
                    <a:lstStyle/>
                    <a:p>
                      <a:r>
                        <a:rPr sz="1800" b="0">
                          <a:solidFill>
                            <a:srgbClr val="152B3B"/>
                          </a:solidFill>
                          <a:latin typeface="Arial"/>
                          <a:ea typeface="Arial"/>
                          <a:cs typeface="Arial"/>
                        </a:rPr>
                        <a:t>382</a:t>
                      </a:r>
                    </a:p>
                  </a:txBody>
                  <a:tcPr marL="91440" marR="91440" marT="45720" marB="45720" anchor="ctr">
                    <a:lnL w="6668">
                      <a:solidFill>
                        <a:srgbClr val="DCE5E9"/>
                      </a:solidFill>
                      <a:prstDash val="solid"/>
                    </a:lnL>
                    <a:lnR w="6668">
                      <a:solidFill>
                        <a:srgbClr val="DCE5E9"/>
                      </a:solidFill>
                      <a:prstDash val="solid"/>
                    </a:lnR>
                    <a:lnB w="6668">
                      <a:solidFill>
                        <a:srgbClr val="DCE5E9"/>
                      </a:solidFill>
                      <a:prstDash val="solid"/>
                    </a:lnB>
                    <a:solidFill>
                      <a:srgbClr val="FFFFFF"/>
                    </a:solidFill>
                  </a:tcPr>
                </a:tc>
                <a:tc>
                  <a:txBody>
                    <a:bodyPr lIns="114300" tIns="114300" rIns="114300" bIns="114300"/>
                    <a:lstStyle/>
                    <a:p>
                      <a:r>
                        <a:rPr sz="1800" b="0">
                          <a:solidFill>
                            <a:srgbClr val="152B3B"/>
                          </a:solidFill>
                          <a:latin typeface="Arial"/>
                          <a:ea typeface="Arial"/>
                          <a:cs typeface="Arial"/>
                        </a:rPr>
                        <a:t>81,75</a:t>
                      </a:r>
                    </a:p>
                  </a:txBody>
                  <a:tcPr marL="91440" marR="91440" marT="45720" marB="45720" anchor="ctr">
                    <a:lnR w="6668">
                      <a:solidFill>
                        <a:srgbClr val="DCE5E9"/>
                      </a:solidFill>
                      <a:prstDash val="solid"/>
                    </a:lnR>
                    <a:lnB w="6668">
                      <a:solidFill>
                        <a:srgbClr val="DCE5E9"/>
                      </a:solidFill>
                      <a:prstDash val="solid"/>
                    </a:lnB>
                    <a:solidFill>
                      <a:srgbClr val="FFFFFF"/>
                    </a:solidFill>
                  </a:tcPr>
                </a:tc>
                <a:tc>
                  <a:txBody>
                    <a:bodyPr lIns="114300" tIns="114300" rIns="114300" bIns="114300"/>
                    <a:lstStyle/>
                    <a:p>
                      <a:r>
                        <a:rPr sz="1800" b="0">
                          <a:solidFill>
                            <a:srgbClr val="152B3B"/>
                          </a:solidFill>
                          <a:latin typeface="Arial"/>
                          <a:ea typeface="Arial"/>
                          <a:cs typeface="Arial"/>
                        </a:rPr>
                        <a:t>47,00</a:t>
                      </a:r>
                    </a:p>
                  </a:txBody>
                  <a:tcPr marL="91440" marR="91440" marT="45720" marB="45720" anchor="ctr">
                    <a:lnR w="6668">
                      <a:solidFill>
                        <a:srgbClr val="DCE5E9"/>
                      </a:solidFill>
                      <a:prstDash val="solid"/>
                    </a:lnR>
                    <a:lnB w="6668">
                      <a:solidFill>
                        <a:srgbClr val="DCE5E9"/>
                      </a:solidFill>
                      <a:prstDash val="solid"/>
                    </a:lnB>
                    <a:solidFill>
                      <a:srgbClr val="FFFFFF"/>
                    </a:solidFill>
                  </a:tcPr>
                </a:tc>
                <a:tc>
                  <a:txBody>
                    <a:bodyPr lIns="114300" tIns="114300" rIns="114300" bIns="114300"/>
                    <a:lstStyle/>
                    <a:p>
                      <a:r>
                        <a:rPr sz="1800" b="0">
                          <a:solidFill>
                            <a:srgbClr val="152B3B"/>
                          </a:solidFill>
                          <a:latin typeface="Arial"/>
                          <a:ea typeface="Arial"/>
                          <a:cs typeface="Arial"/>
                        </a:rPr>
                        <a:t>54,53</a:t>
                      </a:r>
                    </a:p>
                  </a:txBody>
                  <a:tcPr marL="91440" marR="91440" marT="45720" marB="45720" anchor="ctr">
                    <a:lnR w="6668">
                      <a:solidFill>
                        <a:srgbClr val="DCE5E9"/>
                      </a:solidFill>
                      <a:prstDash val="solid"/>
                    </a:lnR>
                    <a:lnB w="6668">
                      <a:solidFill>
                        <a:srgbClr val="DCE5E9"/>
                      </a:solidFill>
                      <a:prstDash val="solid"/>
                    </a:lnB>
                    <a:solidFill>
                      <a:srgbClr val="FFFFFF"/>
                    </a:solidFill>
                  </a:tcPr>
                </a:tc>
                <a:tc>
                  <a:txBody>
                    <a:bodyPr lIns="114300" tIns="114300" rIns="114300" bIns="114300"/>
                    <a:lstStyle/>
                    <a:p>
                      <a:r>
                        <a:rPr sz="1800" b="0">
                          <a:solidFill>
                            <a:srgbClr val="152B3B"/>
                          </a:solidFill>
                          <a:latin typeface="Arial"/>
                          <a:ea typeface="Arial"/>
                          <a:cs typeface="Arial"/>
                        </a:rPr>
                        <a:t>-27,22</a:t>
                      </a:r>
                    </a:p>
                  </a:txBody>
                  <a:tcPr marL="91440" marR="91440" marT="45720" marB="45720" anchor="ctr">
                    <a:lnR w="6668">
                      <a:solidFill>
                        <a:srgbClr val="DCE5E9"/>
                      </a:solidFill>
                      <a:prstDash val="solid"/>
                    </a:lnR>
                    <a:lnB w="6668">
                      <a:solidFill>
                        <a:srgbClr val="DCE5E9"/>
                      </a:solidFill>
                      <a:prstDash val="solid"/>
                    </a:lnB>
                    <a:solidFill>
                      <a:srgbClr val="FFFFFF"/>
                    </a:solidFill>
                  </a:tcPr>
                </a:tc>
              </a:tr>
              <a:tr h="547688">
                <a:tc>
                  <a:txBody>
                    <a:bodyPr lIns="114300" tIns="114300" rIns="114300" bIns="114300"/>
                    <a:lstStyle/>
                    <a:p>
                      <a:r>
                        <a:rPr sz="1800" b="0">
                          <a:solidFill>
                            <a:srgbClr val="152B3B"/>
                          </a:solidFill>
                          <a:latin typeface="Arial"/>
                          <a:ea typeface="Arial"/>
                          <a:cs typeface="Arial"/>
                        </a:rPr>
                        <a:t>510</a:t>
                      </a:r>
                    </a:p>
                  </a:txBody>
                  <a:tcPr marL="91440" marR="91440" marT="45720" marB="45720" anchor="ctr">
                    <a:lnL w="6668">
                      <a:solidFill>
                        <a:srgbClr val="DCE5E9"/>
                      </a:solidFill>
                      <a:prstDash val="solid"/>
                    </a:lnL>
                    <a:lnR w="6668">
                      <a:solidFill>
                        <a:srgbClr val="DCE5E9"/>
                      </a:solidFill>
                      <a:prstDash val="solid"/>
                    </a:lnR>
                    <a:lnB w="6668">
                      <a:solidFill>
                        <a:srgbClr val="DCE5E9"/>
                      </a:solidFill>
                      <a:prstDash val="solid"/>
                    </a:lnB>
                    <a:solidFill>
                      <a:srgbClr val="F3F7F8"/>
                    </a:solidFill>
                  </a:tcPr>
                </a:tc>
                <a:tc>
                  <a:txBody>
                    <a:bodyPr lIns="114300" tIns="114300" rIns="114300" bIns="114300"/>
                    <a:lstStyle/>
                    <a:p>
                      <a:r>
                        <a:rPr sz="1800" b="0">
                          <a:solidFill>
                            <a:srgbClr val="152B3B"/>
                          </a:solidFill>
                          <a:latin typeface="Arial"/>
                          <a:ea typeface="Arial"/>
                          <a:cs typeface="Arial"/>
                        </a:rPr>
                        <a:t>72,10</a:t>
                      </a:r>
                    </a:p>
                  </a:txBody>
                  <a:tcPr marL="91440" marR="91440" marT="45720" marB="45720" anchor="ctr">
                    <a:lnR w="6668">
                      <a:solidFill>
                        <a:srgbClr val="DCE5E9"/>
                      </a:solidFill>
                      <a:prstDash val="solid"/>
                    </a:lnR>
                    <a:lnB w="6668">
                      <a:solidFill>
                        <a:srgbClr val="DCE5E9"/>
                      </a:solidFill>
                      <a:prstDash val="solid"/>
                    </a:lnB>
                    <a:solidFill>
                      <a:srgbClr val="F3F7F8"/>
                    </a:solidFill>
                  </a:tcPr>
                </a:tc>
                <a:tc>
                  <a:txBody>
                    <a:bodyPr lIns="114300" tIns="114300" rIns="114300" bIns="114300"/>
                    <a:lstStyle/>
                    <a:p>
                      <a:r>
                        <a:rPr sz="1800" b="0">
                          <a:solidFill>
                            <a:srgbClr val="152B3B"/>
                          </a:solidFill>
                          <a:latin typeface="Arial"/>
                          <a:ea typeface="Arial"/>
                          <a:cs typeface="Arial"/>
                        </a:rPr>
                        <a:t>51,03</a:t>
                      </a:r>
                    </a:p>
                  </a:txBody>
                  <a:tcPr marL="91440" marR="91440" marT="45720" marB="45720" anchor="ctr">
                    <a:lnR w="6668">
                      <a:solidFill>
                        <a:srgbClr val="DCE5E9"/>
                      </a:solidFill>
                      <a:prstDash val="solid"/>
                    </a:lnR>
                    <a:lnB w="6668">
                      <a:solidFill>
                        <a:srgbClr val="DCE5E9"/>
                      </a:solidFill>
                      <a:prstDash val="solid"/>
                    </a:lnB>
                    <a:solidFill>
                      <a:srgbClr val="F3F7F8"/>
                    </a:solidFill>
                  </a:tcPr>
                </a:tc>
                <a:tc>
                  <a:txBody>
                    <a:bodyPr lIns="114300" tIns="114300" rIns="114300" bIns="114300"/>
                    <a:lstStyle/>
                    <a:p>
                      <a:r>
                        <a:rPr sz="1800" b="0">
                          <a:solidFill>
                            <a:srgbClr val="152B3B"/>
                          </a:solidFill>
                          <a:latin typeface="Arial"/>
                          <a:ea typeface="Arial"/>
                          <a:cs typeface="Arial"/>
                        </a:rPr>
                        <a:t>51,14</a:t>
                      </a:r>
                    </a:p>
                  </a:txBody>
                  <a:tcPr marL="91440" marR="91440" marT="45720" marB="45720" anchor="ctr">
                    <a:lnR w="6668">
                      <a:solidFill>
                        <a:srgbClr val="DCE5E9"/>
                      </a:solidFill>
                      <a:prstDash val="solid"/>
                    </a:lnR>
                    <a:lnB w="6668">
                      <a:solidFill>
                        <a:srgbClr val="DCE5E9"/>
                      </a:solidFill>
                      <a:prstDash val="solid"/>
                    </a:lnB>
                    <a:solidFill>
                      <a:srgbClr val="F3F7F8"/>
                    </a:solidFill>
                  </a:tcPr>
                </a:tc>
                <a:tc>
                  <a:txBody>
                    <a:bodyPr lIns="114300" tIns="114300" rIns="114300" bIns="114300"/>
                    <a:lstStyle/>
                    <a:p>
                      <a:r>
                        <a:rPr sz="1800" b="0">
                          <a:solidFill>
                            <a:srgbClr val="152B3B"/>
                          </a:solidFill>
                          <a:latin typeface="Arial"/>
                          <a:ea typeface="Arial"/>
                          <a:cs typeface="Arial"/>
                        </a:rPr>
                        <a:t>-20,95</a:t>
                      </a:r>
                    </a:p>
                  </a:txBody>
                  <a:tcPr marL="91440" marR="91440" marT="45720" marB="45720" anchor="ctr">
                    <a:lnR w="6668">
                      <a:solidFill>
                        <a:srgbClr val="DCE5E9"/>
                      </a:solidFill>
                      <a:prstDash val="solid"/>
                    </a:lnR>
                    <a:lnB w="6668">
                      <a:solidFill>
                        <a:srgbClr val="DCE5E9"/>
                      </a:solidFill>
                      <a:prstDash val="solid"/>
                    </a:lnB>
                    <a:solidFill>
                      <a:srgbClr val="F3F7F8"/>
                    </a:solidFill>
                  </a:tcPr>
                </a:tc>
              </a:tr>
              <a:tr h="547688">
                <a:tc>
                  <a:txBody>
                    <a:bodyPr lIns="114300" tIns="114300" rIns="114300" bIns="114300"/>
                    <a:lstStyle/>
                    <a:p>
                      <a:r>
                        <a:rPr sz="1800" b="0">
                          <a:solidFill>
                            <a:srgbClr val="152B3B"/>
                          </a:solidFill>
                          <a:latin typeface="Arial"/>
                          <a:ea typeface="Arial"/>
                          <a:cs typeface="Arial"/>
                        </a:rPr>
                        <a:t>383</a:t>
                      </a:r>
                    </a:p>
                  </a:txBody>
                  <a:tcPr marL="91440" marR="91440" marT="45720" marB="45720" anchor="ctr">
                    <a:lnL w="6668">
                      <a:solidFill>
                        <a:srgbClr val="DCE5E9"/>
                      </a:solidFill>
                      <a:prstDash val="solid"/>
                    </a:lnL>
                    <a:lnR w="6668">
                      <a:solidFill>
                        <a:srgbClr val="DCE5E9"/>
                      </a:solidFill>
                      <a:prstDash val="solid"/>
                    </a:lnR>
                    <a:lnB w="6668">
                      <a:solidFill>
                        <a:srgbClr val="DCE5E9"/>
                      </a:solidFill>
                      <a:prstDash val="solid"/>
                    </a:lnB>
                    <a:solidFill>
                      <a:srgbClr val="FFFFFF"/>
                    </a:solidFill>
                  </a:tcPr>
                </a:tc>
                <a:tc>
                  <a:txBody>
                    <a:bodyPr lIns="114300" tIns="114300" rIns="114300" bIns="114300"/>
                    <a:lstStyle/>
                    <a:p>
                      <a:r>
                        <a:rPr sz="1800" b="0">
                          <a:solidFill>
                            <a:srgbClr val="152B3B"/>
                          </a:solidFill>
                          <a:latin typeface="Arial"/>
                          <a:ea typeface="Arial"/>
                          <a:cs typeface="Arial"/>
                        </a:rPr>
                        <a:t>64,02</a:t>
                      </a:r>
                    </a:p>
                  </a:txBody>
                  <a:tcPr marL="91440" marR="91440" marT="45720" marB="45720" anchor="ctr">
                    <a:lnR w="6668">
                      <a:solidFill>
                        <a:srgbClr val="DCE5E9"/>
                      </a:solidFill>
                      <a:prstDash val="solid"/>
                    </a:lnR>
                    <a:lnB w="6668">
                      <a:solidFill>
                        <a:srgbClr val="DCE5E9"/>
                      </a:solidFill>
                      <a:prstDash val="solid"/>
                    </a:lnB>
                    <a:solidFill>
                      <a:srgbClr val="FFFFFF"/>
                    </a:solidFill>
                  </a:tcPr>
                </a:tc>
                <a:tc>
                  <a:txBody>
                    <a:bodyPr lIns="114300" tIns="114300" rIns="114300" bIns="114300"/>
                    <a:lstStyle/>
                    <a:p>
                      <a:r>
                        <a:rPr sz="1800" b="0">
                          <a:solidFill>
                            <a:srgbClr val="152B3B"/>
                          </a:solidFill>
                          <a:latin typeface="Arial"/>
                          <a:ea typeface="Arial"/>
                          <a:cs typeface="Arial"/>
                        </a:rPr>
                        <a:t>46,48</a:t>
                      </a:r>
                    </a:p>
                  </a:txBody>
                  <a:tcPr marL="91440" marR="91440" marT="45720" marB="45720" anchor="ctr">
                    <a:lnR w="6668">
                      <a:solidFill>
                        <a:srgbClr val="DCE5E9"/>
                      </a:solidFill>
                      <a:prstDash val="solid"/>
                    </a:lnR>
                    <a:lnB w="6668">
                      <a:solidFill>
                        <a:srgbClr val="DCE5E9"/>
                      </a:solidFill>
                      <a:prstDash val="solid"/>
                    </a:lnB>
                    <a:solidFill>
                      <a:srgbClr val="FFFFFF"/>
                    </a:solidFill>
                  </a:tcPr>
                </a:tc>
                <a:tc>
                  <a:txBody>
                    <a:bodyPr lIns="114300" tIns="114300" rIns="114300" bIns="114300"/>
                    <a:lstStyle/>
                    <a:p>
                      <a:r>
                        <a:rPr sz="1800" b="0">
                          <a:solidFill>
                            <a:srgbClr val="152B3B"/>
                          </a:solidFill>
                          <a:latin typeface="Arial"/>
                          <a:ea typeface="Arial"/>
                          <a:cs typeface="Arial"/>
                        </a:rPr>
                        <a:t>44,92</a:t>
                      </a:r>
                    </a:p>
                  </a:txBody>
                  <a:tcPr marL="91440" marR="91440" marT="45720" marB="45720" anchor="ctr">
                    <a:lnR w="6668">
                      <a:solidFill>
                        <a:srgbClr val="DCE5E9"/>
                      </a:solidFill>
                      <a:prstDash val="solid"/>
                    </a:lnR>
                    <a:lnB w="6668">
                      <a:solidFill>
                        <a:srgbClr val="DCE5E9"/>
                      </a:solidFill>
                      <a:prstDash val="solid"/>
                    </a:lnB>
                    <a:solidFill>
                      <a:srgbClr val="FFFFFF"/>
                    </a:solidFill>
                  </a:tcPr>
                </a:tc>
                <a:tc>
                  <a:txBody>
                    <a:bodyPr lIns="114300" tIns="114300" rIns="114300" bIns="114300"/>
                    <a:lstStyle/>
                    <a:p>
                      <a:r>
                        <a:rPr sz="1800" b="0">
                          <a:solidFill>
                            <a:srgbClr val="152B3B"/>
                          </a:solidFill>
                          <a:latin typeface="Arial"/>
                          <a:ea typeface="Arial"/>
                          <a:cs typeface="Arial"/>
                        </a:rPr>
                        <a:t>-19,09</a:t>
                      </a:r>
                    </a:p>
                  </a:txBody>
                  <a:tcPr marL="91440" marR="91440" marT="45720" marB="45720" anchor="ctr">
                    <a:lnR w="6668">
                      <a:solidFill>
                        <a:srgbClr val="DCE5E9"/>
                      </a:solidFill>
                      <a:prstDash val="solid"/>
                    </a:lnR>
                    <a:lnB w="6668">
                      <a:solidFill>
                        <a:srgbClr val="DCE5E9"/>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F9D7541-ADAA-49EE-95F2-366BE3058DC7}"/>
              </a:ext>
            </a:extLst>
          </p:cNvPr>
          <p:cNvSpPr>
            <a:spLocks xmlns:a="http://schemas.openxmlformats.org/drawingml/2006/main" noGrp="1"/>
          </p:cNvSpPr>
          <p:nvPr/>
        </p:nvSpPr>
        <p:spPr>
          <a:xfrm xmlns:a="http://schemas.openxmlformats.org/drawingml/2006/main">
            <a:off x="609600" y="401955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67D8D"/>
                </a:solidFill>
                <a:latin typeface="Arial"/>
                <a:ea typeface="Arial"/>
                <a:cs typeface="Arial"/>
              </a:defRPr>
            </a:defPPr>
            <a:lvl1pPr>
              <a:defRPr sz="2025" b="1">
                <a:solidFill>
                  <a:srgbClr val="167D8D"/>
                </a:solidFill>
                <a:latin typeface="Arial"/>
                <a:ea typeface="Arial"/>
                <a:cs typeface="Arial"/>
              </a:defRPr>
            </a:lvl1pPr>
            <a:lvl2pPr>
              <a:defRPr sz="2025" b="1">
                <a:solidFill>
                  <a:srgbClr val="167D8D"/>
                </a:solidFill>
                <a:latin typeface="Arial"/>
                <a:ea typeface="Arial"/>
                <a:cs typeface="Arial"/>
              </a:defRPr>
            </a:lvl2pPr>
            <a:lvl3pPr>
              <a:defRPr sz="2025" b="1">
                <a:solidFill>
                  <a:srgbClr val="167D8D"/>
                </a:solidFill>
                <a:latin typeface="Arial"/>
                <a:ea typeface="Arial"/>
                <a:cs typeface="Arial"/>
              </a:defRPr>
            </a:lvl3pPr>
            <a:lvl4pPr>
              <a:defRPr sz="2025" b="1">
                <a:solidFill>
                  <a:srgbClr val="167D8D"/>
                </a:solidFill>
                <a:latin typeface="Arial"/>
                <a:ea typeface="Arial"/>
                <a:cs typeface="Arial"/>
              </a:defRPr>
            </a:lvl4pPr>
            <a:lvl5pPr>
              <a:defRPr sz="2025" b="1">
                <a:solidFill>
                  <a:srgbClr val="167D8D"/>
                </a:solidFill>
                <a:latin typeface="Arial"/>
                <a:ea typeface="Arial"/>
                <a:cs typeface="Arial"/>
              </a:defRPr>
            </a:lvl5pPr>
            <a:lvl6pPr>
              <a:defRPr sz="2025" b="1">
                <a:solidFill>
                  <a:srgbClr val="167D8D"/>
                </a:solidFill>
                <a:latin typeface="Arial"/>
                <a:ea typeface="Arial"/>
                <a:cs typeface="Arial"/>
              </a:defRPr>
            </a:lvl6pPr>
            <a:lvl7pPr>
              <a:defRPr sz="2025" b="1">
                <a:solidFill>
                  <a:srgbClr val="167D8D"/>
                </a:solidFill>
                <a:latin typeface="Arial"/>
                <a:ea typeface="Arial"/>
                <a:cs typeface="Arial"/>
              </a:defRPr>
            </a:lvl7pPr>
            <a:lvl8pPr>
              <a:defRPr sz="2025" b="1">
                <a:solidFill>
                  <a:srgbClr val="167D8D"/>
                </a:solidFill>
                <a:latin typeface="Arial"/>
                <a:ea typeface="Arial"/>
                <a:cs typeface="Arial"/>
              </a:defRPr>
            </a:lvl8pPr>
            <a:lvl9pPr>
              <a:defRPr sz="2025" b="1">
                <a:solidFill>
                  <a:srgbClr val="167D8D"/>
                </a:solidFill>
                <a:latin typeface="Arial"/>
                <a:ea typeface="Arial"/>
                <a:cs typeface="Arial"/>
              </a:defRPr>
            </a:lvl9pPr>
          </a:lstStyle>
          <a:p xmlns:a="http://schemas.openxmlformats.org/drawingml/2006/main">
            <a:pPr>
              <a:defRPr sz="2025" b="1">
                <a:solidFill>
                  <a:srgbClr val="167D8D"/>
                </a:solidFill>
                <a:latin typeface="Arial"/>
                <a:ea typeface="Arial"/>
                <a:cs typeface="Arial"/>
              </a:defRPr>
            </a:pPr>
            <a:r>
              <a:rPr sz="2025" b="1">
                <a:solidFill>
                  <a:srgbClr val="167D8D"/>
                </a:solidFill>
                <a:latin typeface="Arial"/>
                <a:ea typeface="Arial"/>
                <a:cs typeface="Arial"/>
              </a:rPr>
              <a:t>382</a:t>
            </a:r>
          </a:p>
        </p:txBody>
      </p:sp>
      <p:sp>
        <p:nvSpPr>
          <p:cNvPr id="6" name="">
            <a:extLst xmlns:a="http://schemas.openxmlformats.org/drawingml/2006/main">
              <a:ext uri="{FF2B5EF4-FFF2-40B4-BE49-F238E27FC236}">
                <a16:creationId xmlns:a16="http://schemas.microsoft.com/office/drawing/2014/main" id="{579EE8DF-ECB1-4B2F-99B3-FFC5527F9ADF}"/>
              </a:ext>
            </a:extLst>
          </p:cNvPr>
          <p:cNvSpPr>
            <a:spLocks xmlns:a="http://schemas.openxmlformats.org/drawingml/2006/main" noGrp="1"/>
          </p:cNvSpPr>
          <p:nvPr/>
        </p:nvSpPr>
        <p:spPr>
          <a:xfrm xmlns:a="http://schemas.openxmlformats.org/drawingml/2006/main">
            <a:off x="1619250" y="4019550"/>
            <a:ext cx="981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52B3B"/>
                </a:solidFill>
                <a:latin typeface="Arial"/>
                <a:ea typeface="Arial"/>
                <a:cs typeface="Arial"/>
              </a:defRPr>
            </a:defPPr>
            <a:lvl1pPr>
              <a:defRPr sz="1875" b="0">
                <a:solidFill>
                  <a:srgbClr val="152B3B"/>
                </a:solidFill>
                <a:latin typeface="Arial"/>
                <a:ea typeface="Arial"/>
                <a:cs typeface="Arial"/>
              </a:defRPr>
            </a:lvl1pPr>
            <a:lvl2pPr>
              <a:defRPr sz="1875" b="0">
                <a:solidFill>
                  <a:srgbClr val="152B3B"/>
                </a:solidFill>
                <a:latin typeface="Arial"/>
                <a:ea typeface="Arial"/>
                <a:cs typeface="Arial"/>
              </a:defRPr>
            </a:lvl2pPr>
            <a:lvl3pPr>
              <a:defRPr sz="1875" b="0">
                <a:solidFill>
                  <a:srgbClr val="152B3B"/>
                </a:solidFill>
                <a:latin typeface="Arial"/>
                <a:ea typeface="Arial"/>
                <a:cs typeface="Arial"/>
              </a:defRPr>
            </a:lvl3pPr>
            <a:lvl4pPr>
              <a:defRPr sz="1875" b="0">
                <a:solidFill>
                  <a:srgbClr val="152B3B"/>
                </a:solidFill>
                <a:latin typeface="Arial"/>
                <a:ea typeface="Arial"/>
                <a:cs typeface="Arial"/>
              </a:defRPr>
            </a:lvl4pPr>
            <a:lvl5pPr>
              <a:defRPr sz="1875" b="0">
                <a:solidFill>
                  <a:srgbClr val="152B3B"/>
                </a:solidFill>
                <a:latin typeface="Arial"/>
                <a:ea typeface="Arial"/>
                <a:cs typeface="Arial"/>
              </a:defRPr>
            </a:lvl5pPr>
            <a:lvl6pPr>
              <a:defRPr sz="1875" b="0">
                <a:solidFill>
                  <a:srgbClr val="152B3B"/>
                </a:solidFill>
                <a:latin typeface="Arial"/>
                <a:ea typeface="Arial"/>
                <a:cs typeface="Arial"/>
              </a:defRPr>
            </a:lvl6pPr>
            <a:lvl7pPr>
              <a:defRPr sz="1875" b="0">
                <a:solidFill>
                  <a:srgbClr val="152B3B"/>
                </a:solidFill>
                <a:latin typeface="Arial"/>
                <a:ea typeface="Arial"/>
                <a:cs typeface="Arial"/>
              </a:defRPr>
            </a:lvl7pPr>
            <a:lvl8pPr>
              <a:defRPr sz="1875" b="0">
                <a:solidFill>
                  <a:srgbClr val="152B3B"/>
                </a:solidFill>
                <a:latin typeface="Arial"/>
                <a:ea typeface="Arial"/>
                <a:cs typeface="Arial"/>
              </a:defRPr>
            </a:lvl8pPr>
            <a:lvl9pPr>
              <a:defRPr sz="1875" b="0">
                <a:solidFill>
                  <a:srgbClr val="152B3B"/>
                </a:solidFill>
                <a:latin typeface="Arial"/>
                <a:ea typeface="Arial"/>
                <a:cs typeface="Arial"/>
              </a:defRPr>
            </a:lvl9pPr>
          </a:lstStyle>
          <a:p xmlns:a="http://schemas.openxmlformats.org/drawingml/2006/main">
            <a:pPr>
              <a:defRPr sz="1875" b="0">
                <a:solidFill>
                  <a:srgbClr val="152B3B"/>
                </a:solidFill>
                <a:latin typeface="Arial"/>
                <a:ea typeface="Arial"/>
                <a:cs typeface="Arial"/>
              </a:defRPr>
            </a:pPr>
            <a:r>
              <a:rPr sz="1875" b="0">
                <a:solidFill>
                  <a:srgbClr val="152B3B"/>
                </a:solidFill>
                <a:latin typeface="Arial"/>
                <a:ea typeface="Arial"/>
                <a:cs typeface="Arial"/>
              </a:rPr>
              <a:t>Ближайший пример train: 63,14 МПа при факте 81,75 МПа</a:t>
            </a:r>
          </a:p>
        </p:txBody>
      </p:sp>
      <p:sp>
        <p:nvSpPr>
          <p:cNvPr id="7" name="">
            <a:extLst xmlns:a="http://schemas.openxmlformats.org/drawingml/2006/main">
              <a:ext uri="{FF2B5EF4-FFF2-40B4-BE49-F238E27FC236}">
                <a16:creationId xmlns:a16="http://schemas.microsoft.com/office/drawing/2014/main" id="{F1C15990-F0CD-425A-BCA5-B6257D59918C}"/>
              </a:ext>
            </a:extLst>
          </p:cNvPr>
          <p:cNvSpPr>
            <a:spLocks xmlns:a="http://schemas.openxmlformats.org/drawingml/2006/main" noGrp="1"/>
          </p:cNvSpPr>
          <p:nvPr/>
        </p:nvSpPr>
        <p:spPr>
          <a:xfrm xmlns:a="http://schemas.openxmlformats.org/drawingml/2006/main">
            <a:off x="609600" y="4638675"/>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67D8D"/>
                </a:solidFill>
                <a:latin typeface="Arial"/>
                <a:ea typeface="Arial"/>
                <a:cs typeface="Arial"/>
              </a:defRPr>
            </a:defPPr>
            <a:lvl1pPr>
              <a:defRPr sz="2025" b="1">
                <a:solidFill>
                  <a:srgbClr val="167D8D"/>
                </a:solidFill>
                <a:latin typeface="Arial"/>
                <a:ea typeface="Arial"/>
                <a:cs typeface="Arial"/>
              </a:defRPr>
            </a:lvl1pPr>
            <a:lvl2pPr>
              <a:defRPr sz="2025" b="1">
                <a:solidFill>
                  <a:srgbClr val="167D8D"/>
                </a:solidFill>
                <a:latin typeface="Arial"/>
                <a:ea typeface="Arial"/>
                <a:cs typeface="Arial"/>
              </a:defRPr>
            </a:lvl2pPr>
            <a:lvl3pPr>
              <a:defRPr sz="2025" b="1">
                <a:solidFill>
                  <a:srgbClr val="167D8D"/>
                </a:solidFill>
                <a:latin typeface="Arial"/>
                <a:ea typeface="Arial"/>
                <a:cs typeface="Arial"/>
              </a:defRPr>
            </a:lvl3pPr>
            <a:lvl4pPr>
              <a:defRPr sz="2025" b="1">
                <a:solidFill>
                  <a:srgbClr val="167D8D"/>
                </a:solidFill>
                <a:latin typeface="Arial"/>
                <a:ea typeface="Arial"/>
                <a:cs typeface="Arial"/>
              </a:defRPr>
            </a:lvl4pPr>
            <a:lvl5pPr>
              <a:defRPr sz="2025" b="1">
                <a:solidFill>
                  <a:srgbClr val="167D8D"/>
                </a:solidFill>
                <a:latin typeface="Arial"/>
                <a:ea typeface="Arial"/>
                <a:cs typeface="Arial"/>
              </a:defRPr>
            </a:lvl5pPr>
            <a:lvl6pPr>
              <a:defRPr sz="2025" b="1">
                <a:solidFill>
                  <a:srgbClr val="167D8D"/>
                </a:solidFill>
                <a:latin typeface="Arial"/>
                <a:ea typeface="Arial"/>
                <a:cs typeface="Arial"/>
              </a:defRPr>
            </a:lvl6pPr>
            <a:lvl7pPr>
              <a:defRPr sz="2025" b="1">
                <a:solidFill>
                  <a:srgbClr val="167D8D"/>
                </a:solidFill>
                <a:latin typeface="Arial"/>
                <a:ea typeface="Arial"/>
                <a:cs typeface="Arial"/>
              </a:defRPr>
            </a:lvl7pPr>
            <a:lvl8pPr>
              <a:defRPr sz="2025" b="1">
                <a:solidFill>
                  <a:srgbClr val="167D8D"/>
                </a:solidFill>
                <a:latin typeface="Arial"/>
                <a:ea typeface="Arial"/>
                <a:cs typeface="Arial"/>
              </a:defRPr>
            </a:lvl8pPr>
            <a:lvl9pPr>
              <a:defRPr sz="2025" b="1">
                <a:solidFill>
                  <a:srgbClr val="167D8D"/>
                </a:solidFill>
                <a:latin typeface="Arial"/>
                <a:ea typeface="Arial"/>
                <a:cs typeface="Arial"/>
              </a:defRPr>
            </a:lvl9pPr>
          </a:lstStyle>
          <a:p xmlns:a="http://schemas.openxmlformats.org/drawingml/2006/main">
            <a:pPr>
              <a:defRPr sz="2025" b="1">
                <a:solidFill>
                  <a:srgbClr val="167D8D"/>
                </a:solidFill>
                <a:latin typeface="Arial"/>
                <a:ea typeface="Arial"/>
                <a:cs typeface="Arial"/>
              </a:defRPr>
            </a:pPr>
            <a:r>
              <a:rPr sz="2025" b="1">
                <a:solidFill>
                  <a:srgbClr val="167D8D"/>
                </a:solidFill>
                <a:latin typeface="Arial"/>
                <a:ea typeface="Arial"/>
                <a:cs typeface="Arial"/>
              </a:rPr>
              <a:t>510</a:t>
            </a:r>
          </a:p>
        </p:txBody>
      </p:sp>
      <p:sp>
        <p:nvSpPr>
          <p:cNvPr id="8" name="">
            <a:extLst xmlns:a="http://schemas.openxmlformats.org/drawingml/2006/main">
              <a:ext uri="{FF2B5EF4-FFF2-40B4-BE49-F238E27FC236}">
                <a16:creationId xmlns:a16="http://schemas.microsoft.com/office/drawing/2014/main" id="{DC5DA0D0-22FC-45CD-9CC6-ADD464862B81}"/>
              </a:ext>
            </a:extLst>
          </p:cNvPr>
          <p:cNvSpPr>
            <a:spLocks xmlns:a="http://schemas.openxmlformats.org/drawingml/2006/main" noGrp="1"/>
          </p:cNvSpPr>
          <p:nvPr/>
        </p:nvSpPr>
        <p:spPr>
          <a:xfrm xmlns:a="http://schemas.openxmlformats.org/drawingml/2006/main">
            <a:off x="1619250" y="4638675"/>
            <a:ext cx="981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52B3B"/>
                </a:solidFill>
                <a:latin typeface="Arial"/>
                <a:ea typeface="Arial"/>
                <a:cs typeface="Arial"/>
              </a:defRPr>
            </a:defPPr>
            <a:lvl1pPr>
              <a:defRPr sz="1875" b="0">
                <a:solidFill>
                  <a:srgbClr val="152B3B"/>
                </a:solidFill>
                <a:latin typeface="Arial"/>
                <a:ea typeface="Arial"/>
                <a:cs typeface="Arial"/>
              </a:defRPr>
            </a:lvl1pPr>
            <a:lvl2pPr>
              <a:defRPr sz="1875" b="0">
                <a:solidFill>
                  <a:srgbClr val="152B3B"/>
                </a:solidFill>
                <a:latin typeface="Arial"/>
                <a:ea typeface="Arial"/>
                <a:cs typeface="Arial"/>
              </a:defRPr>
            </a:lvl2pPr>
            <a:lvl3pPr>
              <a:defRPr sz="1875" b="0">
                <a:solidFill>
                  <a:srgbClr val="152B3B"/>
                </a:solidFill>
                <a:latin typeface="Arial"/>
                <a:ea typeface="Arial"/>
                <a:cs typeface="Arial"/>
              </a:defRPr>
            </a:lvl3pPr>
            <a:lvl4pPr>
              <a:defRPr sz="1875" b="0">
                <a:solidFill>
                  <a:srgbClr val="152B3B"/>
                </a:solidFill>
                <a:latin typeface="Arial"/>
                <a:ea typeface="Arial"/>
                <a:cs typeface="Arial"/>
              </a:defRPr>
            </a:lvl4pPr>
            <a:lvl5pPr>
              <a:defRPr sz="1875" b="0">
                <a:solidFill>
                  <a:srgbClr val="152B3B"/>
                </a:solidFill>
                <a:latin typeface="Arial"/>
                <a:ea typeface="Arial"/>
                <a:cs typeface="Arial"/>
              </a:defRPr>
            </a:lvl5pPr>
            <a:lvl6pPr>
              <a:defRPr sz="1875" b="0">
                <a:solidFill>
                  <a:srgbClr val="152B3B"/>
                </a:solidFill>
                <a:latin typeface="Arial"/>
                <a:ea typeface="Arial"/>
                <a:cs typeface="Arial"/>
              </a:defRPr>
            </a:lvl6pPr>
            <a:lvl7pPr>
              <a:defRPr sz="1875" b="0">
                <a:solidFill>
                  <a:srgbClr val="152B3B"/>
                </a:solidFill>
                <a:latin typeface="Arial"/>
                <a:ea typeface="Arial"/>
                <a:cs typeface="Arial"/>
              </a:defRPr>
            </a:lvl7pPr>
            <a:lvl8pPr>
              <a:defRPr sz="1875" b="0">
                <a:solidFill>
                  <a:srgbClr val="152B3B"/>
                </a:solidFill>
                <a:latin typeface="Arial"/>
                <a:ea typeface="Arial"/>
                <a:cs typeface="Arial"/>
              </a:defRPr>
            </a:lvl8pPr>
            <a:lvl9pPr>
              <a:defRPr sz="1875" b="0">
                <a:solidFill>
                  <a:srgbClr val="152B3B"/>
                </a:solidFill>
                <a:latin typeface="Arial"/>
                <a:ea typeface="Arial"/>
                <a:cs typeface="Arial"/>
              </a:defRPr>
            </a:lvl9pPr>
          </a:lstStyle>
          <a:p xmlns:a="http://schemas.openxmlformats.org/drawingml/2006/main">
            <a:pPr>
              <a:defRPr sz="1875" b="0">
                <a:solidFill>
                  <a:srgbClr val="152B3B"/>
                </a:solidFill>
                <a:latin typeface="Arial"/>
                <a:ea typeface="Arial"/>
                <a:cs typeface="Arial"/>
              </a:defRPr>
            </a:pPr>
            <a:r>
              <a:rPr sz="1875" b="0">
                <a:solidFill>
                  <a:srgbClr val="152B3B"/>
                </a:solidFill>
                <a:latin typeface="Arial"/>
                <a:ea typeface="Arial"/>
                <a:cs typeface="Arial"/>
              </a:rPr>
              <a:t>У ближайшего примера возраст 3 суток, у тестового 28</a:t>
            </a:r>
          </a:p>
        </p:txBody>
      </p:sp>
      <p:sp>
        <p:nvSpPr>
          <p:cNvPr id="9" name="">
            <a:extLst xmlns:a="http://schemas.openxmlformats.org/drawingml/2006/main">
              <a:ext uri="{FF2B5EF4-FFF2-40B4-BE49-F238E27FC236}">
                <a16:creationId xmlns:a16="http://schemas.microsoft.com/office/drawing/2014/main" id="{7581FA6A-A7B5-4F62-928C-07BB900238BD}"/>
              </a:ext>
            </a:extLst>
          </p:cNvPr>
          <p:cNvSpPr>
            <a:spLocks xmlns:a="http://schemas.openxmlformats.org/drawingml/2006/main" noGrp="1"/>
          </p:cNvSpPr>
          <p:nvPr/>
        </p:nvSpPr>
        <p:spPr>
          <a:xfrm xmlns:a="http://schemas.openxmlformats.org/drawingml/2006/main">
            <a:off x="609600" y="52578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67D8D"/>
                </a:solidFill>
                <a:latin typeface="Arial"/>
                <a:ea typeface="Arial"/>
                <a:cs typeface="Arial"/>
              </a:defRPr>
            </a:defPPr>
            <a:lvl1pPr>
              <a:defRPr sz="2025" b="1">
                <a:solidFill>
                  <a:srgbClr val="167D8D"/>
                </a:solidFill>
                <a:latin typeface="Arial"/>
                <a:ea typeface="Arial"/>
                <a:cs typeface="Arial"/>
              </a:defRPr>
            </a:lvl1pPr>
            <a:lvl2pPr>
              <a:defRPr sz="2025" b="1">
                <a:solidFill>
                  <a:srgbClr val="167D8D"/>
                </a:solidFill>
                <a:latin typeface="Arial"/>
                <a:ea typeface="Arial"/>
                <a:cs typeface="Arial"/>
              </a:defRPr>
            </a:lvl2pPr>
            <a:lvl3pPr>
              <a:defRPr sz="2025" b="1">
                <a:solidFill>
                  <a:srgbClr val="167D8D"/>
                </a:solidFill>
                <a:latin typeface="Arial"/>
                <a:ea typeface="Arial"/>
                <a:cs typeface="Arial"/>
              </a:defRPr>
            </a:lvl3pPr>
            <a:lvl4pPr>
              <a:defRPr sz="2025" b="1">
                <a:solidFill>
                  <a:srgbClr val="167D8D"/>
                </a:solidFill>
                <a:latin typeface="Arial"/>
                <a:ea typeface="Arial"/>
                <a:cs typeface="Arial"/>
              </a:defRPr>
            </a:lvl4pPr>
            <a:lvl5pPr>
              <a:defRPr sz="2025" b="1">
                <a:solidFill>
                  <a:srgbClr val="167D8D"/>
                </a:solidFill>
                <a:latin typeface="Arial"/>
                <a:ea typeface="Arial"/>
                <a:cs typeface="Arial"/>
              </a:defRPr>
            </a:lvl5pPr>
            <a:lvl6pPr>
              <a:defRPr sz="2025" b="1">
                <a:solidFill>
                  <a:srgbClr val="167D8D"/>
                </a:solidFill>
                <a:latin typeface="Arial"/>
                <a:ea typeface="Arial"/>
                <a:cs typeface="Arial"/>
              </a:defRPr>
            </a:lvl6pPr>
            <a:lvl7pPr>
              <a:defRPr sz="2025" b="1">
                <a:solidFill>
                  <a:srgbClr val="167D8D"/>
                </a:solidFill>
                <a:latin typeface="Arial"/>
                <a:ea typeface="Arial"/>
                <a:cs typeface="Arial"/>
              </a:defRPr>
            </a:lvl7pPr>
            <a:lvl8pPr>
              <a:defRPr sz="2025" b="1">
                <a:solidFill>
                  <a:srgbClr val="167D8D"/>
                </a:solidFill>
                <a:latin typeface="Arial"/>
                <a:ea typeface="Arial"/>
                <a:cs typeface="Arial"/>
              </a:defRPr>
            </a:lvl8pPr>
            <a:lvl9pPr>
              <a:defRPr sz="2025" b="1">
                <a:solidFill>
                  <a:srgbClr val="167D8D"/>
                </a:solidFill>
                <a:latin typeface="Arial"/>
                <a:ea typeface="Arial"/>
                <a:cs typeface="Arial"/>
              </a:defRPr>
            </a:lvl9pPr>
          </a:lstStyle>
          <a:p xmlns:a="http://schemas.openxmlformats.org/drawingml/2006/main">
            <a:pPr>
              <a:defRPr sz="2025" b="1">
                <a:solidFill>
                  <a:srgbClr val="167D8D"/>
                </a:solidFill>
                <a:latin typeface="Arial"/>
                <a:ea typeface="Arial"/>
                <a:cs typeface="Arial"/>
              </a:defRPr>
            </a:pPr>
            <a:r>
              <a:rPr sz="2025" b="1">
                <a:solidFill>
                  <a:srgbClr val="167D8D"/>
                </a:solidFill>
                <a:latin typeface="Arial"/>
                <a:ea typeface="Arial"/>
                <a:cs typeface="Arial"/>
              </a:rPr>
              <a:t>383</a:t>
            </a:r>
          </a:p>
        </p:txBody>
      </p:sp>
      <p:sp>
        <p:nvSpPr>
          <p:cNvPr id="10" name="">
            <a:extLst xmlns:a="http://schemas.openxmlformats.org/drawingml/2006/main">
              <a:ext uri="{FF2B5EF4-FFF2-40B4-BE49-F238E27FC236}">
                <a16:creationId xmlns:a16="http://schemas.microsoft.com/office/drawing/2014/main" id="{1BE9DE5D-95E4-46EB-8EC4-6DE5B713C00F}"/>
              </a:ext>
            </a:extLst>
          </p:cNvPr>
          <p:cNvSpPr>
            <a:spLocks xmlns:a="http://schemas.openxmlformats.org/drawingml/2006/main" noGrp="1"/>
          </p:cNvSpPr>
          <p:nvPr/>
        </p:nvSpPr>
        <p:spPr>
          <a:xfrm xmlns:a="http://schemas.openxmlformats.org/drawingml/2006/main">
            <a:off x="1619250" y="5257800"/>
            <a:ext cx="981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52B3B"/>
                </a:solidFill>
                <a:latin typeface="Arial"/>
                <a:ea typeface="Arial"/>
                <a:cs typeface="Arial"/>
              </a:defRPr>
            </a:defPPr>
            <a:lvl1pPr>
              <a:defRPr sz="1875" b="0">
                <a:solidFill>
                  <a:srgbClr val="152B3B"/>
                </a:solidFill>
                <a:latin typeface="Arial"/>
                <a:ea typeface="Arial"/>
                <a:cs typeface="Arial"/>
              </a:defRPr>
            </a:lvl1pPr>
            <a:lvl2pPr>
              <a:defRPr sz="1875" b="0">
                <a:solidFill>
                  <a:srgbClr val="152B3B"/>
                </a:solidFill>
                <a:latin typeface="Arial"/>
                <a:ea typeface="Arial"/>
                <a:cs typeface="Arial"/>
              </a:defRPr>
            </a:lvl2pPr>
            <a:lvl3pPr>
              <a:defRPr sz="1875" b="0">
                <a:solidFill>
                  <a:srgbClr val="152B3B"/>
                </a:solidFill>
                <a:latin typeface="Arial"/>
                <a:ea typeface="Arial"/>
                <a:cs typeface="Arial"/>
              </a:defRPr>
            </a:lvl3pPr>
            <a:lvl4pPr>
              <a:defRPr sz="1875" b="0">
                <a:solidFill>
                  <a:srgbClr val="152B3B"/>
                </a:solidFill>
                <a:latin typeface="Arial"/>
                <a:ea typeface="Arial"/>
                <a:cs typeface="Arial"/>
              </a:defRPr>
            </a:lvl4pPr>
            <a:lvl5pPr>
              <a:defRPr sz="1875" b="0">
                <a:solidFill>
                  <a:srgbClr val="152B3B"/>
                </a:solidFill>
                <a:latin typeface="Arial"/>
                <a:ea typeface="Arial"/>
                <a:cs typeface="Arial"/>
              </a:defRPr>
            </a:lvl5pPr>
            <a:lvl6pPr>
              <a:defRPr sz="1875" b="0">
                <a:solidFill>
                  <a:srgbClr val="152B3B"/>
                </a:solidFill>
                <a:latin typeface="Arial"/>
                <a:ea typeface="Arial"/>
                <a:cs typeface="Arial"/>
              </a:defRPr>
            </a:lvl6pPr>
            <a:lvl7pPr>
              <a:defRPr sz="1875" b="0">
                <a:solidFill>
                  <a:srgbClr val="152B3B"/>
                </a:solidFill>
                <a:latin typeface="Arial"/>
                <a:ea typeface="Arial"/>
                <a:cs typeface="Arial"/>
              </a:defRPr>
            </a:lvl7pPr>
            <a:lvl8pPr>
              <a:defRPr sz="1875" b="0">
                <a:solidFill>
                  <a:srgbClr val="152B3B"/>
                </a:solidFill>
                <a:latin typeface="Arial"/>
                <a:ea typeface="Arial"/>
                <a:cs typeface="Arial"/>
              </a:defRPr>
            </a:lvl8pPr>
            <a:lvl9pPr>
              <a:defRPr sz="1875" b="0">
                <a:solidFill>
                  <a:srgbClr val="152B3B"/>
                </a:solidFill>
                <a:latin typeface="Arial"/>
                <a:ea typeface="Arial"/>
                <a:cs typeface="Arial"/>
              </a:defRPr>
            </a:lvl9pPr>
          </a:lstStyle>
          <a:p xmlns:a="http://schemas.openxmlformats.org/drawingml/2006/main">
            <a:pPr>
              <a:defRPr sz="1875" b="0">
                <a:solidFill>
                  <a:srgbClr val="152B3B"/>
                </a:solidFill>
                <a:latin typeface="Arial"/>
                <a:ea typeface="Arial"/>
                <a:cs typeface="Arial"/>
              </a:defRPr>
            </a:pPr>
            <a:r>
              <a:rPr sz="1875" b="0">
                <a:solidFill>
                  <a:srgbClr val="152B3B"/>
                </a:solidFill>
                <a:latin typeface="Arial"/>
                <a:ea typeface="Arial"/>
                <a:cs typeface="Arial"/>
              </a:rPr>
              <a:t>Регрессия здесь точнее леса: ошибка 17,54 против 19,09 МПа</a:t>
            </a:r>
          </a:p>
        </p:txBody>
      </p:sp>
      <p:sp>
        <p:nvSpPr>
          <p:cNvPr id="11" name="">
            <a:extLst xmlns:a="http://schemas.openxmlformats.org/drawingml/2006/main">
              <a:ext uri="{FF2B5EF4-FFF2-40B4-BE49-F238E27FC236}">
                <a16:creationId xmlns:a16="http://schemas.microsoft.com/office/drawing/2014/main" id="{875B5F65-3DED-4B4E-B330-F276D4A82CCA}"/>
              </a:ext>
            </a:extLst>
          </p:cNvPr>
          <p:cNvSpPr>
            <a:spLocks xmlns:a="http://schemas.openxmlformats.org/drawingml/2006/main" noGrp="1"/>
          </p:cNvSpPr>
          <p:nvPr/>
        </p:nvSpPr>
        <p:spPr>
          <a:xfrm xmlns:a="http://schemas.openxmlformats.org/drawingml/2006/main">
            <a:off x="609600" y="607695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526776"/>
                </a:solidFill>
                <a:latin typeface="Arial"/>
                <a:ea typeface="Arial"/>
                <a:cs typeface="Arial"/>
              </a:defRPr>
            </a:defPPr>
            <a:lvl1pPr>
              <a:defRPr sz="1500" b="0">
                <a:solidFill>
                  <a:srgbClr val="526776"/>
                </a:solidFill>
                <a:latin typeface="Arial"/>
                <a:ea typeface="Arial"/>
                <a:cs typeface="Arial"/>
              </a:defRPr>
            </a:lvl1pPr>
            <a:lvl2pPr>
              <a:defRPr sz="1500" b="0">
                <a:solidFill>
                  <a:srgbClr val="526776"/>
                </a:solidFill>
                <a:latin typeface="Arial"/>
                <a:ea typeface="Arial"/>
                <a:cs typeface="Arial"/>
              </a:defRPr>
            </a:lvl2pPr>
            <a:lvl3pPr>
              <a:defRPr sz="1500" b="0">
                <a:solidFill>
                  <a:srgbClr val="526776"/>
                </a:solidFill>
                <a:latin typeface="Arial"/>
                <a:ea typeface="Arial"/>
                <a:cs typeface="Arial"/>
              </a:defRPr>
            </a:lvl3pPr>
            <a:lvl4pPr>
              <a:defRPr sz="1500" b="0">
                <a:solidFill>
                  <a:srgbClr val="526776"/>
                </a:solidFill>
                <a:latin typeface="Arial"/>
                <a:ea typeface="Arial"/>
                <a:cs typeface="Arial"/>
              </a:defRPr>
            </a:lvl4pPr>
            <a:lvl5pPr>
              <a:defRPr sz="1500" b="0">
                <a:solidFill>
                  <a:srgbClr val="526776"/>
                </a:solidFill>
                <a:latin typeface="Arial"/>
                <a:ea typeface="Arial"/>
                <a:cs typeface="Arial"/>
              </a:defRPr>
            </a:lvl5pPr>
            <a:lvl6pPr>
              <a:defRPr sz="1500" b="0">
                <a:solidFill>
                  <a:srgbClr val="526776"/>
                </a:solidFill>
                <a:latin typeface="Arial"/>
                <a:ea typeface="Arial"/>
                <a:cs typeface="Arial"/>
              </a:defRPr>
            </a:lvl6pPr>
            <a:lvl7pPr>
              <a:defRPr sz="1500" b="0">
                <a:solidFill>
                  <a:srgbClr val="526776"/>
                </a:solidFill>
                <a:latin typeface="Arial"/>
                <a:ea typeface="Arial"/>
                <a:cs typeface="Arial"/>
              </a:defRPr>
            </a:lvl7pPr>
            <a:lvl8pPr>
              <a:defRPr sz="1500" b="0">
                <a:solidFill>
                  <a:srgbClr val="526776"/>
                </a:solidFill>
                <a:latin typeface="Arial"/>
                <a:ea typeface="Arial"/>
                <a:cs typeface="Arial"/>
              </a:defRPr>
            </a:lvl8pPr>
            <a:lvl9pPr>
              <a:defRPr sz="1500" b="0">
                <a:solidFill>
                  <a:srgbClr val="526776"/>
                </a:solidFill>
                <a:latin typeface="Arial"/>
                <a:ea typeface="Arial"/>
                <a:cs typeface="Arial"/>
              </a:defRPr>
            </a:lvl9pPr>
          </a:lstStyle>
          <a:p xmlns:a="http://schemas.openxmlformats.org/drawingml/2006/main">
            <a:pPr>
              <a:defRPr sz="1500" b="0">
                <a:solidFill>
                  <a:srgbClr val="526776"/>
                </a:solidFill>
                <a:latin typeface="Arial"/>
                <a:ea typeface="Arial"/>
                <a:cs typeface="Arial"/>
              </a:defRPr>
            </a:pPr>
            <a:r>
              <a:rPr sz="1500" b="0">
                <a:solidFill>
                  <a:srgbClr val="526776"/>
                </a:solidFill>
                <a:latin typeface="Arial"/>
                <a:ea typeface="Arial"/>
                <a:cs typeface="Arial"/>
              </a:rPr>
              <a:t>Все значения прочности и ошибки в МПа. Различия с соседями не доказывают причину.</a:t>
            </a:r>
          </a:p>
        </p:txBody>
      </p:sp>
    </p:spTree>
    <p:extLst>
      <p:ext uri="{BB962C8B-B14F-4D97-AF65-F5344CB8AC3E}">
        <p14:creationId xmlns:p14="http://schemas.microsoft.com/office/powerpoint/2010/main" val="116144742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747F8B0F-D138-46F4-80F9-08837FF6E127}"/>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152B3B"/>
                </a:solidFill>
                <a:latin typeface="Arial"/>
                <a:ea typeface="Arial"/>
                <a:cs typeface="Arial"/>
              </a:defRPr>
            </a:defPPr>
            <a:lvl1pPr>
              <a:defRPr sz="2850" b="1">
                <a:solidFill>
                  <a:srgbClr val="152B3B"/>
                </a:solidFill>
                <a:latin typeface="Arial"/>
                <a:ea typeface="Arial"/>
                <a:cs typeface="Arial"/>
              </a:defRPr>
            </a:lvl1pPr>
            <a:lvl2pPr>
              <a:defRPr sz="2850" b="1">
                <a:solidFill>
                  <a:srgbClr val="152B3B"/>
                </a:solidFill>
                <a:latin typeface="Arial"/>
                <a:ea typeface="Arial"/>
                <a:cs typeface="Arial"/>
              </a:defRPr>
            </a:lvl2pPr>
            <a:lvl3pPr>
              <a:defRPr sz="2850" b="1">
                <a:solidFill>
                  <a:srgbClr val="152B3B"/>
                </a:solidFill>
                <a:latin typeface="Arial"/>
                <a:ea typeface="Arial"/>
                <a:cs typeface="Arial"/>
              </a:defRPr>
            </a:lvl3pPr>
            <a:lvl4pPr>
              <a:defRPr sz="2850" b="1">
                <a:solidFill>
                  <a:srgbClr val="152B3B"/>
                </a:solidFill>
                <a:latin typeface="Arial"/>
                <a:ea typeface="Arial"/>
                <a:cs typeface="Arial"/>
              </a:defRPr>
            </a:lvl4pPr>
            <a:lvl5pPr>
              <a:defRPr sz="2850" b="1">
                <a:solidFill>
                  <a:srgbClr val="152B3B"/>
                </a:solidFill>
                <a:latin typeface="Arial"/>
                <a:ea typeface="Arial"/>
                <a:cs typeface="Arial"/>
              </a:defRPr>
            </a:lvl5pPr>
            <a:lvl6pPr>
              <a:defRPr sz="2850" b="1">
                <a:solidFill>
                  <a:srgbClr val="152B3B"/>
                </a:solidFill>
                <a:latin typeface="Arial"/>
                <a:ea typeface="Arial"/>
                <a:cs typeface="Arial"/>
              </a:defRPr>
            </a:lvl6pPr>
            <a:lvl7pPr>
              <a:defRPr sz="2850" b="1">
                <a:solidFill>
                  <a:srgbClr val="152B3B"/>
                </a:solidFill>
                <a:latin typeface="Arial"/>
                <a:ea typeface="Arial"/>
                <a:cs typeface="Arial"/>
              </a:defRPr>
            </a:lvl7pPr>
            <a:lvl8pPr>
              <a:defRPr sz="2850" b="1">
                <a:solidFill>
                  <a:srgbClr val="152B3B"/>
                </a:solidFill>
                <a:latin typeface="Arial"/>
                <a:ea typeface="Arial"/>
                <a:cs typeface="Arial"/>
              </a:defRPr>
            </a:lvl8pPr>
            <a:lvl9pPr>
              <a:defRPr sz="2850" b="1">
                <a:solidFill>
                  <a:srgbClr val="152B3B"/>
                </a:solidFill>
                <a:latin typeface="Arial"/>
                <a:ea typeface="Arial"/>
                <a:cs typeface="Arial"/>
              </a:defRPr>
            </a:lvl9pPr>
          </a:lstStyle>
          <a:p xmlns:a="http://schemas.openxmlformats.org/drawingml/2006/main">
            <a:pPr>
              <a:defRPr sz="2850" b="1">
                <a:solidFill>
                  <a:srgbClr val="152B3B"/>
                </a:solidFill>
                <a:latin typeface="Arial"/>
                <a:ea typeface="Arial"/>
                <a:cs typeface="Arial"/>
              </a:defRPr>
            </a:pPr>
            <a:r>
              <a:rPr sz="2850" b="1">
                <a:solidFill>
                  <a:srgbClr val="152B3B"/>
                </a:solidFill>
                <a:latin typeface="Arial"/>
                <a:ea typeface="Arial"/>
                <a:cs typeface="Arial"/>
              </a:rPr>
              <a:t>Возраст и цемент важнее остальных признаков для леса</a:t>
            </a:r>
          </a:p>
        </p:txBody>
      </p:sp>
      <p:sp>
        <p:nvSpPr>
          <p:cNvPr id="3" name="folio">
            <a:extLst xmlns:a="http://schemas.openxmlformats.org/drawingml/2006/main">
              <a:ext uri="{FF2B5EF4-FFF2-40B4-BE49-F238E27FC236}">
                <a16:creationId xmlns:a16="http://schemas.microsoft.com/office/drawing/2014/main" id="{1E709E3D-080C-4290-BBE1-CFC7C93A28B3}"/>
              </a:ext>
            </a:extLst>
          </p:cNvPr>
          <p:cNvSpPr>
            <a:spLocks xmlns:a="http://schemas.openxmlformats.org/drawingml/2006/main" noGrp="1"/>
          </p:cNvSpPr>
          <p:nvPr/>
        </p:nvSpPr>
        <p:spPr>
          <a:xfrm xmlns:a="http://schemas.openxmlformats.org/drawingml/2006/main">
            <a:off x="11353800" y="64389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6776"/>
                </a:solidFill>
                <a:latin typeface="Arial"/>
                <a:ea typeface="Arial"/>
                <a:cs typeface="Arial"/>
              </a:defRPr>
            </a:defPPr>
            <a:lvl1pPr>
              <a:defRPr sz="1200" b="0">
                <a:solidFill>
                  <a:srgbClr val="526776"/>
                </a:solidFill>
                <a:latin typeface="Arial"/>
                <a:ea typeface="Arial"/>
                <a:cs typeface="Arial"/>
              </a:defRPr>
            </a:lvl1pPr>
            <a:lvl2pPr>
              <a:defRPr sz="1200" b="0">
                <a:solidFill>
                  <a:srgbClr val="526776"/>
                </a:solidFill>
                <a:latin typeface="Arial"/>
                <a:ea typeface="Arial"/>
                <a:cs typeface="Arial"/>
              </a:defRPr>
            </a:lvl2pPr>
            <a:lvl3pPr>
              <a:defRPr sz="1200" b="0">
                <a:solidFill>
                  <a:srgbClr val="526776"/>
                </a:solidFill>
                <a:latin typeface="Arial"/>
                <a:ea typeface="Arial"/>
                <a:cs typeface="Arial"/>
              </a:defRPr>
            </a:lvl3pPr>
            <a:lvl4pPr>
              <a:defRPr sz="1200" b="0">
                <a:solidFill>
                  <a:srgbClr val="526776"/>
                </a:solidFill>
                <a:latin typeface="Arial"/>
                <a:ea typeface="Arial"/>
                <a:cs typeface="Arial"/>
              </a:defRPr>
            </a:lvl4pPr>
            <a:lvl5pPr>
              <a:defRPr sz="1200" b="0">
                <a:solidFill>
                  <a:srgbClr val="526776"/>
                </a:solidFill>
                <a:latin typeface="Arial"/>
                <a:ea typeface="Arial"/>
                <a:cs typeface="Arial"/>
              </a:defRPr>
            </a:lvl5pPr>
            <a:lvl6pPr>
              <a:defRPr sz="1200" b="0">
                <a:solidFill>
                  <a:srgbClr val="526776"/>
                </a:solidFill>
                <a:latin typeface="Arial"/>
                <a:ea typeface="Arial"/>
                <a:cs typeface="Arial"/>
              </a:defRPr>
            </a:lvl6pPr>
            <a:lvl7pPr>
              <a:defRPr sz="1200" b="0">
                <a:solidFill>
                  <a:srgbClr val="526776"/>
                </a:solidFill>
                <a:latin typeface="Arial"/>
                <a:ea typeface="Arial"/>
                <a:cs typeface="Arial"/>
              </a:defRPr>
            </a:lvl7pPr>
            <a:lvl8pPr>
              <a:defRPr sz="1200" b="0">
                <a:solidFill>
                  <a:srgbClr val="526776"/>
                </a:solidFill>
                <a:latin typeface="Arial"/>
                <a:ea typeface="Arial"/>
                <a:cs typeface="Arial"/>
              </a:defRPr>
            </a:lvl8pPr>
            <a:lvl9pPr>
              <a:defRPr sz="1200" b="0">
                <a:solidFill>
                  <a:srgbClr val="526776"/>
                </a:solidFill>
                <a:latin typeface="Arial"/>
                <a:ea typeface="Arial"/>
                <a:cs typeface="Arial"/>
              </a:defRPr>
            </a:lvl9pPr>
          </a:lstStyle>
          <a:p xmlns:a="http://schemas.openxmlformats.org/drawingml/2006/main">
            <a:pPr>
              <a:defRPr sz="1200" b="0">
                <a:solidFill>
                  <a:srgbClr val="526776"/>
                </a:solidFill>
                <a:latin typeface="Arial"/>
                <a:ea typeface="Arial"/>
                <a:cs typeface="Arial"/>
              </a:defRPr>
            </a:pPr>
            <a:r>
              <a:rPr sz="1200" b="0">
                <a:solidFill>
                  <a:srgbClr val="526776"/>
                </a:solidFill>
                <a:latin typeface="Arial"/>
                <a:ea typeface="Arial"/>
                <a:cs typeface="Arial"/>
              </a:rPr>
              <a:t>14</a:t>
            </a:r>
          </a:p>
        </p:txBody>
      </p:sp>
      <p:pic>
        <p:nvPicPr>
          <p:cNvPr id="4" name="">
            <a:extLst xmlns:a="http://schemas.openxmlformats.org/drawingml/2006/main">
              <a:ext uri="{FF2B5EF4-FFF2-40B4-BE49-F238E27FC236}">
                <a16:creationId xmlns:a16="http://schemas.microsoft.com/office/drawing/2014/main" id="{1965CB70-48BC-4E88-9160-AF31D0DE74BF}"/>
              </a:ext>
            </a:extLst>
          </p:cNvPr>
          <p:cNvPicPr>
            <a:picLocks xmlns:a="http://schemas.openxmlformats.org/drawingml/2006/main" noChangeAspect="1"/>
          </p:cNvPicPr>
          <p:nvPr/>
        </p:nvPicPr>
        <p:blipFill>
          <a:blip xmlns:r="http://schemas.openxmlformats.org/officeDocument/2006/relationships" xmlns:a="http://schemas.openxmlformats.org/drawingml/2006/main" r:embed="Rcebbd49cd55f4ea3"/>
          <a:stretch xmlns:a="http://schemas.openxmlformats.org/drawingml/2006/main"/>
        </p:blipFill>
        <p:spPr>
          <a:xfrm xmlns:a="http://schemas.openxmlformats.org/drawingml/2006/main">
            <a:off x="1021016" y="1323975"/>
            <a:ext cx="10149968" cy="45148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CBCBCC8-1E92-4669-93B3-E56D07E85A63}"/>
              </a:ext>
            </a:extLst>
          </p:cNvPr>
          <p:cNvSpPr>
            <a:spLocks xmlns:a="http://schemas.openxmlformats.org/drawingml/2006/main" noGrp="1"/>
          </p:cNvSpPr>
          <p:nvPr/>
        </p:nvSpPr>
        <p:spPr>
          <a:xfrm xmlns:a="http://schemas.openxmlformats.org/drawingml/2006/main">
            <a:off x="609600" y="6029325"/>
            <a:ext cx="10858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526776"/>
                </a:solidFill>
                <a:latin typeface="Arial"/>
                <a:ea typeface="Arial"/>
                <a:cs typeface="Arial"/>
              </a:defRPr>
            </a:defPPr>
            <a:lvl1pPr>
              <a:defRPr sz="1725" b="0">
                <a:solidFill>
                  <a:srgbClr val="526776"/>
                </a:solidFill>
                <a:latin typeface="Arial"/>
                <a:ea typeface="Arial"/>
                <a:cs typeface="Arial"/>
              </a:defRPr>
            </a:lvl1pPr>
            <a:lvl2pPr>
              <a:defRPr sz="1725" b="0">
                <a:solidFill>
                  <a:srgbClr val="526776"/>
                </a:solidFill>
                <a:latin typeface="Arial"/>
                <a:ea typeface="Arial"/>
                <a:cs typeface="Arial"/>
              </a:defRPr>
            </a:lvl2pPr>
            <a:lvl3pPr>
              <a:defRPr sz="1725" b="0">
                <a:solidFill>
                  <a:srgbClr val="526776"/>
                </a:solidFill>
                <a:latin typeface="Arial"/>
                <a:ea typeface="Arial"/>
                <a:cs typeface="Arial"/>
              </a:defRPr>
            </a:lvl3pPr>
            <a:lvl4pPr>
              <a:defRPr sz="1725" b="0">
                <a:solidFill>
                  <a:srgbClr val="526776"/>
                </a:solidFill>
                <a:latin typeface="Arial"/>
                <a:ea typeface="Arial"/>
                <a:cs typeface="Arial"/>
              </a:defRPr>
            </a:lvl4pPr>
            <a:lvl5pPr>
              <a:defRPr sz="1725" b="0">
                <a:solidFill>
                  <a:srgbClr val="526776"/>
                </a:solidFill>
                <a:latin typeface="Arial"/>
                <a:ea typeface="Arial"/>
                <a:cs typeface="Arial"/>
              </a:defRPr>
            </a:lvl5pPr>
            <a:lvl6pPr>
              <a:defRPr sz="1725" b="0">
                <a:solidFill>
                  <a:srgbClr val="526776"/>
                </a:solidFill>
                <a:latin typeface="Arial"/>
                <a:ea typeface="Arial"/>
                <a:cs typeface="Arial"/>
              </a:defRPr>
            </a:lvl6pPr>
            <a:lvl7pPr>
              <a:defRPr sz="1725" b="0">
                <a:solidFill>
                  <a:srgbClr val="526776"/>
                </a:solidFill>
                <a:latin typeface="Arial"/>
                <a:ea typeface="Arial"/>
                <a:cs typeface="Arial"/>
              </a:defRPr>
            </a:lvl7pPr>
            <a:lvl8pPr>
              <a:defRPr sz="1725" b="0">
                <a:solidFill>
                  <a:srgbClr val="526776"/>
                </a:solidFill>
                <a:latin typeface="Arial"/>
                <a:ea typeface="Arial"/>
                <a:cs typeface="Arial"/>
              </a:defRPr>
            </a:lvl8pPr>
            <a:lvl9pPr>
              <a:defRPr sz="1725" b="0">
                <a:solidFill>
                  <a:srgbClr val="526776"/>
                </a:solidFill>
                <a:latin typeface="Arial"/>
                <a:ea typeface="Arial"/>
                <a:cs typeface="Arial"/>
              </a:defRPr>
            </a:lvl9pPr>
          </a:lstStyle>
          <a:p xmlns:a="http://schemas.openxmlformats.org/drawingml/2006/main">
            <a:pPr>
              <a:defRPr sz="1725" b="0">
                <a:solidFill>
                  <a:srgbClr val="526776"/>
                </a:solidFill>
                <a:latin typeface="Arial"/>
                <a:ea typeface="Arial"/>
                <a:cs typeface="Arial"/>
              </a:defRPr>
            </a:pPr>
            <a:r>
              <a:rPr sz="1725" b="0">
                <a:solidFill>
                  <a:srgbClr val="526776"/>
                </a:solidFill>
                <a:latin typeface="Arial"/>
                <a:ea typeface="Arial"/>
                <a:cs typeface="Arial"/>
              </a:rPr>
              <a:t>Перестановочная важность: рост RMSE на test, 20 повторов</a:t>
            </a:r>
          </a:p>
        </p:txBody>
      </p:sp>
    </p:spTree>
    <p:extLst>
      <p:ext uri="{BB962C8B-B14F-4D97-AF65-F5344CB8AC3E}">
        <p14:creationId xmlns:p14="http://schemas.microsoft.com/office/powerpoint/2010/main" val="157985685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50DD296E-DB67-441B-8515-3E8DCF66DC1E}"/>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152B3B"/>
                </a:solidFill>
                <a:latin typeface="Arial"/>
                <a:ea typeface="Arial"/>
                <a:cs typeface="Arial"/>
              </a:defRPr>
            </a:defPPr>
            <a:lvl1pPr>
              <a:defRPr sz="2850" b="1">
                <a:solidFill>
                  <a:srgbClr val="152B3B"/>
                </a:solidFill>
                <a:latin typeface="Arial"/>
                <a:ea typeface="Arial"/>
                <a:cs typeface="Arial"/>
              </a:defRPr>
            </a:lvl1pPr>
            <a:lvl2pPr>
              <a:defRPr sz="2850" b="1">
                <a:solidFill>
                  <a:srgbClr val="152B3B"/>
                </a:solidFill>
                <a:latin typeface="Arial"/>
                <a:ea typeface="Arial"/>
                <a:cs typeface="Arial"/>
              </a:defRPr>
            </a:lvl2pPr>
            <a:lvl3pPr>
              <a:defRPr sz="2850" b="1">
                <a:solidFill>
                  <a:srgbClr val="152B3B"/>
                </a:solidFill>
                <a:latin typeface="Arial"/>
                <a:ea typeface="Arial"/>
                <a:cs typeface="Arial"/>
              </a:defRPr>
            </a:lvl3pPr>
            <a:lvl4pPr>
              <a:defRPr sz="2850" b="1">
                <a:solidFill>
                  <a:srgbClr val="152B3B"/>
                </a:solidFill>
                <a:latin typeface="Arial"/>
                <a:ea typeface="Arial"/>
                <a:cs typeface="Arial"/>
              </a:defRPr>
            </a:lvl4pPr>
            <a:lvl5pPr>
              <a:defRPr sz="2850" b="1">
                <a:solidFill>
                  <a:srgbClr val="152B3B"/>
                </a:solidFill>
                <a:latin typeface="Arial"/>
                <a:ea typeface="Arial"/>
                <a:cs typeface="Arial"/>
              </a:defRPr>
            </a:lvl5pPr>
            <a:lvl6pPr>
              <a:defRPr sz="2850" b="1">
                <a:solidFill>
                  <a:srgbClr val="152B3B"/>
                </a:solidFill>
                <a:latin typeface="Arial"/>
                <a:ea typeface="Arial"/>
                <a:cs typeface="Arial"/>
              </a:defRPr>
            </a:lvl6pPr>
            <a:lvl7pPr>
              <a:defRPr sz="2850" b="1">
                <a:solidFill>
                  <a:srgbClr val="152B3B"/>
                </a:solidFill>
                <a:latin typeface="Arial"/>
                <a:ea typeface="Arial"/>
                <a:cs typeface="Arial"/>
              </a:defRPr>
            </a:lvl7pPr>
            <a:lvl8pPr>
              <a:defRPr sz="2850" b="1">
                <a:solidFill>
                  <a:srgbClr val="152B3B"/>
                </a:solidFill>
                <a:latin typeface="Arial"/>
                <a:ea typeface="Arial"/>
                <a:cs typeface="Arial"/>
              </a:defRPr>
            </a:lvl8pPr>
            <a:lvl9pPr>
              <a:defRPr sz="2850" b="1">
                <a:solidFill>
                  <a:srgbClr val="152B3B"/>
                </a:solidFill>
                <a:latin typeface="Arial"/>
                <a:ea typeface="Arial"/>
                <a:cs typeface="Arial"/>
              </a:defRPr>
            </a:lvl9pPr>
          </a:lstStyle>
          <a:p xmlns:a="http://schemas.openxmlformats.org/drawingml/2006/main">
            <a:pPr>
              <a:defRPr sz="2850" b="1">
                <a:solidFill>
                  <a:srgbClr val="152B3B"/>
                </a:solidFill>
                <a:latin typeface="Arial"/>
                <a:ea typeface="Arial"/>
                <a:cs typeface="Arial"/>
              </a:defRPr>
            </a:pPr>
            <a:r>
              <a:rPr sz="2850" b="1">
                <a:solidFill>
                  <a:srgbClr val="152B3B"/>
                </a:solidFill>
                <a:latin typeface="Arial"/>
                <a:ea typeface="Arial"/>
                <a:cs typeface="Arial"/>
              </a:rPr>
              <a:t>У леса остаётся разрыв между обучением и тестом</a:t>
            </a:r>
          </a:p>
        </p:txBody>
      </p:sp>
      <p:sp>
        <p:nvSpPr>
          <p:cNvPr id="3" name="folio">
            <a:extLst xmlns:a="http://schemas.openxmlformats.org/drawingml/2006/main">
              <a:ext uri="{FF2B5EF4-FFF2-40B4-BE49-F238E27FC236}">
                <a16:creationId xmlns:a16="http://schemas.microsoft.com/office/drawing/2014/main" id="{2631E705-606A-4331-84F1-9A21CD063607}"/>
              </a:ext>
            </a:extLst>
          </p:cNvPr>
          <p:cNvSpPr>
            <a:spLocks xmlns:a="http://schemas.openxmlformats.org/drawingml/2006/main" noGrp="1"/>
          </p:cNvSpPr>
          <p:nvPr/>
        </p:nvSpPr>
        <p:spPr>
          <a:xfrm xmlns:a="http://schemas.openxmlformats.org/drawingml/2006/main">
            <a:off x="11353800" y="64389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6776"/>
                </a:solidFill>
                <a:latin typeface="Arial"/>
                <a:ea typeface="Arial"/>
                <a:cs typeface="Arial"/>
              </a:defRPr>
            </a:defPPr>
            <a:lvl1pPr>
              <a:defRPr sz="1200" b="0">
                <a:solidFill>
                  <a:srgbClr val="526776"/>
                </a:solidFill>
                <a:latin typeface="Arial"/>
                <a:ea typeface="Arial"/>
                <a:cs typeface="Arial"/>
              </a:defRPr>
            </a:lvl1pPr>
            <a:lvl2pPr>
              <a:defRPr sz="1200" b="0">
                <a:solidFill>
                  <a:srgbClr val="526776"/>
                </a:solidFill>
                <a:latin typeface="Arial"/>
                <a:ea typeface="Arial"/>
                <a:cs typeface="Arial"/>
              </a:defRPr>
            </a:lvl2pPr>
            <a:lvl3pPr>
              <a:defRPr sz="1200" b="0">
                <a:solidFill>
                  <a:srgbClr val="526776"/>
                </a:solidFill>
                <a:latin typeface="Arial"/>
                <a:ea typeface="Arial"/>
                <a:cs typeface="Arial"/>
              </a:defRPr>
            </a:lvl3pPr>
            <a:lvl4pPr>
              <a:defRPr sz="1200" b="0">
                <a:solidFill>
                  <a:srgbClr val="526776"/>
                </a:solidFill>
                <a:latin typeface="Arial"/>
                <a:ea typeface="Arial"/>
                <a:cs typeface="Arial"/>
              </a:defRPr>
            </a:lvl4pPr>
            <a:lvl5pPr>
              <a:defRPr sz="1200" b="0">
                <a:solidFill>
                  <a:srgbClr val="526776"/>
                </a:solidFill>
                <a:latin typeface="Arial"/>
                <a:ea typeface="Arial"/>
                <a:cs typeface="Arial"/>
              </a:defRPr>
            </a:lvl5pPr>
            <a:lvl6pPr>
              <a:defRPr sz="1200" b="0">
                <a:solidFill>
                  <a:srgbClr val="526776"/>
                </a:solidFill>
                <a:latin typeface="Arial"/>
                <a:ea typeface="Arial"/>
                <a:cs typeface="Arial"/>
              </a:defRPr>
            </a:lvl6pPr>
            <a:lvl7pPr>
              <a:defRPr sz="1200" b="0">
                <a:solidFill>
                  <a:srgbClr val="526776"/>
                </a:solidFill>
                <a:latin typeface="Arial"/>
                <a:ea typeface="Arial"/>
                <a:cs typeface="Arial"/>
              </a:defRPr>
            </a:lvl7pPr>
            <a:lvl8pPr>
              <a:defRPr sz="1200" b="0">
                <a:solidFill>
                  <a:srgbClr val="526776"/>
                </a:solidFill>
                <a:latin typeface="Arial"/>
                <a:ea typeface="Arial"/>
                <a:cs typeface="Arial"/>
              </a:defRPr>
            </a:lvl8pPr>
            <a:lvl9pPr>
              <a:defRPr sz="1200" b="0">
                <a:solidFill>
                  <a:srgbClr val="526776"/>
                </a:solidFill>
                <a:latin typeface="Arial"/>
                <a:ea typeface="Arial"/>
                <a:cs typeface="Arial"/>
              </a:defRPr>
            </a:lvl9pPr>
          </a:lstStyle>
          <a:p xmlns:a="http://schemas.openxmlformats.org/drawingml/2006/main">
            <a:pPr>
              <a:defRPr sz="1200" b="0">
                <a:solidFill>
                  <a:srgbClr val="526776"/>
                </a:solidFill>
                <a:latin typeface="Arial"/>
                <a:ea typeface="Arial"/>
                <a:cs typeface="Arial"/>
              </a:defRPr>
            </a:pPr>
            <a:r>
              <a:rPr sz="1200" b="0">
                <a:solidFill>
                  <a:srgbClr val="526776"/>
                </a:solidFill>
                <a:latin typeface="Arial"/>
                <a:ea typeface="Arial"/>
                <a:cs typeface="Arial"/>
              </a:rPr>
              <a:t>15</a:t>
            </a:r>
          </a:p>
        </p:txBody>
      </p:sp>
      <p:graphicFrame>
        <p:nvGraphicFramePr>
          <p:cNvPr id="4" name="">
            <a:extLst xmlns:a="http://schemas.openxmlformats.org/drawingml/2006/main">
              <a:ext uri="{FF2B5EF4-FFF2-40B4-BE49-F238E27FC236}">
                <a16:creationId xmlns:a16="http://schemas.microsoft.com/office/drawing/2014/main" id="{E62B64F4-ADE3-476E-A86E-F22A85A2D464}"/>
              </a:ext>
            </a:extLst>
          </p:cNvPr>
          <p:cNvGraphicFramePr/>
          <p:nvPr/>
        </p:nvGraphicFramePr>
        <p:xfrm>
          <a:off xmlns:a="http://schemas.openxmlformats.org/drawingml/2006/main" x="609600" y="1619250"/>
          <a:ext xmlns:a="http://schemas.openxmlformats.org/drawingml/2006/main" cx="10972800" cy="2219325"/>
        </p:xfrm>
        <a:graphic xmlns:a="http://schemas.openxmlformats.org/drawingml/2006/main">
          <a:graphicData uri="http://schemas.openxmlformats.org/drawingml/2006/table">
            <a:tbl>
              <a:tblPr/>
              <a:tblGrid>
                <a:gridCol w="4572000"/>
                <a:gridCol w="3200400"/>
                <a:gridCol w="3200400"/>
              </a:tblGrid>
              <a:tr h="739775">
                <a:tc>
                  <a:txBody>
                    <a:bodyPr lIns="114300" tIns="114300" rIns="114300" bIns="114300"/>
                    <a:lstStyle/>
                    <a:p>
                      <a:r>
                        <a:rPr sz="1950" b="1">
                          <a:solidFill>
                            <a:srgbClr val="FFFFFF"/>
                          </a:solidFill>
                          <a:latin typeface="Arial"/>
                          <a:ea typeface="Arial"/>
                          <a:cs typeface="Arial"/>
                        </a:rPr>
                        <a:t>Модель</a:t>
                      </a:r>
                    </a:p>
                  </a:txBody>
                  <a:tcPr marL="91440" marR="91440" marT="45720" marB="45720" anchor="ctr">
                    <a:lnL w="6668">
                      <a:solidFill>
                        <a:srgbClr val="DCE5E9"/>
                      </a:solidFill>
                      <a:prstDash val="solid"/>
                    </a:lnL>
                    <a:lnR w="6668">
                      <a:solidFill>
                        <a:srgbClr val="DCE5E9"/>
                      </a:solidFill>
                      <a:prstDash val="solid"/>
                    </a:lnR>
                    <a:lnT w="6668">
                      <a:solidFill>
                        <a:srgbClr val="DCE5E9"/>
                      </a:solidFill>
                      <a:prstDash val="solid"/>
                    </a:lnT>
                    <a:lnB w="6668">
                      <a:solidFill>
                        <a:srgbClr val="DCE5E9"/>
                      </a:solidFill>
                      <a:prstDash val="solid"/>
                    </a:lnB>
                    <a:solidFill>
                      <a:srgbClr val="152B3B"/>
                    </a:solidFill>
                  </a:tcPr>
                </a:tc>
                <a:tc>
                  <a:txBody>
                    <a:bodyPr lIns="114300" tIns="114300" rIns="114300" bIns="114300"/>
                    <a:lstStyle/>
                    <a:p>
                      <a:r>
                        <a:rPr sz="1950" b="1">
                          <a:solidFill>
                            <a:srgbClr val="FFFFFF"/>
                          </a:solidFill>
                          <a:latin typeface="Arial"/>
                          <a:ea typeface="Arial"/>
                          <a:cs typeface="Arial"/>
                        </a:rPr>
                        <a:t>RMSE train, МПа</a:t>
                      </a:r>
                    </a:p>
                  </a:txBody>
                  <a:tcPr marL="91440" marR="91440" marT="45720" marB="45720" anchor="ctr">
                    <a:lnR w="6668">
                      <a:solidFill>
                        <a:srgbClr val="DCE5E9"/>
                      </a:solidFill>
                      <a:prstDash val="solid"/>
                    </a:lnR>
                    <a:lnT w="6668">
                      <a:solidFill>
                        <a:srgbClr val="DCE5E9"/>
                      </a:solidFill>
                      <a:prstDash val="solid"/>
                    </a:lnT>
                    <a:lnB w="6668">
                      <a:solidFill>
                        <a:srgbClr val="DCE5E9"/>
                      </a:solidFill>
                      <a:prstDash val="solid"/>
                    </a:lnB>
                    <a:solidFill>
                      <a:srgbClr val="152B3B"/>
                    </a:solidFill>
                  </a:tcPr>
                </a:tc>
                <a:tc>
                  <a:txBody>
                    <a:bodyPr lIns="114300" tIns="114300" rIns="114300" bIns="114300"/>
                    <a:lstStyle/>
                    <a:p>
                      <a:r>
                        <a:rPr sz="1950" b="1">
                          <a:solidFill>
                            <a:srgbClr val="FFFFFF"/>
                          </a:solidFill>
                          <a:latin typeface="Arial"/>
                          <a:ea typeface="Arial"/>
                          <a:cs typeface="Arial"/>
                        </a:rPr>
                        <a:t>RMSE test, МПа</a:t>
                      </a:r>
                    </a:p>
                  </a:txBody>
                  <a:tcPr marL="91440" marR="91440" marT="45720" marB="45720" anchor="ctr">
                    <a:lnR w="6668">
                      <a:solidFill>
                        <a:srgbClr val="DCE5E9"/>
                      </a:solidFill>
                      <a:prstDash val="solid"/>
                    </a:lnR>
                    <a:lnT w="6668">
                      <a:solidFill>
                        <a:srgbClr val="DCE5E9"/>
                      </a:solidFill>
                      <a:prstDash val="solid"/>
                    </a:lnT>
                    <a:lnB w="6668">
                      <a:solidFill>
                        <a:srgbClr val="DCE5E9"/>
                      </a:solidFill>
                      <a:prstDash val="solid"/>
                    </a:lnB>
                    <a:solidFill>
                      <a:srgbClr val="152B3B"/>
                    </a:solidFill>
                  </a:tcPr>
                </a:tc>
              </a:tr>
              <a:tr h="739775">
                <a:tc>
                  <a:txBody>
                    <a:bodyPr lIns="114300" tIns="114300" rIns="114300" bIns="114300"/>
                    <a:lstStyle/>
                    <a:p>
                      <a:r>
                        <a:rPr sz="1950" b="0">
                          <a:solidFill>
                            <a:srgbClr val="152B3B"/>
                          </a:solidFill>
                          <a:latin typeface="Arial"/>
                          <a:ea typeface="Arial"/>
                          <a:cs typeface="Arial"/>
                        </a:rPr>
                        <a:t>Линейная регрессия</a:t>
                      </a:r>
                    </a:p>
                  </a:txBody>
                  <a:tcPr marL="91440" marR="91440" marT="45720" marB="45720" anchor="ctr">
                    <a:lnL w="6668">
                      <a:solidFill>
                        <a:srgbClr val="DCE5E9"/>
                      </a:solidFill>
                      <a:prstDash val="solid"/>
                    </a:lnL>
                    <a:lnR w="6668">
                      <a:solidFill>
                        <a:srgbClr val="DCE5E9"/>
                      </a:solidFill>
                      <a:prstDash val="solid"/>
                    </a:lnR>
                    <a:lnB w="6668">
                      <a:solidFill>
                        <a:srgbClr val="DCE5E9"/>
                      </a:solidFill>
                      <a:prstDash val="solid"/>
                    </a:lnB>
                    <a:solidFill>
                      <a:srgbClr val="FFFFFF"/>
                    </a:solidFill>
                  </a:tcPr>
                </a:tc>
                <a:tc>
                  <a:txBody>
                    <a:bodyPr lIns="114300" tIns="114300" rIns="114300" bIns="114300"/>
                    <a:lstStyle/>
                    <a:p>
                      <a:r>
                        <a:rPr sz="1950" b="0">
                          <a:solidFill>
                            <a:srgbClr val="152B3B"/>
                          </a:solidFill>
                          <a:latin typeface="Arial"/>
                          <a:ea typeface="Arial"/>
                          <a:cs typeface="Arial"/>
                        </a:rPr>
                        <a:t>10,13</a:t>
                      </a:r>
                    </a:p>
                  </a:txBody>
                  <a:tcPr marL="91440" marR="91440" marT="45720" marB="45720" anchor="ctr">
                    <a:lnR w="6668">
                      <a:solidFill>
                        <a:srgbClr val="DCE5E9"/>
                      </a:solidFill>
                      <a:prstDash val="solid"/>
                    </a:lnR>
                    <a:lnB w="6668">
                      <a:solidFill>
                        <a:srgbClr val="DCE5E9"/>
                      </a:solidFill>
                      <a:prstDash val="solid"/>
                    </a:lnB>
                    <a:solidFill>
                      <a:srgbClr val="FFFFFF"/>
                    </a:solidFill>
                  </a:tcPr>
                </a:tc>
                <a:tc>
                  <a:txBody>
                    <a:bodyPr lIns="114300" tIns="114300" rIns="114300" bIns="114300"/>
                    <a:lstStyle/>
                    <a:p>
                      <a:r>
                        <a:rPr sz="1950" b="0">
                          <a:solidFill>
                            <a:srgbClr val="152B3B"/>
                          </a:solidFill>
                          <a:latin typeface="Arial"/>
                          <a:ea typeface="Arial"/>
                          <a:cs typeface="Arial"/>
                        </a:rPr>
                        <a:t>10,79</a:t>
                      </a:r>
                    </a:p>
                  </a:txBody>
                  <a:tcPr marL="91440" marR="91440" marT="45720" marB="45720" anchor="ctr">
                    <a:lnR w="6668">
                      <a:solidFill>
                        <a:srgbClr val="DCE5E9"/>
                      </a:solidFill>
                      <a:prstDash val="solid"/>
                    </a:lnR>
                    <a:lnB w="6668">
                      <a:solidFill>
                        <a:srgbClr val="DCE5E9"/>
                      </a:solidFill>
                      <a:prstDash val="solid"/>
                    </a:lnB>
                    <a:solidFill>
                      <a:srgbClr val="FFFFFF"/>
                    </a:solidFill>
                  </a:tcPr>
                </a:tc>
              </a:tr>
              <a:tr h="739775">
                <a:tc>
                  <a:txBody>
                    <a:bodyPr lIns="114300" tIns="114300" rIns="114300" bIns="114300"/>
                    <a:lstStyle/>
                    <a:p>
                      <a:r>
                        <a:rPr sz="1950" b="0">
                          <a:solidFill>
                            <a:srgbClr val="152B3B"/>
                          </a:solidFill>
                          <a:latin typeface="Arial"/>
                          <a:ea typeface="Arial"/>
                          <a:cs typeface="Arial"/>
                        </a:rPr>
                        <a:t>Случайный лес</a:t>
                      </a:r>
                    </a:p>
                  </a:txBody>
                  <a:tcPr marL="91440" marR="91440" marT="45720" marB="45720" anchor="ctr">
                    <a:lnL w="6668">
                      <a:solidFill>
                        <a:srgbClr val="DCE5E9"/>
                      </a:solidFill>
                      <a:prstDash val="solid"/>
                    </a:lnL>
                    <a:lnR w="6668">
                      <a:solidFill>
                        <a:srgbClr val="DCE5E9"/>
                      </a:solidFill>
                      <a:prstDash val="solid"/>
                    </a:lnR>
                    <a:lnB w="6668">
                      <a:solidFill>
                        <a:srgbClr val="DCE5E9"/>
                      </a:solidFill>
                      <a:prstDash val="solid"/>
                    </a:lnB>
                    <a:solidFill>
                      <a:srgbClr val="F3F7F8"/>
                    </a:solidFill>
                  </a:tcPr>
                </a:tc>
                <a:tc>
                  <a:txBody>
                    <a:bodyPr lIns="114300" tIns="114300" rIns="114300" bIns="114300"/>
                    <a:lstStyle/>
                    <a:p>
                      <a:r>
                        <a:rPr sz="1950" b="0">
                          <a:solidFill>
                            <a:srgbClr val="152B3B"/>
                          </a:solidFill>
                          <a:latin typeface="Arial"/>
                          <a:ea typeface="Arial"/>
                          <a:cs typeface="Arial"/>
                        </a:rPr>
                        <a:t>1,82</a:t>
                      </a:r>
                    </a:p>
                  </a:txBody>
                  <a:tcPr marL="91440" marR="91440" marT="45720" marB="45720" anchor="ctr">
                    <a:lnR w="6668">
                      <a:solidFill>
                        <a:srgbClr val="DCE5E9"/>
                      </a:solidFill>
                      <a:prstDash val="solid"/>
                    </a:lnR>
                    <a:lnB w="6668">
                      <a:solidFill>
                        <a:srgbClr val="DCE5E9"/>
                      </a:solidFill>
                      <a:prstDash val="solid"/>
                    </a:lnB>
                    <a:solidFill>
                      <a:srgbClr val="F3F7F8"/>
                    </a:solidFill>
                  </a:tcPr>
                </a:tc>
                <a:tc>
                  <a:txBody>
                    <a:bodyPr lIns="114300" tIns="114300" rIns="114300" bIns="114300"/>
                    <a:lstStyle/>
                    <a:p>
                      <a:r>
                        <a:rPr sz="1950" b="0">
                          <a:solidFill>
                            <a:srgbClr val="152B3B"/>
                          </a:solidFill>
                          <a:latin typeface="Arial"/>
                          <a:ea typeface="Arial"/>
                          <a:cs typeface="Arial"/>
                        </a:rPr>
                        <a:t>6,60</a:t>
                      </a:r>
                    </a:p>
                  </a:txBody>
                  <a:tcPr marL="91440" marR="91440" marT="45720" marB="45720" anchor="ctr">
                    <a:lnR w="6668">
                      <a:solidFill>
                        <a:srgbClr val="DCE5E9"/>
                      </a:solidFill>
                      <a:prstDash val="solid"/>
                    </a:lnR>
                    <a:lnB w="6668">
                      <a:solidFill>
                        <a:srgbClr val="DCE5E9"/>
                      </a:solidFill>
                      <a:prstDash val="solid"/>
                    </a:lnB>
                    <a:solidFill>
                      <a:srgbClr val="F3F7F8"/>
                    </a:solidFill>
                  </a:tcPr>
                </a:tc>
              </a:tr>
            </a:tbl>
          </a:graphicData>
        </a:graphic>
      </p:graphicFrame>
      <p:sp>
        <p:nvSpPr>
          <p:cNvPr id="5" name="">
            <a:extLst xmlns:a="http://schemas.openxmlformats.org/drawingml/2006/main">
              <a:ext uri="{FF2B5EF4-FFF2-40B4-BE49-F238E27FC236}">
                <a16:creationId xmlns:a16="http://schemas.microsoft.com/office/drawing/2014/main" id="{C78A3F0D-90F8-46E9-A866-E948467E0FDB}"/>
              </a:ext>
            </a:extLst>
          </p:cNvPr>
          <p:cNvSpPr>
            <a:spLocks xmlns:a="http://schemas.openxmlformats.org/drawingml/2006/main" noGrp="1"/>
          </p:cNvSpPr>
          <p:nvPr/>
        </p:nvSpPr>
        <p:spPr>
          <a:xfrm xmlns:a="http://schemas.openxmlformats.org/drawingml/2006/main">
            <a:off x="609600" y="4343400"/>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67D8D"/>
                </a:solidFill>
                <a:latin typeface="Arial"/>
                <a:ea typeface="Arial"/>
                <a:cs typeface="Arial"/>
              </a:defRPr>
            </a:defPPr>
            <a:lvl1pPr>
              <a:defRPr sz="2550" b="1">
                <a:solidFill>
                  <a:srgbClr val="167D8D"/>
                </a:solidFill>
                <a:latin typeface="Arial"/>
                <a:ea typeface="Arial"/>
                <a:cs typeface="Arial"/>
              </a:defRPr>
            </a:lvl1pPr>
            <a:lvl2pPr>
              <a:defRPr sz="2550" b="1">
                <a:solidFill>
                  <a:srgbClr val="167D8D"/>
                </a:solidFill>
                <a:latin typeface="Arial"/>
                <a:ea typeface="Arial"/>
                <a:cs typeface="Arial"/>
              </a:defRPr>
            </a:lvl2pPr>
            <a:lvl3pPr>
              <a:defRPr sz="2550" b="1">
                <a:solidFill>
                  <a:srgbClr val="167D8D"/>
                </a:solidFill>
                <a:latin typeface="Arial"/>
                <a:ea typeface="Arial"/>
                <a:cs typeface="Arial"/>
              </a:defRPr>
            </a:lvl3pPr>
            <a:lvl4pPr>
              <a:defRPr sz="2550" b="1">
                <a:solidFill>
                  <a:srgbClr val="167D8D"/>
                </a:solidFill>
                <a:latin typeface="Arial"/>
                <a:ea typeface="Arial"/>
                <a:cs typeface="Arial"/>
              </a:defRPr>
            </a:lvl4pPr>
            <a:lvl5pPr>
              <a:defRPr sz="2550" b="1">
                <a:solidFill>
                  <a:srgbClr val="167D8D"/>
                </a:solidFill>
                <a:latin typeface="Arial"/>
                <a:ea typeface="Arial"/>
                <a:cs typeface="Arial"/>
              </a:defRPr>
            </a:lvl5pPr>
            <a:lvl6pPr>
              <a:defRPr sz="2550" b="1">
                <a:solidFill>
                  <a:srgbClr val="167D8D"/>
                </a:solidFill>
                <a:latin typeface="Arial"/>
                <a:ea typeface="Arial"/>
                <a:cs typeface="Arial"/>
              </a:defRPr>
            </a:lvl6pPr>
            <a:lvl7pPr>
              <a:defRPr sz="2550" b="1">
                <a:solidFill>
                  <a:srgbClr val="167D8D"/>
                </a:solidFill>
                <a:latin typeface="Arial"/>
                <a:ea typeface="Arial"/>
                <a:cs typeface="Arial"/>
              </a:defRPr>
            </a:lvl7pPr>
            <a:lvl8pPr>
              <a:defRPr sz="2550" b="1">
                <a:solidFill>
                  <a:srgbClr val="167D8D"/>
                </a:solidFill>
                <a:latin typeface="Arial"/>
                <a:ea typeface="Arial"/>
                <a:cs typeface="Arial"/>
              </a:defRPr>
            </a:lvl8pPr>
            <a:lvl9pPr>
              <a:defRPr sz="2550" b="1">
                <a:solidFill>
                  <a:srgbClr val="167D8D"/>
                </a:solidFill>
                <a:latin typeface="Arial"/>
                <a:ea typeface="Arial"/>
                <a:cs typeface="Arial"/>
              </a:defRPr>
            </a:lvl9pPr>
          </a:lstStyle>
          <a:p xmlns:a="http://schemas.openxmlformats.org/drawingml/2006/main">
            <a:pPr>
              <a:defRPr sz="2550" b="1">
                <a:solidFill>
                  <a:srgbClr val="167D8D"/>
                </a:solidFill>
                <a:latin typeface="Arial"/>
                <a:ea typeface="Arial"/>
                <a:cs typeface="Arial"/>
              </a:defRPr>
            </a:pPr>
            <a:r>
              <a:rPr sz="2550" b="1">
                <a:solidFill>
                  <a:srgbClr val="167D8D"/>
                </a:solidFill>
                <a:latin typeface="Arial"/>
                <a:ea typeface="Arial"/>
                <a:cs typeface="Arial"/>
              </a:rPr>
              <a:t>Качество на обучении завышает ожидания от леса</a:t>
            </a:r>
          </a:p>
        </p:txBody>
      </p:sp>
      <p:sp>
        <p:nvSpPr>
          <p:cNvPr id="6" name="">
            <a:extLst xmlns:a="http://schemas.openxmlformats.org/drawingml/2006/main">
              <a:ext uri="{FF2B5EF4-FFF2-40B4-BE49-F238E27FC236}">
                <a16:creationId xmlns:a16="http://schemas.microsoft.com/office/drawing/2014/main" id="{AC787CDC-D7EE-4563-98D8-FD68718320C5}"/>
              </a:ext>
            </a:extLst>
          </p:cNvPr>
          <p:cNvSpPr>
            <a:spLocks xmlns:a="http://schemas.openxmlformats.org/drawingml/2006/main" noGrp="1"/>
          </p:cNvSpPr>
          <p:nvPr/>
        </p:nvSpPr>
        <p:spPr>
          <a:xfrm xmlns:a="http://schemas.openxmlformats.org/drawingml/2006/main">
            <a:off x="609600" y="51625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52B3B"/>
                </a:solidFill>
                <a:latin typeface="Arial"/>
                <a:ea typeface="Arial"/>
                <a:cs typeface="Arial"/>
              </a:defRPr>
            </a:defPPr>
            <a:lvl1pPr>
              <a:defRPr sz="2100" b="0">
                <a:solidFill>
                  <a:srgbClr val="152B3B"/>
                </a:solidFill>
                <a:latin typeface="Arial"/>
                <a:ea typeface="Arial"/>
                <a:cs typeface="Arial"/>
              </a:defRPr>
            </a:lvl1pPr>
            <a:lvl2pPr>
              <a:defRPr sz="2100" b="0">
                <a:solidFill>
                  <a:srgbClr val="152B3B"/>
                </a:solidFill>
                <a:latin typeface="Arial"/>
                <a:ea typeface="Arial"/>
                <a:cs typeface="Arial"/>
              </a:defRPr>
            </a:lvl2pPr>
            <a:lvl3pPr>
              <a:defRPr sz="2100" b="0">
                <a:solidFill>
                  <a:srgbClr val="152B3B"/>
                </a:solidFill>
                <a:latin typeface="Arial"/>
                <a:ea typeface="Arial"/>
                <a:cs typeface="Arial"/>
              </a:defRPr>
            </a:lvl3pPr>
            <a:lvl4pPr>
              <a:defRPr sz="2100" b="0">
                <a:solidFill>
                  <a:srgbClr val="152B3B"/>
                </a:solidFill>
                <a:latin typeface="Arial"/>
                <a:ea typeface="Arial"/>
                <a:cs typeface="Arial"/>
              </a:defRPr>
            </a:lvl4pPr>
            <a:lvl5pPr>
              <a:defRPr sz="2100" b="0">
                <a:solidFill>
                  <a:srgbClr val="152B3B"/>
                </a:solidFill>
                <a:latin typeface="Arial"/>
                <a:ea typeface="Arial"/>
                <a:cs typeface="Arial"/>
              </a:defRPr>
            </a:lvl5pPr>
            <a:lvl6pPr>
              <a:defRPr sz="2100" b="0">
                <a:solidFill>
                  <a:srgbClr val="152B3B"/>
                </a:solidFill>
                <a:latin typeface="Arial"/>
                <a:ea typeface="Arial"/>
                <a:cs typeface="Arial"/>
              </a:defRPr>
            </a:lvl6pPr>
            <a:lvl7pPr>
              <a:defRPr sz="2100" b="0">
                <a:solidFill>
                  <a:srgbClr val="152B3B"/>
                </a:solidFill>
                <a:latin typeface="Arial"/>
                <a:ea typeface="Arial"/>
                <a:cs typeface="Arial"/>
              </a:defRPr>
            </a:lvl7pPr>
            <a:lvl8pPr>
              <a:defRPr sz="2100" b="0">
                <a:solidFill>
                  <a:srgbClr val="152B3B"/>
                </a:solidFill>
                <a:latin typeface="Arial"/>
                <a:ea typeface="Arial"/>
                <a:cs typeface="Arial"/>
              </a:defRPr>
            </a:lvl8pPr>
            <a:lvl9pPr>
              <a:defRPr sz="2100" b="0">
                <a:solidFill>
                  <a:srgbClr val="152B3B"/>
                </a:solidFill>
                <a:latin typeface="Arial"/>
                <a:ea typeface="Arial"/>
                <a:cs typeface="Arial"/>
              </a:defRPr>
            </a:lvl9pPr>
          </a:lstStyle>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Результат относится к новым составам из этого датасета.</a:t>
            </a:r>
          </a:p>
          <a:p xmlns:a="http://schemas.openxmlformats.org/drawingml/2006/main">
            <a:pPr>
              <a:defRPr sz="2100" b="0">
                <a:solidFill>
                  <a:srgbClr val="152B3B"/>
                </a:solidFill>
                <a:latin typeface="Arial"/>
                <a:ea typeface="Arial"/>
                <a:cs typeface="Arial"/>
              </a:defRPr>
            </a:pPr>
            <a:r>
              <a:rPr sz="2100" b="0">
                <a:solidFill>
                  <a:srgbClr val="152B3B"/>
                </a:solidFill>
                <a:latin typeface="Arial"/>
                <a:ea typeface="Arial"/>
                <a:cs typeface="Arial"/>
              </a:rPr>
              <a:t>Для другого завода нужна отдельная проверка.</a:t>
            </a:r>
          </a:p>
        </p:txBody>
      </p:sp>
    </p:spTree>
    <p:extLst>
      <p:ext uri="{BB962C8B-B14F-4D97-AF65-F5344CB8AC3E}">
        <p14:creationId xmlns:p14="http://schemas.microsoft.com/office/powerpoint/2010/main" val="162977022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8B4099D0-B7AB-4F4A-8EB7-87AED76CD785}"/>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152B3B"/>
                </a:solidFill>
                <a:latin typeface="Arial"/>
                <a:ea typeface="Arial"/>
                <a:cs typeface="Arial"/>
              </a:defRPr>
            </a:defPPr>
            <a:lvl1pPr>
              <a:defRPr sz="2850" b="1">
                <a:solidFill>
                  <a:srgbClr val="152B3B"/>
                </a:solidFill>
                <a:latin typeface="Arial"/>
                <a:ea typeface="Arial"/>
                <a:cs typeface="Arial"/>
              </a:defRPr>
            </a:lvl1pPr>
            <a:lvl2pPr>
              <a:defRPr sz="2850" b="1">
                <a:solidFill>
                  <a:srgbClr val="152B3B"/>
                </a:solidFill>
                <a:latin typeface="Arial"/>
                <a:ea typeface="Arial"/>
                <a:cs typeface="Arial"/>
              </a:defRPr>
            </a:lvl2pPr>
            <a:lvl3pPr>
              <a:defRPr sz="2850" b="1">
                <a:solidFill>
                  <a:srgbClr val="152B3B"/>
                </a:solidFill>
                <a:latin typeface="Arial"/>
                <a:ea typeface="Arial"/>
                <a:cs typeface="Arial"/>
              </a:defRPr>
            </a:lvl3pPr>
            <a:lvl4pPr>
              <a:defRPr sz="2850" b="1">
                <a:solidFill>
                  <a:srgbClr val="152B3B"/>
                </a:solidFill>
                <a:latin typeface="Arial"/>
                <a:ea typeface="Arial"/>
                <a:cs typeface="Arial"/>
              </a:defRPr>
            </a:lvl4pPr>
            <a:lvl5pPr>
              <a:defRPr sz="2850" b="1">
                <a:solidFill>
                  <a:srgbClr val="152B3B"/>
                </a:solidFill>
                <a:latin typeface="Arial"/>
                <a:ea typeface="Arial"/>
                <a:cs typeface="Arial"/>
              </a:defRPr>
            </a:lvl5pPr>
            <a:lvl6pPr>
              <a:defRPr sz="2850" b="1">
                <a:solidFill>
                  <a:srgbClr val="152B3B"/>
                </a:solidFill>
                <a:latin typeface="Arial"/>
                <a:ea typeface="Arial"/>
                <a:cs typeface="Arial"/>
              </a:defRPr>
            </a:lvl6pPr>
            <a:lvl7pPr>
              <a:defRPr sz="2850" b="1">
                <a:solidFill>
                  <a:srgbClr val="152B3B"/>
                </a:solidFill>
                <a:latin typeface="Arial"/>
                <a:ea typeface="Arial"/>
                <a:cs typeface="Arial"/>
              </a:defRPr>
            </a:lvl7pPr>
            <a:lvl8pPr>
              <a:defRPr sz="2850" b="1">
                <a:solidFill>
                  <a:srgbClr val="152B3B"/>
                </a:solidFill>
                <a:latin typeface="Arial"/>
                <a:ea typeface="Arial"/>
                <a:cs typeface="Arial"/>
              </a:defRPr>
            </a:lvl8pPr>
            <a:lvl9pPr>
              <a:defRPr sz="2850" b="1">
                <a:solidFill>
                  <a:srgbClr val="152B3B"/>
                </a:solidFill>
                <a:latin typeface="Arial"/>
                <a:ea typeface="Arial"/>
                <a:cs typeface="Arial"/>
              </a:defRPr>
            </a:lvl9pPr>
          </a:lstStyle>
          <a:p xmlns:a="http://schemas.openxmlformats.org/drawingml/2006/main">
            <a:pPr>
              <a:defRPr sz="2850" b="1">
                <a:solidFill>
                  <a:srgbClr val="152B3B"/>
                </a:solidFill>
                <a:latin typeface="Arial"/>
                <a:ea typeface="Arial"/>
                <a:cs typeface="Arial"/>
              </a:defRPr>
            </a:pPr>
            <a:r>
              <a:rPr sz="2850" b="1">
                <a:solidFill>
                  <a:srgbClr val="152B3B"/>
                </a:solidFill>
                <a:latin typeface="Arial"/>
                <a:ea typeface="Arial"/>
                <a:cs typeface="Arial"/>
              </a:rPr>
              <a:t>Лес точнее, но занижает высокую прочность</a:t>
            </a:r>
          </a:p>
        </p:txBody>
      </p:sp>
      <p:sp>
        <p:nvSpPr>
          <p:cNvPr id="3" name="folio">
            <a:extLst xmlns:a="http://schemas.openxmlformats.org/drawingml/2006/main">
              <a:ext uri="{FF2B5EF4-FFF2-40B4-BE49-F238E27FC236}">
                <a16:creationId xmlns:a16="http://schemas.microsoft.com/office/drawing/2014/main" id="{5E2D6E93-4040-4752-8221-93EFE9A0587C}"/>
              </a:ext>
            </a:extLst>
          </p:cNvPr>
          <p:cNvSpPr>
            <a:spLocks xmlns:a="http://schemas.openxmlformats.org/drawingml/2006/main" noGrp="1"/>
          </p:cNvSpPr>
          <p:nvPr/>
        </p:nvSpPr>
        <p:spPr>
          <a:xfrm xmlns:a="http://schemas.openxmlformats.org/drawingml/2006/main">
            <a:off x="11353800" y="64389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6776"/>
                </a:solidFill>
                <a:latin typeface="Arial"/>
                <a:ea typeface="Arial"/>
                <a:cs typeface="Arial"/>
              </a:defRPr>
            </a:defPPr>
            <a:lvl1pPr>
              <a:defRPr sz="1200" b="0">
                <a:solidFill>
                  <a:srgbClr val="526776"/>
                </a:solidFill>
                <a:latin typeface="Arial"/>
                <a:ea typeface="Arial"/>
                <a:cs typeface="Arial"/>
              </a:defRPr>
            </a:lvl1pPr>
            <a:lvl2pPr>
              <a:defRPr sz="1200" b="0">
                <a:solidFill>
                  <a:srgbClr val="526776"/>
                </a:solidFill>
                <a:latin typeface="Arial"/>
                <a:ea typeface="Arial"/>
                <a:cs typeface="Arial"/>
              </a:defRPr>
            </a:lvl2pPr>
            <a:lvl3pPr>
              <a:defRPr sz="1200" b="0">
                <a:solidFill>
                  <a:srgbClr val="526776"/>
                </a:solidFill>
                <a:latin typeface="Arial"/>
                <a:ea typeface="Arial"/>
                <a:cs typeface="Arial"/>
              </a:defRPr>
            </a:lvl3pPr>
            <a:lvl4pPr>
              <a:defRPr sz="1200" b="0">
                <a:solidFill>
                  <a:srgbClr val="526776"/>
                </a:solidFill>
                <a:latin typeface="Arial"/>
                <a:ea typeface="Arial"/>
                <a:cs typeface="Arial"/>
              </a:defRPr>
            </a:lvl4pPr>
            <a:lvl5pPr>
              <a:defRPr sz="1200" b="0">
                <a:solidFill>
                  <a:srgbClr val="526776"/>
                </a:solidFill>
                <a:latin typeface="Arial"/>
                <a:ea typeface="Arial"/>
                <a:cs typeface="Arial"/>
              </a:defRPr>
            </a:lvl5pPr>
            <a:lvl6pPr>
              <a:defRPr sz="1200" b="0">
                <a:solidFill>
                  <a:srgbClr val="526776"/>
                </a:solidFill>
                <a:latin typeface="Arial"/>
                <a:ea typeface="Arial"/>
                <a:cs typeface="Arial"/>
              </a:defRPr>
            </a:lvl6pPr>
            <a:lvl7pPr>
              <a:defRPr sz="1200" b="0">
                <a:solidFill>
                  <a:srgbClr val="526776"/>
                </a:solidFill>
                <a:latin typeface="Arial"/>
                <a:ea typeface="Arial"/>
                <a:cs typeface="Arial"/>
              </a:defRPr>
            </a:lvl7pPr>
            <a:lvl8pPr>
              <a:defRPr sz="1200" b="0">
                <a:solidFill>
                  <a:srgbClr val="526776"/>
                </a:solidFill>
                <a:latin typeface="Arial"/>
                <a:ea typeface="Arial"/>
                <a:cs typeface="Arial"/>
              </a:defRPr>
            </a:lvl8pPr>
            <a:lvl9pPr>
              <a:defRPr sz="1200" b="0">
                <a:solidFill>
                  <a:srgbClr val="526776"/>
                </a:solidFill>
                <a:latin typeface="Arial"/>
                <a:ea typeface="Arial"/>
                <a:cs typeface="Arial"/>
              </a:defRPr>
            </a:lvl9pPr>
          </a:lstStyle>
          <a:p xmlns:a="http://schemas.openxmlformats.org/drawingml/2006/main">
            <a:pPr>
              <a:defRPr sz="1200" b="0">
                <a:solidFill>
                  <a:srgbClr val="526776"/>
                </a:solidFill>
                <a:latin typeface="Arial"/>
                <a:ea typeface="Arial"/>
                <a:cs typeface="Arial"/>
              </a:defRPr>
            </a:pPr>
            <a:r>
              <a:rPr sz="1200" b="0">
                <a:solidFill>
                  <a:srgbClr val="526776"/>
                </a:solidFill>
                <a:latin typeface="Arial"/>
                <a:ea typeface="Arial"/>
                <a:cs typeface="Arial"/>
              </a:rPr>
              <a:t>16</a:t>
            </a:r>
          </a:p>
        </p:txBody>
      </p:sp>
      <p:sp>
        <p:nvSpPr>
          <p:cNvPr id="4" name="">
            <a:extLst xmlns:a="http://schemas.openxmlformats.org/drawingml/2006/main">
              <a:ext uri="{FF2B5EF4-FFF2-40B4-BE49-F238E27FC236}">
                <a16:creationId xmlns:a16="http://schemas.microsoft.com/office/drawing/2014/main" id="{A7A9342D-D406-48CC-8351-DA4129BF0277}"/>
              </a:ext>
            </a:extLst>
          </p:cNvPr>
          <p:cNvSpPr>
            <a:spLocks xmlns:a="http://schemas.openxmlformats.org/drawingml/2006/main" noGrp="1"/>
          </p:cNvSpPr>
          <p:nvPr/>
        </p:nvSpPr>
        <p:spPr>
          <a:xfrm xmlns:a="http://schemas.openxmlformats.org/drawingml/2006/main">
            <a:off x="609600"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650" b="1">
                <a:solidFill>
                  <a:srgbClr val="167D8D"/>
                </a:solidFill>
                <a:latin typeface="Arial"/>
                <a:ea typeface="Arial"/>
                <a:cs typeface="Arial"/>
              </a:defRPr>
            </a:defPPr>
            <a:lvl1pPr>
              <a:defRPr sz="4650" b="1">
                <a:solidFill>
                  <a:srgbClr val="167D8D"/>
                </a:solidFill>
                <a:latin typeface="Arial"/>
                <a:ea typeface="Arial"/>
                <a:cs typeface="Arial"/>
              </a:defRPr>
            </a:lvl1pPr>
            <a:lvl2pPr>
              <a:defRPr sz="4650" b="1">
                <a:solidFill>
                  <a:srgbClr val="167D8D"/>
                </a:solidFill>
                <a:latin typeface="Arial"/>
                <a:ea typeface="Arial"/>
                <a:cs typeface="Arial"/>
              </a:defRPr>
            </a:lvl2pPr>
            <a:lvl3pPr>
              <a:defRPr sz="4650" b="1">
                <a:solidFill>
                  <a:srgbClr val="167D8D"/>
                </a:solidFill>
                <a:latin typeface="Arial"/>
                <a:ea typeface="Arial"/>
                <a:cs typeface="Arial"/>
              </a:defRPr>
            </a:lvl3pPr>
            <a:lvl4pPr>
              <a:defRPr sz="4650" b="1">
                <a:solidFill>
                  <a:srgbClr val="167D8D"/>
                </a:solidFill>
                <a:latin typeface="Arial"/>
                <a:ea typeface="Arial"/>
                <a:cs typeface="Arial"/>
              </a:defRPr>
            </a:lvl4pPr>
            <a:lvl5pPr>
              <a:defRPr sz="4650" b="1">
                <a:solidFill>
                  <a:srgbClr val="167D8D"/>
                </a:solidFill>
                <a:latin typeface="Arial"/>
                <a:ea typeface="Arial"/>
                <a:cs typeface="Arial"/>
              </a:defRPr>
            </a:lvl5pPr>
            <a:lvl6pPr>
              <a:defRPr sz="4650" b="1">
                <a:solidFill>
                  <a:srgbClr val="167D8D"/>
                </a:solidFill>
                <a:latin typeface="Arial"/>
                <a:ea typeface="Arial"/>
                <a:cs typeface="Arial"/>
              </a:defRPr>
            </a:lvl6pPr>
            <a:lvl7pPr>
              <a:defRPr sz="4650" b="1">
                <a:solidFill>
                  <a:srgbClr val="167D8D"/>
                </a:solidFill>
                <a:latin typeface="Arial"/>
                <a:ea typeface="Arial"/>
                <a:cs typeface="Arial"/>
              </a:defRPr>
            </a:lvl7pPr>
            <a:lvl8pPr>
              <a:defRPr sz="4650" b="1">
                <a:solidFill>
                  <a:srgbClr val="167D8D"/>
                </a:solidFill>
                <a:latin typeface="Arial"/>
                <a:ea typeface="Arial"/>
                <a:cs typeface="Arial"/>
              </a:defRPr>
            </a:lvl8pPr>
            <a:lvl9pPr>
              <a:defRPr sz="4650" b="1">
                <a:solidFill>
                  <a:srgbClr val="167D8D"/>
                </a:solidFill>
                <a:latin typeface="Arial"/>
                <a:ea typeface="Arial"/>
                <a:cs typeface="Arial"/>
              </a:defRPr>
            </a:lvl9pPr>
          </a:lstStyle>
          <a:p xmlns:a="http://schemas.openxmlformats.org/drawingml/2006/main">
            <a:pPr>
              <a:defRPr sz="4650" b="1">
                <a:solidFill>
                  <a:srgbClr val="167D8D"/>
                </a:solidFill>
                <a:latin typeface="Arial"/>
                <a:ea typeface="Arial"/>
                <a:cs typeface="Arial"/>
              </a:defRPr>
            </a:pPr>
            <a:r>
              <a:rPr sz="4650" b="1">
                <a:solidFill>
                  <a:srgbClr val="167D8D"/>
                </a:solidFill>
                <a:latin typeface="Arial"/>
                <a:ea typeface="Arial"/>
                <a:cs typeface="Arial"/>
              </a:rPr>
              <a:t>−38,8% RMSE</a:t>
            </a:r>
          </a:p>
        </p:txBody>
      </p:sp>
      <p:sp>
        <p:nvSpPr>
          <p:cNvPr id="5" name="">
            <a:extLst xmlns:a="http://schemas.openxmlformats.org/drawingml/2006/main">
              <a:ext uri="{FF2B5EF4-FFF2-40B4-BE49-F238E27FC236}">
                <a16:creationId xmlns:a16="http://schemas.microsoft.com/office/drawing/2014/main" id="{908658C9-0DE8-49EE-8CC6-D49F6C3AA046}"/>
              </a:ext>
            </a:extLst>
          </p:cNvPr>
          <p:cNvSpPr>
            <a:spLocks xmlns:a="http://schemas.openxmlformats.org/drawingml/2006/main" noGrp="1"/>
          </p:cNvSpPr>
          <p:nvPr/>
        </p:nvSpPr>
        <p:spPr>
          <a:xfrm xmlns:a="http://schemas.openxmlformats.org/drawingml/2006/main">
            <a:off x="609600" y="2667000"/>
            <a:ext cx="10572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0">
                <a:solidFill>
                  <a:srgbClr val="152B3B"/>
                </a:solidFill>
                <a:latin typeface="Arial"/>
                <a:ea typeface="Arial"/>
                <a:cs typeface="Arial"/>
              </a:defRPr>
            </a:defPPr>
            <a:lvl1pPr>
              <a:defRPr sz="2475" b="0">
                <a:solidFill>
                  <a:srgbClr val="152B3B"/>
                </a:solidFill>
                <a:latin typeface="Arial"/>
                <a:ea typeface="Arial"/>
                <a:cs typeface="Arial"/>
              </a:defRPr>
            </a:lvl1pPr>
            <a:lvl2pPr>
              <a:defRPr sz="2475" b="0">
                <a:solidFill>
                  <a:srgbClr val="152B3B"/>
                </a:solidFill>
                <a:latin typeface="Arial"/>
                <a:ea typeface="Arial"/>
                <a:cs typeface="Arial"/>
              </a:defRPr>
            </a:lvl2pPr>
            <a:lvl3pPr>
              <a:defRPr sz="2475" b="0">
                <a:solidFill>
                  <a:srgbClr val="152B3B"/>
                </a:solidFill>
                <a:latin typeface="Arial"/>
                <a:ea typeface="Arial"/>
                <a:cs typeface="Arial"/>
              </a:defRPr>
            </a:lvl3pPr>
            <a:lvl4pPr>
              <a:defRPr sz="2475" b="0">
                <a:solidFill>
                  <a:srgbClr val="152B3B"/>
                </a:solidFill>
                <a:latin typeface="Arial"/>
                <a:ea typeface="Arial"/>
                <a:cs typeface="Arial"/>
              </a:defRPr>
            </a:lvl4pPr>
            <a:lvl5pPr>
              <a:defRPr sz="2475" b="0">
                <a:solidFill>
                  <a:srgbClr val="152B3B"/>
                </a:solidFill>
                <a:latin typeface="Arial"/>
                <a:ea typeface="Arial"/>
                <a:cs typeface="Arial"/>
              </a:defRPr>
            </a:lvl5pPr>
            <a:lvl6pPr>
              <a:defRPr sz="2475" b="0">
                <a:solidFill>
                  <a:srgbClr val="152B3B"/>
                </a:solidFill>
                <a:latin typeface="Arial"/>
                <a:ea typeface="Arial"/>
                <a:cs typeface="Arial"/>
              </a:defRPr>
            </a:lvl6pPr>
            <a:lvl7pPr>
              <a:defRPr sz="2475" b="0">
                <a:solidFill>
                  <a:srgbClr val="152B3B"/>
                </a:solidFill>
                <a:latin typeface="Arial"/>
                <a:ea typeface="Arial"/>
                <a:cs typeface="Arial"/>
              </a:defRPr>
            </a:lvl7pPr>
            <a:lvl8pPr>
              <a:defRPr sz="2475" b="0">
                <a:solidFill>
                  <a:srgbClr val="152B3B"/>
                </a:solidFill>
                <a:latin typeface="Arial"/>
                <a:ea typeface="Arial"/>
                <a:cs typeface="Arial"/>
              </a:defRPr>
            </a:lvl8pPr>
            <a:lvl9pPr>
              <a:defRPr sz="2475" b="0">
                <a:solidFill>
                  <a:srgbClr val="152B3B"/>
                </a:solidFill>
                <a:latin typeface="Arial"/>
                <a:ea typeface="Arial"/>
                <a:cs typeface="Arial"/>
              </a:defRPr>
            </a:lvl9pPr>
          </a:lstStyle>
          <a:p xmlns:a="http://schemas.openxmlformats.org/drawingml/2006/main">
            <a:pPr>
              <a:defRPr sz="2475" b="0">
                <a:solidFill>
                  <a:srgbClr val="152B3B"/>
                </a:solidFill>
                <a:latin typeface="Arial"/>
                <a:ea typeface="Arial"/>
                <a:cs typeface="Arial"/>
              </a:defRPr>
            </a:pPr>
            <a:r>
              <a:rPr sz="2475" b="0">
                <a:solidFill>
                  <a:srgbClr val="152B3B"/>
                </a:solidFill>
                <a:latin typeface="Arial"/>
                <a:ea typeface="Arial"/>
                <a:cs typeface="Arial"/>
              </a:rPr>
              <a:t>по сравнению с линейной регрессией</a:t>
            </a:r>
          </a:p>
        </p:txBody>
      </p:sp>
      <p:sp>
        <p:nvSpPr>
          <p:cNvPr id="6" name="">
            <a:extLst xmlns:a="http://schemas.openxmlformats.org/drawingml/2006/main">
              <a:ext uri="{FF2B5EF4-FFF2-40B4-BE49-F238E27FC236}">
                <a16:creationId xmlns:a16="http://schemas.microsoft.com/office/drawing/2014/main" id="{9AF86748-4207-4653-8A58-A69098B8C8BB}"/>
              </a:ext>
            </a:extLst>
          </p:cNvPr>
          <p:cNvSpPr>
            <a:spLocks xmlns:a="http://schemas.openxmlformats.org/drawingml/2006/main" noGrp="1"/>
          </p:cNvSpPr>
          <p:nvPr/>
        </p:nvSpPr>
        <p:spPr>
          <a:xfrm xmlns:a="http://schemas.openxmlformats.org/drawingml/2006/main">
            <a:off x="609600" y="363855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0">
                <a:solidFill>
                  <a:srgbClr val="152B3B"/>
                </a:solidFill>
                <a:latin typeface="Arial"/>
                <a:ea typeface="Arial"/>
                <a:cs typeface="Arial"/>
              </a:defRPr>
            </a:defPPr>
            <a:lvl1pPr>
              <a:defRPr sz="2325" b="0">
                <a:solidFill>
                  <a:srgbClr val="152B3B"/>
                </a:solidFill>
                <a:latin typeface="Arial"/>
                <a:ea typeface="Arial"/>
                <a:cs typeface="Arial"/>
              </a:defRPr>
            </a:lvl1pPr>
            <a:lvl2pPr>
              <a:defRPr sz="2325" b="0">
                <a:solidFill>
                  <a:srgbClr val="152B3B"/>
                </a:solidFill>
                <a:latin typeface="Arial"/>
                <a:ea typeface="Arial"/>
                <a:cs typeface="Arial"/>
              </a:defRPr>
            </a:lvl2pPr>
            <a:lvl3pPr>
              <a:defRPr sz="2325" b="0">
                <a:solidFill>
                  <a:srgbClr val="152B3B"/>
                </a:solidFill>
                <a:latin typeface="Arial"/>
                <a:ea typeface="Arial"/>
                <a:cs typeface="Arial"/>
              </a:defRPr>
            </a:lvl3pPr>
            <a:lvl4pPr>
              <a:defRPr sz="2325" b="0">
                <a:solidFill>
                  <a:srgbClr val="152B3B"/>
                </a:solidFill>
                <a:latin typeface="Arial"/>
                <a:ea typeface="Arial"/>
                <a:cs typeface="Arial"/>
              </a:defRPr>
            </a:lvl4pPr>
            <a:lvl5pPr>
              <a:defRPr sz="2325" b="0">
                <a:solidFill>
                  <a:srgbClr val="152B3B"/>
                </a:solidFill>
                <a:latin typeface="Arial"/>
                <a:ea typeface="Arial"/>
                <a:cs typeface="Arial"/>
              </a:defRPr>
            </a:lvl5pPr>
            <a:lvl6pPr>
              <a:defRPr sz="2325" b="0">
                <a:solidFill>
                  <a:srgbClr val="152B3B"/>
                </a:solidFill>
                <a:latin typeface="Arial"/>
                <a:ea typeface="Arial"/>
                <a:cs typeface="Arial"/>
              </a:defRPr>
            </a:lvl6pPr>
            <a:lvl7pPr>
              <a:defRPr sz="2325" b="0">
                <a:solidFill>
                  <a:srgbClr val="152B3B"/>
                </a:solidFill>
                <a:latin typeface="Arial"/>
                <a:ea typeface="Arial"/>
                <a:cs typeface="Arial"/>
              </a:defRPr>
            </a:lvl7pPr>
            <a:lvl8pPr>
              <a:defRPr sz="2325" b="0">
                <a:solidFill>
                  <a:srgbClr val="152B3B"/>
                </a:solidFill>
                <a:latin typeface="Arial"/>
                <a:ea typeface="Arial"/>
                <a:cs typeface="Arial"/>
              </a:defRPr>
            </a:lvl8pPr>
            <a:lvl9pPr>
              <a:defRPr sz="2325" b="0">
                <a:solidFill>
                  <a:srgbClr val="152B3B"/>
                </a:solidFill>
                <a:latin typeface="Arial"/>
                <a:ea typeface="Arial"/>
                <a:cs typeface="Arial"/>
              </a:defRPr>
            </a:lvl9pPr>
          </a:lstStyle>
          <a:p xmlns:a="http://schemas.openxmlformats.org/drawingml/2006/main">
            <a:pPr>
              <a:defRPr sz="2325" b="0">
                <a:solidFill>
                  <a:srgbClr val="152B3B"/>
                </a:solidFill>
                <a:latin typeface="Arial"/>
                <a:ea typeface="Arial"/>
                <a:cs typeface="Arial"/>
              </a:defRPr>
            </a:pPr>
            <a:r>
              <a:rPr sz="2325" b="0">
                <a:solidFill>
                  <a:srgbClr val="152B3B"/>
                </a:solidFill>
                <a:latin typeface="Arial"/>
                <a:ea typeface="Arial"/>
                <a:cs typeface="Arial"/>
              </a:rPr>
              <a:t>Средняя абсолютная ошибка: 4,62 МПа</a:t>
            </a:r>
          </a:p>
          <a:p xmlns:a="http://schemas.openxmlformats.org/drawingml/2006/main">
            <a:pPr>
              <a:defRPr sz="2325" b="0">
                <a:solidFill>
                  <a:srgbClr val="152B3B"/>
                </a:solidFill>
                <a:latin typeface="Arial"/>
                <a:ea typeface="Arial"/>
                <a:cs typeface="Arial"/>
              </a:defRPr>
            </a:pPr>
            <a:r>
              <a:rPr sz="2325" b="0">
                <a:solidFill>
                  <a:srgbClr val="152B3B"/>
                </a:solidFill>
                <a:latin typeface="Arial"/>
                <a:ea typeface="Arial"/>
                <a:cs typeface="Arial"/>
              </a:rPr>
              <a:t>Максимальная абсолютная ошибка: 27,22 МПа</a:t>
            </a:r>
          </a:p>
        </p:txBody>
      </p:sp>
      <p:sp>
        <p:nvSpPr>
          <p:cNvPr id="7" name="">
            <a:extLst xmlns:a="http://schemas.openxmlformats.org/drawingml/2006/main">
              <a:ext uri="{FF2B5EF4-FFF2-40B4-BE49-F238E27FC236}">
                <a16:creationId xmlns:a16="http://schemas.microsoft.com/office/drawing/2014/main" id="{5B9680D5-3C33-4F4D-9631-B369C54671A9}"/>
              </a:ext>
            </a:extLst>
          </p:cNvPr>
          <p:cNvSpPr>
            <a:spLocks xmlns:a="http://schemas.openxmlformats.org/drawingml/2006/main" noGrp="1"/>
          </p:cNvSpPr>
          <p:nvPr/>
        </p:nvSpPr>
        <p:spPr>
          <a:xfrm xmlns:a="http://schemas.openxmlformats.org/drawingml/2006/main">
            <a:off x="609600" y="5219700"/>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52B3B"/>
                </a:solidFill>
                <a:latin typeface="Arial"/>
                <a:ea typeface="Arial"/>
                <a:cs typeface="Arial"/>
              </a:defRPr>
            </a:defPPr>
            <a:lvl1pPr>
              <a:defRPr sz="2175" b="1">
                <a:solidFill>
                  <a:srgbClr val="152B3B"/>
                </a:solidFill>
                <a:latin typeface="Arial"/>
                <a:ea typeface="Arial"/>
                <a:cs typeface="Arial"/>
              </a:defRPr>
            </a:lvl1pPr>
            <a:lvl2pPr>
              <a:defRPr sz="2175" b="1">
                <a:solidFill>
                  <a:srgbClr val="152B3B"/>
                </a:solidFill>
                <a:latin typeface="Arial"/>
                <a:ea typeface="Arial"/>
                <a:cs typeface="Arial"/>
              </a:defRPr>
            </a:lvl2pPr>
            <a:lvl3pPr>
              <a:defRPr sz="2175" b="1">
                <a:solidFill>
                  <a:srgbClr val="152B3B"/>
                </a:solidFill>
                <a:latin typeface="Arial"/>
                <a:ea typeface="Arial"/>
                <a:cs typeface="Arial"/>
              </a:defRPr>
            </a:lvl3pPr>
            <a:lvl4pPr>
              <a:defRPr sz="2175" b="1">
                <a:solidFill>
                  <a:srgbClr val="152B3B"/>
                </a:solidFill>
                <a:latin typeface="Arial"/>
                <a:ea typeface="Arial"/>
                <a:cs typeface="Arial"/>
              </a:defRPr>
            </a:lvl4pPr>
            <a:lvl5pPr>
              <a:defRPr sz="2175" b="1">
                <a:solidFill>
                  <a:srgbClr val="152B3B"/>
                </a:solidFill>
                <a:latin typeface="Arial"/>
                <a:ea typeface="Arial"/>
                <a:cs typeface="Arial"/>
              </a:defRPr>
            </a:lvl5pPr>
            <a:lvl6pPr>
              <a:defRPr sz="2175" b="1">
                <a:solidFill>
                  <a:srgbClr val="152B3B"/>
                </a:solidFill>
                <a:latin typeface="Arial"/>
                <a:ea typeface="Arial"/>
                <a:cs typeface="Arial"/>
              </a:defRPr>
            </a:lvl6pPr>
            <a:lvl7pPr>
              <a:defRPr sz="2175" b="1">
                <a:solidFill>
                  <a:srgbClr val="152B3B"/>
                </a:solidFill>
                <a:latin typeface="Arial"/>
                <a:ea typeface="Arial"/>
                <a:cs typeface="Arial"/>
              </a:defRPr>
            </a:lvl7pPr>
            <a:lvl8pPr>
              <a:defRPr sz="2175" b="1">
                <a:solidFill>
                  <a:srgbClr val="152B3B"/>
                </a:solidFill>
                <a:latin typeface="Arial"/>
                <a:ea typeface="Arial"/>
                <a:cs typeface="Arial"/>
              </a:defRPr>
            </a:lvl8pPr>
            <a:lvl9pPr>
              <a:defRPr sz="2175" b="1">
                <a:solidFill>
                  <a:srgbClr val="152B3B"/>
                </a:solidFill>
                <a:latin typeface="Arial"/>
                <a:ea typeface="Arial"/>
                <a:cs typeface="Arial"/>
              </a:defRPr>
            </a:lvl9pPr>
          </a:lstStyle>
          <a:p xmlns:a="http://schemas.openxmlformats.org/drawingml/2006/main">
            <a:pPr>
              <a:defRPr sz="2175" b="1">
                <a:solidFill>
                  <a:srgbClr val="152B3B"/>
                </a:solidFill>
                <a:latin typeface="Arial"/>
                <a:ea typeface="Arial"/>
                <a:cs typeface="Arial"/>
              </a:defRPr>
            </a:pPr>
            <a:r>
              <a:rPr sz="2175" b="1">
                <a:solidFill>
                  <a:srgbClr val="152B3B"/>
                </a:solidFill>
                <a:latin typeface="Arial"/>
                <a:ea typeface="Arial"/>
                <a:cs typeface="Arial"/>
              </a:rPr>
              <a:t>Следующий шаг: новые признаки и данные об условиях твердения</a:t>
            </a:r>
          </a:p>
        </p:txBody>
      </p:sp>
      <p:sp>
        <p:nvSpPr>
          <p:cNvPr id="8" name="">
            <a:extLst xmlns:a="http://schemas.openxmlformats.org/drawingml/2006/main">
              <a:ext uri="{FF2B5EF4-FFF2-40B4-BE49-F238E27FC236}">
                <a16:creationId xmlns:a16="http://schemas.microsoft.com/office/drawing/2014/main" id="{CE4257BB-507D-43D0-A022-80C1B97A50BD}"/>
              </a:ext>
            </a:extLst>
          </p:cNvPr>
          <p:cNvSpPr>
            <a:spLocks xmlns:a="http://schemas.openxmlformats.org/drawingml/2006/main" noGrp="1"/>
          </p:cNvSpPr>
          <p:nvPr/>
        </p:nvSpPr>
        <p:spPr>
          <a:xfrm xmlns:a="http://schemas.openxmlformats.org/drawingml/2006/main">
            <a:off x="609600" y="6115050"/>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526776"/>
                </a:solidFill>
                <a:latin typeface="Arial"/>
                <a:ea typeface="Arial"/>
                <a:cs typeface="Arial"/>
              </a:defRPr>
            </a:defPPr>
            <a:lvl1pPr>
              <a:defRPr sz="1500" b="0">
                <a:solidFill>
                  <a:srgbClr val="526776"/>
                </a:solidFill>
                <a:latin typeface="Arial"/>
                <a:ea typeface="Arial"/>
                <a:cs typeface="Arial"/>
              </a:defRPr>
            </a:lvl1pPr>
            <a:lvl2pPr>
              <a:defRPr sz="1500" b="0">
                <a:solidFill>
                  <a:srgbClr val="526776"/>
                </a:solidFill>
                <a:latin typeface="Arial"/>
                <a:ea typeface="Arial"/>
                <a:cs typeface="Arial"/>
              </a:defRPr>
            </a:lvl2pPr>
            <a:lvl3pPr>
              <a:defRPr sz="1500" b="0">
                <a:solidFill>
                  <a:srgbClr val="526776"/>
                </a:solidFill>
                <a:latin typeface="Arial"/>
                <a:ea typeface="Arial"/>
                <a:cs typeface="Arial"/>
              </a:defRPr>
            </a:lvl3pPr>
            <a:lvl4pPr>
              <a:defRPr sz="1500" b="0">
                <a:solidFill>
                  <a:srgbClr val="526776"/>
                </a:solidFill>
                <a:latin typeface="Arial"/>
                <a:ea typeface="Arial"/>
                <a:cs typeface="Arial"/>
              </a:defRPr>
            </a:lvl4pPr>
            <a:lvl5pPr>
              <a:defRPr sz="1500" b="0">
                <a:solidFill>
                  <a:srgbClr val="526776"/>
                </a:solidFill>
                <a:latin typeface="Arial"/>
                <a:ea typeface="Arial"/>
                <a:cs typeface="Arial"/>
              </a:defRPr>
            </a:lvl5pPr>
            <a:lvl6pPr>
              <a:defRPr sz="1500" b="0">
                <a:solidFill>
                  <a:srgbClr val="526776"/>
                </a:solidFill>
                <a:latin typeface="Arial"/>
                <a:ea typeface="Arial"/>
                <a:cs typeface="Arial"/>
              </a:defRPr>
            </a:lvl6pPr>
            <a:lvl7pPr>
              <a:defRPr sz="1500" b="0">
                <a:solidFill>
                  <a:srgbClr val="526776"/>
                </a:solidFill>
                <a:latin typeface="Arial"/>
                <a:ea typeface="Arial"/>
                <a:cs typeface="Arial"/>
              </a:defRPr>
            </a:lvl7pPr>
            <a:lvl8pPr>
              <a:defRPr sz="1500" b="0">
                <a:solidFill>
                  <a:srgbClr val="526776"/>
                </a:solidFill>
                <a:latin typeface="Arial"/>
                <a:ea typeface="Arial"/>
                <a:cs typeface="Arial"/>
              </a:defRPr>
            </a:lvl8pPr>
            <a:lvl9pPr>
              <a:defRPr sz="1500" b="0">
                <a:solidFill>
                  <a:srgbClr val="526776"/>
                </a:solidFill>
                <a:latin typeface="Arial"/>
                <a:ea typeface="Arial"/>
                <a:cs typeface="Arial"/>
              </a:defRPr>
            </a:lvl9pPr>
          </a:lstStyle>
          <a:p xmlns:a="http://schemas.openxmlformats.org/drawingml/2006/main">
            <a:pPr>
              <a:defRPr sz="1500" b="0">
                <a:solidFill>
                  <a:srgbClr val="526776"/>
                </a:solidFill>
                <a:latin typeface="Arial"/>
                <a:ea typeface="Arial"/>
                <a:cs typeface="Arial"/>
              </a:defRPr>
            </a:pPr>
            <a:r>
              <a:rPr sz="1500" b="0">
                <a:solidFill>
                  <a:srgbClr val="526776"/>
                </a:solidFill>
                <a:latin typeface="Arial"/>
                <a:ea typeface="Arial"/>
                <a:cs typeface="Arial"/>
              </a:rPr>
              <a:t>Предложения для нового эксперимента. В текущем сравнении их не использовали.</a:t>
            </a:r>
          </a:p>
        </p:txBody>
      </p:sp>
    </p:spTree>
    <p:extLst>
      <p:ext uri="{BB962C8B-B14F-4D97-AF65-F5344CB8AC3E}">
        <p14:creationId xmlns:p14="http://schemas.microsoft.com/office/powerpoint/2010/main" val="63336222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BD23D315-9AA7-462F-AACE-39D28467DCF2}"/>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152B3B"/>
                </a:solidFill>
                <a:latin typeface="Arial"/>
                <a:ea typeface="Arial"/>
                <a:cs typeface="Arial"/>
              </a:defRPr>
            </a:defPPr>
            <a:lvl1pPr>
              <a:defRPr sz="2850" b="1">
                <a:solidFill>
                  <a:srgbClr val="152B3B"/>
                </a:solidFill>
                <a:latin typeface="Arial"/>
                <a:ea typeface="Arial"/>
                <a:cs typeface="Arial"/>
              </a:defRPr>
            </a:lvl1pPr>
            <a:lvl2pPr>
              <a:defRPr sz="2850" b="1">
                <a:solidFill>
                  <a:srgbClr val="152B3B"/>
                </a:solidFill>
                <a:latin typeface="Arial"/>
                <a:ea typeface="Arial"/>
                <a:cs typeface="Arial"/>
              </a:defRPr>
            </a:lvl2pPr>
            <a:lvl3pPr>
              <a:defRPr sz="2850" b="1">
                <a:solidFill>
                  <a:srgbClr val="152B3B"/>
                </a:solidFill>
                <a:latin typeface="Arial"/>
                <a:ea typeface="Arial"/>
                <a:cs typeface="Arial"/>
              </a:defRPr>
            </a:lvl3pPr>
            <a:lvl4pPr>
              <a:defRPr sz="2850" b="1">
                <a:solidFill>
                  <a:srgbClr val="152B3B"/>
                </a:solidFill>
                <a:latin typeface="Arial"/>
                <a:ea typeface="Arial"/>
                <a:cs typeface="Arial"/>
              </a:defRPr>
            </a:lvl4pPr>
            <a:lvl5pPr>
              <a:defRPr sz="2850" b="1">
                <a:solidFill>
                  <a:srgbClr val="152B3B"/>
                </a:solidFill>
                <a:latin typeface="Arial"/>
                <a:ea typeface="Arial"/>
                <a:cs typeface="Arial"/>
              </a:defRPr>
            </a:lvl5pPr>
            <a:lvl6pPr>
              <a:defRPr sz="2850" b="1">
                <a:solidFill>
                  <a:srgbClr val="152B3B"/>
                </a:solidFill>
                <a:latin typeface="Arial"/>
                <a:ea typeface="Arial"/>
                <a:cs typeface="Arial"/>
              </a:defRPr>
            </a:lvl6pPr>
            <a:lvl7pPr>
              <a:defRPr sz="2850" b="1">
                <a:solidFill>
                  <a:srgbClr val="152B3B"/>
                </a:solidFill>
                <a:latin typeface="Arial"/>
                <a:ea typeface="Arial"/>
                <a:cs typeface="Arial"/>
              </a:defRPr>
            </a:lvl7pPr>
            <a:lvl8pPr>
              <a:defRPr sz="2850" b="1">
                <a:solidFill>
                  <a:srgbClr val="152B3B"/>
                </a:solidFill>
                <a:latin typeface="Arial"/>
                <a:ea typeface="Arial"/>
                <a:cs typeface="Arial"/>
              </a:defRPr>
            </a:lvl8pPr>
            <a:lvl9pPr>
              <a:defRPr sz="2850" b="1">
                <a:solidFill>
                  <a:srgbClr val="152B3B"/>
                </a:solidFill>
                <a:latin typeface="Arial"/>
                <a:ea typeface="Arial"/>
                <a:cs typeface="Arial"/>
              </a:defRPr>
            </a:lvl9pPr>
          </a:lstStyle>
          <a:p xmlns:a="http://schemas.openxmlformats.org/drawingml/2006/main">
            <a:pPr>
              <a:defRPr sz="2850" b="1">
                <a:solidFill>
                  <a:srgbClr val="152B3B"/>
                </a:solidFill>
                <a:latin typeface="Arial"/>
                <a:ea typeface="Arial"/>
                <a:cs typeface="Arial"/>
              </a:defRPr>
            </a:pPr>
            <a:r>
              <a:rPr sz="2850" b="1">
                <a:solidFill>
                  <a:srgbClr val="152B3B"/>
                </a:solidFill>
                <a:latin typeface="Arial"/>
                <a:ea typeface="Arial"/>
                <a:cs typeface="Arial"/>
              </a:rPr>
              <a:t>Код, результаты и источники</a:t>
            </a:r>
          </a:p>
        </p:txBody>
      </p:sp>
      <p:sp>
        <p:nvSpPr>
          <p:cNvPr id="3" name="folio">
            <a:extLst xmlns:a="http://schemas.openxmlformats.org/drawingml/2006/main">
              <a:ext uri="{FF2B5EF4-FFF2-40B4-BE49-F238E27FC236}">
                <a16:creationId xmlns:a16="http://schemas.microsoft.com/office/drawing/2014/main" id="{27A73B21-CC4D-41B3-AB2E-E49974BC8D87}"/>
              </a:ext>
            </a:extLst>
          </p:cNvPr>
          <p:cNvSpPr>
            <a:spLocks xmlns:a="http://schemas.openxmlformats.org/drawingml/2006/main" noGrp="1"/>
          </p:cNvSpPr>
          <p:nvPr/>
        </p:nvSpPr>
        <p:spPr>
          <a:xfrm xmlns:a="http://schemas.openxmlformats.org/drawingml/2006/main">
            <a:off x="11353800" y="64389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6776"/>
                </a:solidFill>
                <a:latin typeface="Arial"/>
                <a:ea typeface="Arial"/>
                <a:cs typeface="Arial"/>
              </a:defRPr>
            </a:defPPr>
            <a:lvl1pPr>
              <a:defRPr sz="1200" b="0">
                <a:solidFill>
                  <a:srgbClr val="526776"/>
                </a:solidFill>
                <a:latin typeface="Arial"/>
                <a:ea typeface="Arial"/>
                <a:cs typeface="Arial"/>
              </a:defRPr>
            </a:lvl1pPr>
            <a:lvl2pPr>
              <a:defRPr sz="1200" b="0">
                <a:solidFill>
                  <a:srgbClr val="526776"/>
                </a:solidFill>
                <a:latin typeface="Arial"/>
                <a:ea typeface="Arial"/>
                <a:cs typeface="Arial"/>
              </a:defRPr>
            </a:lvl2pPr>
            <a:lvl3pPr>
              <a:defRPr sz="1200" b="0">
                <a:solidFill>
                  <a:srgbClr val="526776"/>
                </a:solidFill>
                <a:latin typeface="Arial"/>
                <a:ea typeface="Arial"/>
                <a:cs typeface="Arial"/>
              </a:defRPr>
            </a:lvl3pPr>
            <a:lvl4pPr>
              <a:defRPr sz="1200" b="0">
                <a:solidFill>
                  <a:srgbClr val="526776"/>
                </a:solidFill>
                <a:latin typeface="Arial"/>
                <a:ea typeface="Arial"/>
                <a:cs typeface="Arial"/>
              </a:defRPr>
            </a:lvl4pPr>
            <a:lvl5pPr>
              <a:defRPr sz="1200" b="0">
                <a:solidFill>
                  <a:srgbClr val="526776"/>
                </a:solidFill>
                <a:latin typeface="Arial"/>
                <a:ea typeface="Arial"/>
                <a:cs typeface="Arial"/>
              </a:defRPr>
            </a:lvl5pPr>
            <a:lvl6pPr>
              <a:defRPr sz="1200" b="0">
                <a:solidFill>
                  <a:srgbClr val="526776"/>
                </a:solidFill>
                <a:latin typeface="Arial"/>
                <a:ea typeface="Arial"/>
                <a:cs typeface="Arial"/>
              </a:defRPr>
            </a:lvl6pPr>
            <a:lvl7pPr>
              <a:defRPr sz="1200" b="0">
                <a:solidFill>
                  <a:srgbClr val="526776"/>
                </a:solidFill>
                <a:latin typeface="Arial"/>
                <a:ea typeface="Arial"/>
                <a:cs typeface="Arial"/>
              </a:defRPr>
            </a:lvl7pPr>
            <a:lvl8pPr>
              <a:defRPr sz="1200" b="0">
                <a:solidFill>
                  <a:srgbClr val="526776"/>
                </a:solidFill>
                <a:latin typeface="Arial"/>
                <a:ea typeface="Arial"/>
                <a:cs typeface="Arial"/>
              </a:defRPr>
            </a:lvl8pPr>
            <a:lvl9pPr>
              <a:defRPr sz="1200" b="0">
                <a:solidFill>
                  <a:srgbClr val="526776"/>
                </a:solidFill>
                <a:latin typeface="Arial"/>
                <a:ea typeface="Arial"/>
                <a:cs typeface="Arial"/>
              </a:defRPr>
            </a:lvl9pPr>
          </a:lstStyle>
          <a:p xmlns:a="http://schemas.openxmlformats.org/drawingml/2006/main">
            <a:pPr>
              <a:defRPr sz="1200" b="0">
                <a:solidFill>
                  <a:srgbClr val="526776"/>
                </a:solidFill>
                <a:latin typeface="Arial"/>
                <a:ea typeface="Arial"/>
                <a:cs typeface="Arial"/>
              </a:defRPr>
            </a:pPr>
            <a:r>
              <a:rPr sz="1200" b="0">
                <a:solidFill>
                  <a:srgbClr val="526776"/>
                </a:solidFill>
                <a:latin typeface="Arial"/>
                <a:ea typeface="Arial"/>
                <a:cs typeface="Arial"/>
              </a:rPr>
              <a:t>17</a:t>
            </a:r>
          </a:p>
        </p:txBody>
      </p:sp>
      <p:sp>
        <p:nvSpPr>
          <p:cNvPr id="4" name="">
            <a:extLst xmlns:a="http://schemas.openxmlformats.org/drawingml/2006/main">
              <a:ext uri="{FF2B5EF4-FFF2-40B4-BE49-F238E27FC236}">
                <a16:creationId xmlns:a16="http://schemas.microsoft.com/office/drawing/2014/main" id="{A67AB83E-1F28-45A5-8102-6FC91FFA8A87}"/>
              </a:ext>
            </a:extLst>
          </p:cNvPr>
          <p:cNvSpPr>
            <a:spLocks xmlns:a="http://schemas.openxmlformats.org/drawingml/2006/main" noGrp="1"/>
          </p:cNvSpPr>
          <p:nvPr/>
        </p:nvSpPr>
        <p:spPr>
          <a:xfrm xmlns:a="http://schemas.openxmlformats.org/drawingml/2006/main">
            <a:off x="609600" y="15811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67D8D"/>
                </a:solidFill>
                <a:latin typeface="Arial"/>
                <a:ea typeface="Arial"/>
                <a:cs typeface="Arial"/>
              </a:defRPr>
            </a:defPPr>
            <a:lvl1pPr>
              <a:defRPr sz="2550" b="1">
                <a:solidFill>
                  <a:srgbClr val="167D8D"/>
                </a:solidFill>
                <a:latin typeface="Arial"/>
                <a:ea typeface="Arial"/>
                <a:cs typeface="Arial"/>
              </a:defRPr>
            </a:lvl1pPr>
            <a:lvl2pPr>
              <a:defRPr sz="2550" b="1">
                <a:solidFill>
                  <a:srgbClr val="167D8D"/>
                </a:solidFill>
                <a:latin typeface="Arial"/>
                <a:ea typeface="Arial"/>
                <a:cs typeface="Arial"/>
              </a:defRPr>
            </a:lvl2pPr>
            <a:lvl3pPr>
              <a:defRPr sz="2550" b="1">
                <a:solidFill>
                  <a:srgbClr val="167D8D"/>
                </a:solidFill>
                <a:latin typeface="Arial"/>
                <a:ea typeface="Arial"/>
                <a:cs typeface="Arial"/>
              </a:defRPr>
            </a:lvl3pPr>
            <a:lvl4pPr>
              <a:defRPr sz="2550" b="1">
                <a:solidFill>
                  <a:srgbClr val="167D8D"/>
                </a:solidFill>
                <a:latin typeface="Arial"/>
                <a:ea typeface="Arial"/>
                <a:cs typeface="Arial"/>
              </a:defRPr>
            </a:lvl4pPr>
            <a:lvl5pPr>
              <a:defRPr sz="2550" b="1">
                <a:solidFill>
                  <a:srgbClr val="167D8D"/>
                </a:solidFill>
                <a:latin typeface="Arial"/>
                <a:ea typeface="Arial"/>
                <a:cs typeface="Arial"/>
              </a:defRPr>
            </a:lvl5pPr>
            <a:lvl6pPr>
              <a:defRPr sz="2550" b="1">
                <a:solidFill>
                  <a:srgbClr val="167D8D"/>
                </a:solidFill>
                <a:latin typeface="Arial"/>
                <a:ea typeface="Arial"/>
                <a:cs typeface="Arial"/>
              </a:defRPr>
            </a:lvl6pPr>
            <a:lvl7pPr>
              <a:defRPr sz="2550" b="1">
                <a:solidFill>
                  <a:srgbClr val="167D8D"/>
                </a:solidFill>
                <a:latin typeface="Arial"/>
                <a:ea typeface="Arial"/>
                <a:cs typeface="Arial"/>
              </a:defRPr>
            </a:lvl7pPr>
            <a:lvl8pPr>
              <a:defRPr sz="2550" b="1">
                <a:solidFill>
                  <a:srgbClr val="167D8D"/>
                </a:solidFill>
                <a:latin typeface="Arial"/>
                <a:ea typeface="Arial"/>
                <a:cs typeface="Arial"/>
              </a:defRPr>
            </a:lvl8pPr>
            <a:lvl9pPr>
              <a:defRPr sz="2550" b="1">
                <a:solidFill>
                  <a:srgbClr val="167D8D"/>
                </a:solidFill>
                <a:latin typeface="Arial"/>
                <a:ea typeface="Arial"/>
                <a:cs typeface="Arial"/>
              </a:defRPr>
            </a:lvl9pPr>
          </a:lstStyle>
          <a:p xmlns:a="http://schemas.openxmlformats.org/drawingml/2006/main">
            <a:pPr>
              <a:defRPr sz="2550" b="1">
                <a:solidFill>
                  <a:srgbClr val="167D8D"/>
                </a:solidFill>
                <a:latin typeface="Arial"/>
                <a:ea typeface="Arial"/>
                <a:cs typeface="Arial"/>
              </a:defRPr>
            </a:pPr>
            <a:r>
              <a:rPr sz="2550" b="1">
                <a:solidFill>
                  <a:srgbClr val="167D8D"/>
                </a:solidFill>
                <a:latin typeface="Arial"/>
                <a:ea typeface="Arial"/>
                <a:cs typeface="Arial"/>
              </a:rPr>
              <a:t>Полный анализ на Python</a:t>
            </a:r>
          </a:p>
        </p:txBody>
      </p:sp>
      <p:sp>
        <p:nvSpPr>
          <p:cNvPr id="5" name="">
            <a:extLst xmlns:a="http://schemas.openxmlformats.org/drawingml/2006/main">
              <a:ext uri="{FF2B5EF4-FFF2-40B4-BE49-F238E27FC236}">
                <a16:creationId xmlns:a16="http://schemas.microsoft.com/office/drawing/2014/main" id="{984E7500-67F2-44D2-A95D-64960F6DA17C}"/>
              </a:ext>
            </a:extLst>
          </p:cNvPr>
          <p:cNvSpPr>
            <a:spLocks xmlns:a="http://schemas.openxmlformats.org/drawingml/2006/main" noGrp="1"/>
          </p:cNvSpPr>
          <p:nvPr/>
        </p:nvSpPr>
        <p:spPr>
          <a:xfrm xmlns:a="http://schemas.openxmlformats.org/drawingml/2006/main">
            <a:off x="609600" y="3000375"/>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152B3B"/>
                </a:solidFill>
                <a:latin typeface="Arial"/>
                <a:ea typeface="Arial"/>
                <a:cs typeface="Arial"/>
              </a:defRPr>
            </a:defPPr>
            <a:lvl1pPr>
              <a:defRPr sz="1950" b="0">
                <a:solidFill>
                  <a:srgbClr val="152B3B"/>
                </a:solidFill>
                <a:latin typeface="Arial"/>
                <a:ea typeface="Arial"/>
                <a:cs typeface="Arial"/>
              </a:defRPr>
            </a:lvl1pPr>
            <a:lvl2pPr>
              <a:defRPr sz="1950" b="0">
                <a:solidFill>
                  <a:srgbClr val="152B3B"/>
                </a:solidFill>
                <a:latin typeface="Arial"/>
                <a:ea typeface="Arial"/>
                <a:cs typeface="Arial"/>
              </a:defRPr>
            </a:lvl2pPr>
            <a:lvl3pPr>
              <a:defRPr sz="1950" b="0">
                <a:solidFill>
                  <a:srgbClr val="152B3B"/>
                </a:solidFill>
                <a:latin typeface="Arial"/>
                <a:ea typeface="Arial"/>
                <a:cs typeface="Arial"/>
              </a:defRPr>
            </a:lvl3pPr>
            <a:lvl4pPr>
              <a:defRPr sz="1950" b="0">
                <a:solidFill>
                  <a:srgbClr val="152B3B"/>
                </a:solidFill>
                <a:latin typeface="Arial"/>
                <a:ea typeface="Arial"/>
                <a:cs typeface="Arial"/>
              </a:defRPr>
            </a:lvl4pPr>
            <a:lvl5pPr>
              <a:defRPr sz="1950" b="0">
                <a:solidFill>
                  <a:srgbClr val="152B3B"/>
                </a:solidFill>
                <a:latin typeface="Arial"/>
                <a:ea typeface="Arial"/>
                <a:cs typeface="Arial"/>
              </a:defRPr>
            </a:lvl5pPr>
            <a:lvl6pPr>
              <a:defRPr sz="1950" b="0">
                <a:solidFill>
                  <a:srgbClr val="152B3B"/>
                </a:solidFill>
                <a:latin typeface="Arial"/>
                <a:ea typeface="Arial"/>
                <a:cs typeface="Arial"/>
              </a:defRPr>
            </a:lvl6pPr>
            <a:lvl7pPr>
              <a:defRPr sz="1950" b="0">
                <a:solidFill>
                  <a:srgbClr val="152B3B"/>
                </a:solidFill>
                <a:latin typeface="Arial"/>
                <a:ea typeface="Arial"/>
                <a:cs typeface="Arial"/>
              </a:defRPr>
            </a:lvl7pPr>
            <a:lvl8pPr>
              <a:defRPr sz="1950" b="0">
                <a:solidFill>
                  <a:srgbClr val="152B3B"/>
                </a:solidFill>
                <a:latin typeface="Arial"/>
                <a:ea typeface="Arial"/>
                <a:cs typeface="Arial"/>
              </a:defRPr>
            </a:lvl8pPr>
            <a:lvl9pPr>
              <a:defRPr sz="1950" b="0">
                <a:solidFill>
                  <a:srgbClr val="152B3B"/>
                </a:solidFill>
                <a:latin typeface="Arial"/>
                <a:ea typeface="Arial"/>
                <a:cs typeface="Arial"/>
              </a:defRPr>
            </a:lvl9pPr>
          </a:lstStyle>
          <a:p xmlns:a="http://schemas.openxmlformats.org/drawingml/2006/main">
            <a:pPr>
              <a:defRPr sz="1950" b="0">
                <a:solidFill>
                  <a:srgbClr val="152B3B"/>
                </a:solidFill>
                <a:latin typeface="Arial"/>
                <a:ea typeface="Arial"/>
                <a:cs typeface="Arial"/>
              </a:defRPr>
            </a:pPr>
            <a:r>
              <a:rPr sz="1950" b="0">
                <a:solidFill>
                  <a:srgbClr val="152B3B"/>
                </a:solidFill>
                <a:latin typeface="Arial"/>
                <a:ea typeface="Arial"/>
                <a:cs typeface="Arial"/>
              </a:rPr>
              <a:t>concrete_strength.ipynb</a:t>
            </a:r>
          </a:p>
          <a:p xmlns:a="http://schemas.openxmlformats.org/drawingml/2006/main">
            <a:pPr>
              <a:defRPr sz="1950" b="0">
                <a:solidFill>
                  <a:srgbClr val="152B3B"/>
                </a:solidFill>
                <a:latin typeface="Arial"/>
                <a:ea typeface="Arial"/>
                <a:cs typeface="Arial"/>
              </a:defRPr>
            </a:pPr>
            <a:r>
              <a:rPr sz="1950" b="0">
                <a:solidFill>
                  <a:srgbClr val="152B3B"/>
                </a:solidFill>
                <a:latin typeface="Arial"/>
                <a:ea typeface="Arial"/>
                <a:cs typeface="Arial"/>
              </a:rPr>
              <a:t>analysis.py</a:t>
            </a:r>
          </a:p>
          <a:p xmlns:a="http://schemas.openxmlformats.org/drawingml/2006/main">
            <a:pPr>
              <a:defRPr sz="1950" b="0">
                <a:solidFill>
                  <a:srgbClr val="152B3B"/>
                </a:solidFill>
                <a:latin typeface="Arial"/>
                <a:ea typeface="Arial"/>
                <a:cs typeface="Arial"/>
              </a:defRPr>
            </a:pPr>
            <a:r>
              <a:rPr sz="1950" b="0">
                <a:solidFill>
                  <a:srgbClr val="152B3B"/>
                </a:solidFill>
                <a:latin typeface="Arial"/>
                <a:ea typeface="Arial"/>
                <a:cs typeface="Arial"/>
              </a:rPr>
              <a:t>requirements.txt</a:t>
            </a:r>
          </a:p>
        </p:txBody>
      </p:sp>
      <p:sp>
        <p:nvSpPr>
          <p:cNvPr id="6" name="">
            <a:extLst xmlns:a="http://schemas.openxmlformats.org/drawingml/2006/main">
              <a:ext uri="{FF2B5EF4-FFF2-40B4-BE49-F238E27FC236}">
                <a16:creationId xmlns:a16="http://schemas.microsoft.com/office/drawing/2014/main" id="{41AF2EA1-5C12-405F-85A4-C78C3C2C3BCF}"/>
              </a:ext>
            </a:extLst>
          </p:cNvPr>
          <p:cNvSpPr>
            <a:spLocks xmlns:a="http://schemas.openxmlformats.org/drawingml/2006/main" noGrp="1"/>
          </p:cNvSpPr>
          <p:nvPr/>
        </p:nvSpPr>
        <p:spPr>
          <a:xfrm xmlns:a="http://schemas.openxmlformats.org/drawingml/2006/main">
            <a:off x="609600" y="411480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52B3B"/>
                </a:solidFill>
                <a:latin typeface="Arial"/>
                <a:ea typeface="Arial"/>
                <a:cs typeface="Arial"/>
              </a:defRPr>
            </a:defPPr>
            <a:lvl1pPr>
              <a:defRPr sz="2025" b="0">
                <a:solidFill>
                  <a:srgbClr val="152B3B"/>
                </a:solidFill>
                <a:latin typeface="Arial"/>
                <a:ea typeface="Arial"/>
                <a:cs typeface="Arial"/>
              </a:defRPr>
            </a:lvl1pPr>
            <a:lvl2pPr>
              <a:defRPr sz="2025" b="0">
                <a:solidFill>
                  <a:srgbClr val="152B3B"/>
                </a:solidFill>
                <a:latin typeface="Arial"/>
                <a:ea typeface="Arial"/>
                <a:cs typeface="Arial"/>
              </a:defRPr>
            </a:lvl2pPr>
            <a:lvl3pPr>
              <a:defRPr sz="2025" b="0">
                <a:solidFill>
                  <a:srgbClr val="152B3B"/>
                </a:solidFill>
                <a:latin typeface="Arial"/>
                <a:ea typeface="Arial"/>
                <a:cs typeface="Arial"/>
              </a:defRPr>
            </a:lvl3pPr>
            <a:lvl4pPr>
              <a:defRPr sz="2025" b="0">
                <a:solidFill>
                  <a:srgbClr val="152B3B"/>
                </a:solidFill>
                <a:latin typeface="Arial"/>
                <a:ea typeface="Arial"/>
                <a:cs typeface="Arial"/>
              </a:defRPr>
            </a:lvl4pPr>
            <a:lvl5pPr>
              <a:defRPr sz="2025" b="0">
                <a:solidFill>
                  <a:srgbClr val="152B3B"/>
                </a:solidFill>
                <a:latin typeface="Arial"/>
                <a:ea typeface="Arial"/>
                <a:cs typeface="Arial"/>
              </a:defRPr>
            </a:lvl5pPr>
            <a:lvl6pPr>
              <a:defRPr sz="2025" b="0">
                <a:solidFill>
                  <a:srgbClr val="152B3B"/>
                </a:solidFill>
                <a:latin typeface="Arial"/>
                <a:ea typeface="Arial"/>
                <a:cs typeface="Arial"/>
              </a:defRPr>
            </a:lvl6pPr>
            <a:lvl7pPr>
              <a:defRPr sz="2025" b="0">
                <a:solidFill>
                  <a:srgbClr val="152B3B"/>
                </a:solidFill>
                <a:latin typeface="Arial"/>
                <a:ea typeface="Arial"/>
                <a:cs typeface="Arial"/>
              </a:defRPr>
            </a:lvl7pPr>
            <a:lvl8pPr>
              <a:defRPr sz="2025" b="0">
                <a:solidFill>
                  <a:srgbClr val="152B3B"/>
                </a:solidFill>
                <a:latin typeface="Arial"/>
                <a:ea typeface="Arial"/>
                <a:cs typeface="Arial"/>
              </a:defRPr>
            </a:lvl8pPr>
            <a:lvl9pPr>
              <a:defRPr sz="2025" b="0">
                <a:solidFill>
                  <a:srgbClr val="152B3B"/>
                </a:solidFill>
                <a:latin typeface="Arial"/>
                <a:ea typeface="Arial"/>
                <a:cs typeface="Arial"/>
              </a:defRPr>
            </a:lvl9pPr>
          </a:lstStyle>
          <a:p xmlns:a="http://schemas.openxmlformats.org/drawingml/2006/main">
            <a:pPr>
              <a:defRPr sz="2025" b="0">
                <a:solidFill>
                  <a:srgbClr val="152B3B"/>
                </a:solidFill>
                <a:latin typeface="Arial"/>
                <a:ea typeface="Arial"/>
                <a:cs typeface="Arial"/>
              </a:defRPr>
            </a:pPr>
            <a:r>
              <a:rPr sz="2025" b="0">
                <a:solidFill>
                  <a:srgbClr val="152B3B"/>
                </a:solidFill>
                <a:latin typeface="Arial"/>
                <a:ea typeface="Arial"/>
                <a:cs typeface="Arial"/>
              </a:rPr>
              <a:t>Метрики, прогнозы каждой строки и таблицы ошибок: results/</a:t>
            </a:r>
          </a:p>
        </p:txBody>
      </p:sp>
      <p:sp>
        <p:nvSpPr>
          <p:cNvPr id="7" name="">
            <a:extLst xmlns:a="http://schemas.openxmlformats.org/drawingml/2006/main">
              <a:ext uri="{FF2B5EF4-FFF2-40B4-BE49-F238E27FC236}">
                <a16:creationId xmlns:a16="http://schemas.microsoft.com/office/drawing/2014/main" id="{ECDFCF81-E5DF-431C-80BA-DD911D3E5290}"/>
              </a:ext>
            </a:extLst>
          </p:cNvPr>
          <p:cNvSpPr>
            <a:spLocks xmlns:a="http://schemas.openxmlformats.org/drawingml/2006/main" noGrp="1"/>
          </p:cNvSpPr>
          <p:nvPr/>
        </p:nvSpPr>
        <p:spPr>
          <a:xfrm xmlns:a="http://schemas.openxmlformats.org/drawingml/2006/main">
            <a:off x="609600" y="504825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152B3B"/>
                </a:solidFill>
                <a:latin typeface="Arial"/>
                <a:ea typeface="Arial"/>
                <a:cs typeface="Arial"/>
              </a:defRPr>
            </a:defPPr>
            <a:lvl1pPr>
              <a:defRPr sz="1950" b="1">
                <a:solidFill>
                  <a:srgbClr val="152B3B"/>
                </a:solidFill>
                <a:latin typeface="Arial"/>
                <a:ea typeface="Arial"/>
                <a:cs typeface="Arial"/>
              </a:defRPr>
            </a:lvl1pPr>
            <a:lvl2pPr>
              <a:defRPr sz="1950" b="1">
                <a:solidFill>
                  <a:srgbClr val="152B3B"/>
                </a:solidFill>
                <a:latin typeface="Arial"/>
                <a:ea typeface="Arial"/>
                <a:cs typeface="Arial"/>
              </a:defRPr>
            </a:lvl2pPr>
            <a:lvl3pPr>
              <a:defRPr sz="1950" b="1">
                <a:solidFill>
                  <a:srgbClr val="152B3B"/>
                </a:solidFill>
                <a:latin typeface="Arial"/>
                <a:ea typeface="Arial"/>
                <a:cs typeface="Arial"/>
              </a:defRPr>
            </a:lvl3pPr>
            <a:lvl4pPr>
              <a:defRPr sz="1950" b="1">
                <a:solidFill>
                  <a:srgbClr val="152B3B"/>
                </a:solidFill>
                <a:latin typeface="Arial"/>
                <a:ea typeface="Arial"/>
                <a:cs typeface="Arial"/>
              </a:defRPr>
            </a:lvl4pPr>
            <a:lvl5pPr>
              <a:defRPr sz="1950" b="1">
                <a:solidFill>
                  <a:srgbClr val="152B3B"/>
                </a:solidFill>
                <a:latin typeface="Arial"/>
                <a:ea typeface="Arial"/>
                <a:cs typeface="Arial"/>
              </a:defRPr>
            </a:lvl5pPr>
            <a:lvl6pPr>
              <a:defRPr sz="1950" b="1">
                <a:solidFill>
                  <a:srgbClr val="152B3B"/>
                </a:solidFill>
                <a:latin typeface="Arial"/>
                <a:ea typeface="Arial"/>
                <a:cs typeface="Arial"/>
              </a:defRPr>
            </a:lvl6pPr>
            <a:lvl7pPr>
              <a:defRPr sz="1950" b="1">
                <a:solidFill>
                  <a:srgbClr val="152B3B"/>
                </a:solidFill>
                <a:latin typeface="Arial"/>
                <a:ea typeface="Arial"/>
                <a:cs typeface="Arial"/>
              </a:defRPr>
            </a:lvl7pPr>
            <a:lvl8pPr>
              <a:defRPr sz="1950" b="1">
                <a:solidFill>
                  <a:srgbClr val="152B3B"/>
                </a:solidFill>
                <a:latin typeface="Arial"/>
                <a:ea typeface="Arial"/>
                <a:cs typeface="Arial"/>
              </a:defRPr>
            </a:lvl8pPr>
            <a:lvl9pPr>
              <a:defRPr sz="1950" b="1">
                <a:solidFill>
                  <a:srgbClr val="152B3B"/>
                </a:solidFill>
                <a:latin typeface="Arial"/>
                <a:ea typeface="Arial"/>
                <a:cs typeface="Arial"/>
              </a:defRPr>
            </a:lvl9pPr>
          </a:lstStyle>
          <a:p xmlns:a="http://schemas.openxmlformats.org/drawingml/2006/main">
            <a:pPr>
              <a:defRPr sz="1950" b="1">
                <a:solidFill>
                  <a:srgbClr val="152B3B"/>
                </a:solidFill>
                <a:latin typeface="Arial"/>
                <a:ea typeface="Arial"/>
                <a:cs typeface="Arial"/>
              </a:defRPr>
            </a:pPr>
            <a:r>
              <a:rPr sz="1950" b="1">
                <a:solidFill>
                  <a:srgbClr val="152B3B"/>
                </a:solidFill>
                <a:latin typeface="Arial"/>
                <a:ea typeface="Arial"/>
                <a:cs typeface="Arial"/>
              </a:rPr>
              <a:t>UCI: Concrete Compressive Strength</a:t>
            </a:r>
          </a:p>
        </p:txBody>
      </p:sp>
      <p:sp>
        <p:nvSpPr>
          <p:cNvPr id="8" name="">
            <a:extLst xmlns:a="http://schemas.openxmlformats.org/drawingml/2006/main">
              <a:ext uri="{FF2B5EF4-FFF2-40B4-BE49-F238E27FC236}">
                <a16:creationId xmlns:a16="http://schemas.microsoft.com/office/drawing/2014/main" id="{EB4D09E1-CD33-4FB7-AF98-31B70D779F25}"/>
              </a:ext>
            </a:extLst>
          </p:cNvPr>
          <p:cNvSpPr>
            <a:spLocks xmlns:a="http://schemas.openxmlformats.org/drawingml/2006/main" noGrp="1"/>
          </p:cNvSpPr>
          <p:nvPr/>
        </p:nvSpPr>
        <p:spPr>
          <a:xfrm xmlns:a="http://schemas.openxmlformats.org/drawingml/2006/main">
            <a:off x="609600" y="559117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167D8D"/>
                </a:solidFill>
                <a:latin typeface="Arial"/>
                <a:ea typeface="Arial"/>
                <a:cs typeface="Arial"/>
              </a:defRPr>
            </a:defPPr>
            <a:lvl1pPr>
              <a:defRPr sz="1800" b="0">
                <a:solidFill>
                  <a:srgbClr val="167D8D"/>
                </a:solidFill>
                <a:latin typeface="Arial"/>
                <a:ea typeface="Arial"/>
                <a:cs typeface="Arial"/>
              </a:defRPr>
            </a:lvl1pPr>
            <a:lvl2pPr>
              <a:defRPr sz="1800" b="0">
                <a:solidFill>
                  <a:srgbClr val="167D8D"/>
                </a:solidFill>
                <a:latin typeface="Arial"/>
                <a:ea typeface="Arial"/>
                <a:cs typeface="Arial"/>
              </a:defRPr>
            </a:lvl2pPr>
            <a:lvl3pPr>
              <a:defRPr sz="1800" b="0">
                <a:solidFill>
                  <a:srgbClr val="167D8D"/>
                </a:solidFill>
                <a:latin typeface="Arial"/>
                <a:ea typeface="Arial"/>
                <a:cs typeface="Arial"/>
              </a:defRPr>
            </a:lvl3pPr>
            <a:lvl4pPr>
              <a:defRPr sz="1800" b="0">
                <a:solidFill>
                  <a:srgbClr val="167D8D"/>
                </a:solidFill>
                <a:latin typeface="Arial"/>
                <a:ea typeface="Arial"/>
                <a:cs typeface="Arial"/>
              </a:defRPr>
            </a:lvl4pPr>
            <a:lvl5pPr>
              <a:defRPr sz="1800" b="0">
                <a:solidFill>
                  <a:srgbClr val="167D8D"/>
                </a:solidFill>
                <a:latin typeface="Arial"/>
                <a:ea typeface="Arial"/>
                <a:cs typeface="Arial"/>
              </a:defRPr>
            </a:lvl5pPr>
            <a:lvl6pPr>
              <a:defRPr sz="1800" b="0">
                <a:solidFill>
                  <a:srgbClr val="167D8D"/>
                </a:solidFill>
                <a:latin typeface="Arial"/>
                <a:ea typeface="Arial"/>
                <a:cs typeface="Arial"/>
              </a:defRPr>
            </a:lvl6pPr>
            <a:lvl7pPr>
              <a:defRPr sz="1800" b="0">
                <a:solidFill>
                  <a:srgbClr val="167D8D"/>
                </a:solidFill>
                <a:latin typeface="Arial"/>
                <a:ea typeface="Arial"/>
                <a:cs typeface="Arial"/>
              </a:defRPr>
            </a:lvl7pPr>
            <a:lvl8pPr>
              <a:defRPr sz="1800" b="0">
                <a:solidFill>
                  <a:srgbClr val="167D8D"/>
                </a:solidFill>
                <a:latin typeface="Arial"/>
                <a:ea typeface="Arial"/>
                <a:cs typeface="Arial"/>
              </a:defRPr>
            </a:lvl8pPr>
            <a:lvl9pPr>
              <a:defRPr sz="1800" b="0">
                <a:solidFill>
                  <a:srgbClr val="167D8D"/>
                </a:solidFill>
                <a:latin typeface="Arial"/>
                <a:ea typeface="Arial"/>
                <a:cs typeface="Arial"/>
              </a:defRPr>
            </a:lvl9pPr>
          </a:lstStyle>
          <a:p xmlns:a="http://schemas.openxmlformats.org/drawingml/2006/main">
            <a:pPr>
              <a:defRPr sz="1800" b="0">
                <a:solidFill>
                  <a:srgbClr val="167D8D"/>
                </a:solidFill>
                <a:latin typeface="Arial"/>
                <a:ea typeface="Arial"/>
                <a:cs typeface="Arial"/>
              </a:defRPr>
            </a:pPr>
            <a:r>
              <a:rPr>
                <a:hlinkClick xmlns:r="http://schemas.openxmlformats.org/officeDocument/2006/relationships" r:id="R985161424d764d69"/>
              </a:rPr>
              <a:t>Yeh (1998), DOI: 10.24432/C5PK67, CC BY 4.0</a:t>
            </a:r>
          </a:p>
        </p:txBody>
      </p:sp>
      <p:sp>
        <p:nvSpPr>
          <p:cNvPr id="9" name="github-link">
            <a:extLst xmlns:a="http://schemas.openxmlformats.org/drawingml/2006/main">
              <a:ext uri="{FF2B5EF4-FFF2-40B4-BE49-F238E27FC236}">
                <a16:creationId xmlns:a16="http://schemas.microsoft.com/office/drawing/2014/main" id="{28BBF71A-8A14-4681-B501-8FD737BF6FC2}"/>
              </a:ext>
            </a:extLst>
          </p:cNvPr>
          <p:cNvSpPr>
            <a:spLocks xmlns:a="http://schemas.openxmlformats.org/drawingml/2006/main" noGrp="1"/>
          </p:cNvSpPr>
          <p:nvPr/>
        </p:nvSpPr>
        <p:spPr>
          <a:xfrm xmlns:a="http://schemas.openxmlformats.org/drawingml/2006/main">
            <a:off x="609600" y="6238875"/>
            <a:ext cx="10715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167D8D"/>
                </a:solidFill>
                <a:latin typeface="Arial"/>
                <a:ea typeface="Arial"/>
                <a:cs typeface="Arial"/>
              </a:defRPr>
            </a:defPPr>
            <a:lvl1pPr>
              <a:defRPr sz="1575" b="0">
                <a:solidFill>
                  <a:srgbClr val="167D8D"/>
                </a:solidFill>
                <a:latin typeface="Arial"/>
                <a:ea typeface="Arial"/>
                <a:cs typeface="Arial"/>
              </a:defRPr>
            </a:lvl1pPr>
            <a:lvl2pPr>
              <a:defRPr sz="1575" b="0">
                <a:solidFill>
                  <a:srgbClr val="167D8D"/>
                </a:solidFill>
                <a:latin typeface="Arial"/>
                <a:ea typeface="Arial"/>
                <a:cs typeface="Arial"/>
              </a:defRPr>
            </a:lvl2pPr>
            <a:lvl3pPr>
              <a:defRPr sz="1575" b="0">
                <a:solidFill>
                  <a:srgbClr val="167D8D"/>
                </a:solidFill>
                <a:latin typeface="Arial"/>
                <a:ea typeface="Arial"/>
                <a:cs typeface="Arial"/>
              </a:defRPr>
            </a:lvl3pPr>
            <a:lvl4pPr>
              <a:defRPr sz="1575" b="0">
                <a:solidFill>
                  <a:srgbClr val="167D8D"/>
                </a:solidFill>
                <a:latin typeface="Arial"/>
                <a:ea typeface="Arial"/>
                <a:cs typeface="Arial"/>
              </a:defRPr>
            </a:lvl4pPr>
            <a:lvl5pPr>
              <a:defRPr sz="1575" b="0">
                <a:solidFill>
                  <a:srgbClr val="167D8D"/>
                </a:solidFill>
                <a:latin typeface="Arial"/>
                <a:ea typeface="Arial"/>
                <a:cs typeface="Arial"/>
              </a:defRPr>
            </a:lvl5pPr>
            <a:lvl6pPr>
              <a:defRPr sz="1575" b="0">
                <a:solidFill>
                  <a:srgbClr val="167D8D"/>
                </a:solidFill>
                <a:latin typeface="Arial"/>
                <a:ea typeface="Arial"/>
                <a:cs typeface="Arial"/>
              </a:defRPr>
            </a:lvl6pPr>
            <a:lvl7pPr>
              <a:defRPr sz="1575" b="0">
                <a:solidFill>
                  <a:srgbClr val="167D8D"/>
                </a:solidFill>
                <a:latin typeface="Arial"/>
                <a:ea typeface="Arial"/>
                <a:cs typeface="Arial"/>
              </a:defRPr>
            </a:lvl7pPr>
            <a:lvl8pPr>
              <a:defRPr sz="1575" b="0">
                <a:solidFill>
                  <a:srgbClr val="167D8D"/>
                </a:solidFill>
                <a:latin typeface="Arial"/>
                <a:ea typeface="Arial"/>
                <a:cs typeface="Arial"/>
              </a:defRPr>
            </a:lvl8pPr>
            <a:lvl9pPr>
              <a:defRPr sz="1575" b="0">
                <a:solidFill>
                  <a:srgbClr val="167D8D"/>
                </a:solidFill>
                <a:latin typeface="Arial"/>
                <a:ea typeface="Arial"/>
                <a:cs typeface="Arial"/>
              </a:defRPr>
            </a:lvl9pPr>
          </a:lstStyle>
          <a:p xmlns:a="http://schemas.openxmlformats.org/drawingml/2006/main">
            <a:r>
              <a:t/>
            </a:r>
          </a:p>
        </p:txBody>
      </p:sp>
      <p:sp>
        <p:nvSpPr>
          <p:cNvPr id="10" name="repository-link">
            <a:extLst xmlns:a="http://schemas.openxmlformats.org/drawingml/2006/main">
              <a:ext uri="{FF2B5EF4-FFF2-40B4-BE49-F238E27FC236}">
                <a16:creationId xmlns:a16="http://schemas.microsoft.com/office/drawing/2014/main" id="{D82C1638-AFFD-4210-B2DA-EF56AFE64A18}"/>
              </a:ext>
            </a:extLst>
          </p:cNvPr>
          <p:cNvSpPr>
            <a:spLocks xmlns:a="http://schemas.openxmlformats.org/drawingml/2006/main" noGrp="1"/>
          </p:cNvSpPr>
          <p:nvPr/>
        </p:nvSpPr>
        <p:spPr>
          <a:xfrm xmlns:a="http://schemas.openxmlformats.org/drawingml/2006/main">
            <a:off x="609600" y="23526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a:solidFill>
                  <a:srgbClr val="167D8D"/>
                </a:solidFill>
                <a:latin typeface="Arial"/>
                <a:ea typeface="Arial"/>
                <a:cs typeface="Arial"/>
              </a:defRPr>
            </a:defPPr>
            <a:lvl1pPr>
              <a:defRPr sz="2250">
                <a:solidFill>
                  <a:srgbClr val="167D8D"/>
                </a:solidFill>
                <a:latin typeface="Arial"/>
                <a:ea typeface="Arial"/>
                <a:cs typeface="Arial"/>
              </a:defRPr>
            </a:lvl1pPr>
            <a:lvl2pPr>
              <a:defRPr sz="2250">
                <a:solidFill>
                  <a:srgbClr val="167D8D"/>
                </a:solidFill>
                <a:latin typeface="Arial"/>
                <a:ea typeface="Arial"/>
                <a:cs typeface="Arial"/>
              </a:defRPr>
            </a:lvl2pPr>
            <a:lvl3pPr>
              <a:defRPr sz="2250">
                <a:solidFill>
                  <a:srgbClr val="167D8D"/>
                </a:solidFill>
                <a:latin typeface="Arial"/>
                <a:ea typeface="Arial"/>
                <a:cs typeface="Arial"/>
              </a:defRPr>
            </a:lvl3pPr>
            <a:lvl4pPr>
              <a:defRPr sz="2250">
                <a:solidFill>
                  <a:srgbClr val="167D8D"/>
                </a:solidFill>
                <a:latin typeface="Arial"/>
                <a:ea typeface="Arial"/>
                <a:cs typeface="Arial"/>
              </a:defRPr>
            </a:lvl4pPr>
            <a:lvl5pPr>
              <a:defRPr sz="2250">
                <a:solidFill>
                  <a:srgbClr val="167D8D"/>
                </a:solidFill>
                <a:latin typeface="Arial"/>
                <a:ea typeface="Arial"/>
                <a:cs typeface="Arial"/>
              </a:defRPr>
            </a:lvl5pPr>
            <a:lvl6pPr>
              <a:defRPr sz="2250">
                <a:solidFill>
                  <a:srgbClr val="167D8D"/>
                </a:solidFill>
                <a:latin typeface="Arial"/>
                <a:ea typeface="Arial"/>
                <a:cs typeface="Arial"/>
              </a:defRPr>
            </a:lvl6pPr>
            <a:lvl7pPr>
              <a:defRPr sz="2250">
                <a:solidFill>
                  <a:srgbClr val="167D8D"/>
                </a:solidFill>
                <a:latin typeface="Arial"/>
                <a:ea typeface="Arial"/>
                <a:cs typeface="Arial"/>
              </a:defRPr>
            </a:lvl7pPr>
            <a:lvl8pPr>
              <a:defRPr sz="2250">
                <a:solidFill>
                  <a:srgbClr val="167D8D"/>
                </a:solidFill>
                <a:latin typeface="Arial"/>
                <a:ea typeface="Arial"/>
                <a:cs typeface="Arial"/>
              </a:defRPr>
            </a:lvl8pPr>
            <a:lvl9pPr>
              <a:defRPr sz="2250">
                <a:solidFill>
                  <a:srgbClr val="167D8D"/>
                </a:solidFill>
                <a:latin typeface="Arial"/>
                <a:ea typeface="Arial"/>
                <a:cs typeface="Arial"/>
              </a:defRPr>
            </a:lvl9pPr>
          </a:lstStyle>
          <a:p xmlns:a="http://schemas.openxmlformats.org/drawingml/2006/main">
            <a:pPr>
              <a:defRPr sz="2250">
                <a:solidFill>
                  <a:srgbClr val="167D8D"/>
                </a:solidFill>
                <a:latin typeface="Arial"/>
                <a:ea typeface="Arial"/>
                <a:cs typeface="Arial"/>
              </a:defRPr>
            </a:pPr>
            <a:r>
              <a:rPr sz="2250">
                <a:solidFill>
                  <a:srgbClr val="167D8D"/>
                </a:solidFill>
                <a:latin typeface="Arial"/>
                <a:ea typeface="Arial"/>
                <a:cs typeface="Arial"/>
                <a:hlinkClick xmlns:r="http://schemas.openxmlformats.org/officeDocument/2006/relationships" r:id="R8239114635194d94"/>
              </a:rPr>
              <a:t>github.com/guzlikz/concrete-strength-project</a:t>
            </a:r>
          </a:p>
        </p:txBody>
      </p:sp>
    </p:spTree>
    <p:extLst>
      <p:ext uri="{BB962C8B-B14F-4D97-AF65-F5344CB8AC3E}">
        <p14:creationId xmlns:p14="http://schemas.microsoft.com/office/powerpoint/2010/main" val="15646643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2026-10-20T15:38:44.9530000Z</dcterms:created>
  <dcterms:modified xsi:type="dcterms:W3CDTF">2026-10-20T15:38:44.9530000Z</dcterms:modified>
</coreProperties>
</file>